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54"/>
  </p:notesMasterIdLst>
  <p:handoutMasterIdLst>
    <p:handoutMasterId r:id="rId55"/>
  </p:handout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Lst>
  <p:sldSz cx="12192000" cy="6858000"/>
  <p:notesSz cx="7315200" cy="96012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1" autoAdjust="0"/>
    <p:restoredTop sz="94726"/>
  </p:normalViewPr>
  <p:slideViewPr>
    <p:cSldViewPr snapToGrid="0">
      <p:cViewPr varScale="1">
        <p:scale>
          <a:sx n="120" d="100"/>
          <a:sy n="120" d="100"/>
        </p:scale>
        <p:origin x="1112" y="184"/>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54" Type="http://schemas.openxmlformats.org/officeDocument/2006/relationships/notesMaster" Target="notesMasters/notesMaster1.xml"/><Relationship Id="rId55" Type="http://schemas.openxmlformats.org/officeDocument/2006/relationships/handoutMaster" Target="handoutMasters/handoutMaster1.xml"/><Relationship Id="rId56" Type="http://schemas.openxmlformats.org/officeDocument/2006/relationships/tags" Target="tags/tag1.xml"/><Relationship Id="rId57" Type="http://schemas.openxmlformats.org/officeDocument/2006/relationships/commentAuthors" Target="commentAuthor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2026-01-05</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‹n°›</a:t>
            </a:fld>
            <a:endParaRPr lang="en-US" noProof="0"/>
          </a:p>
        </p:txBody>
      </p:sp>
      <p:sp>
        <p:nvSpPr>
          <p:cNvPr id="5" name="ZoneTexte 4">
            <a:extLst>
              <a:ext uri="{FF2B5EF4-FFF2-40B4-BE49-F238E27FC236}">
                <a16:creationId xmlns:a16="http://schemas.microsoft.com/office/drawing/2014/main" id="{BB0C3CE7-7C87-CCC2-F804-F3CC7FBD80E8}"/>
              </a:ext>
            </a:extLst>
          </p:cNvPr>
          <p:cNvSpPr txBox="1"/>
          <p:nvPr userDrawn="1"/>
        </p:nvSpPr>
        <p:spPr>
          <a:xfrm>
            <a:off x="1133061" y="6440557"/>
            <a:ext cx="0" cy="0"/>
          </a:xfrm>
          <a:prstGeom prst="rect">
            <a:avLst/>
          </a:prstGeom>
        </p:spPr>
        <p:txBody>
          <a:bodyPr vert="horz" wrap="none" lIns="0" tIns="0" rIns="0" bIns="0" rtlCol="0" anchor="t" anchorCtr="0">
            <a:normAutofit fontScale="25000" lnSpcReduction="20000"/>
          </a:bodyPr>
          <a:lstStyle/>
          <a:p>
            <a:pPr algn="l"/>
            <a:endParaRPr lang="fr-FR" dirty="0"/>
          </a:p>
        </p:txBody>
      </p:sp>
      <p:sp>
        <p:nvSpPr>
          <p:cNvPr id="6" name="ZoneTexte 5">
            <a:extLst>
              <a:ext uri="{FF2B5EF4-FFF2-40B4-BE49-F238E27FC236}">
                <a16:creationId xmlns:a16="http://schemas.microsoft.com/office/drawing/2014/main" id="{07EBAA5B-7002-82C8-C5E5-013B05CD17C9}"/>
              </a:ext>
            </a:extLst>
          </p:cNvPr>
          <p:cNvSpPr txBox="1"/>
          <p:nvPr userDrawn="1"/>
        </p:nvSpPr>
        <p:spPr>
          <a:xfrm>
            <a:off x="993913" y="6420678"/>
            <a:ext cx="0" cy="0"/>
          </a:xfrm>
          <a:prstGeom prst="rect">
            <a:avLst/>
          </a:prstGeom>
        </p:spPr>
        <p:txBody>
          <a:bodyPr vert="horz" wrap="none" lIns="0" tIns="0" rIns="0" bIns="0" rtlCol="0" anchor="t" anchorCtr="0">
            <a:normAutofit fontScale="25000" lnSpcReduction="20000"/>
          </a:bodyPr>
          <a:lstStyle/>
          <a:p>
            <a:pPr algn="l"/>
            <a:endParaRPr lang="fr-FR"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V/Resume slide – Layout 1">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CV/Resume slide layout 1 – click to add title</a:t>
            </a:r>
          </a:p>
        </p:txBody>
      </p:sp>
      <p:sp>
        <p:nvSpPr>
          <p:cNvPr id="4" name="Picture placeholder 5" descr="Photograph of Name (person the slide is referencing)">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30350"/>
            <a:ext cx="2281237" cy="2222562"/>
          </a:xfrm>
          <a:prstGeom prst="rect">
            <a:avLst/>
          </a:prstGeom>
        </p:spPr>
        <p:txBody>
          <a:bodyPr>
            <a:noAutofit/>
          </a:bodyPr>
          <a:lstStyle>
            <a:lvl1pPr marL="0" indent="0">
              <a:buNone/>
              <a:defRPr sz="1400"/>
            </a:lvl1pPr>
          </a:lstStyle>
          <a:p>
            <a:r>
              <a:rPr lang="en-US" noProof="0"/>
              <a:t>Click icon to add photo</a:t>
            </a:r>
          </a:p>
        </p:txBody>
      </p:sp>
      <p:sp>
        <p:nvSpPr>
          <p:cNvPr id="6" name="Name last name">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281236" cy="614671"/>
          </a:xfrm>
          <a:prstGeom prst="rect">
            <a:avLst/>
          </a:prstGeom>
        </p:spPr>
        <p:txBody>
          <a:bodyPr lIns="0" tIns="0" rIns="0" bIns="0">
            <a:noAutofit/>
          </a:bodyPr>
          <a:lstStyle>
            <a:lvl1pPr marL="0" indent="0">
              <a:buNone/>
              <a:defRPr sz="1600" b="1">
                <a:latin typeface="+mj-lt"/>
              </a:defRPr>
            </a:lvl1pPr>
            <a:lvl4pPr marL="1371600" indent="0">
              <a:buNone/>
              <a:defRPr/>
            </a:lvl4pPr>
          </a:lstStyle>
          <a:p>
            <a:pPr lvl="0"/>
            <a:r>
              <a:rPr lang="en-US" noProof="0"/>
              <a:t>First and Last name</a:t>
            </a:r>
          </a:p>
        </p:txBody>
      </p:sp>
      <p:sp>
        <p:nvSpPr>
          <p:cNvPr id="9" name="Personal description">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281236" cy="1364641"/>
          </a:xfrm>
          <a:prstGeom prst="rect">
            <a:avLst/>
          </a:prstGeom>
        </p:spPr>
        <p:txBody>
          <a:bodyPr lIns="0" tIns="0" rIns="0" bIns="0">
            <a:noAutofit/>
          </a:bodyPr>
          <a:lstStyle>
            <a:lvl1pPr marL="0" indent="0">
              <a:buNone/>
              <a:defRPr sz="1400" b="0"/>
            </a:lvl1pPr>
            <a:lvl4pPr marL="1371600" indent="0">
              <a:buNone/>
              <a:defRPr/>
            </a:lvl4pPr>
          </a:lstStyle>
          <a:p>
            <a:pPr lvl="0"/>
            <a:r>
              <a:rPr lang="en-US" noProof="0"/>
              <a:t>Short description</a:t>
            </a:r>
          </a:p>
        </p:txBody>
      </p:sp>
      <p:sp>
        <p:nvSpPr>
          <p:cNvPr id="13" name="Training header">
            <a:extLst>
              <a:ext uri="{FF2B5EF4-FFF2-40B4-BE49-F238E27FC236}">
                <a16:creationId xmlns:a16="http://schemas.microsoft.com/office/drawing/2014/main" id="{C58ECA42-F963-A040-A103-87B70E6AEEB5}"/>
              </a:ext>
            </a:extLst>
          </p:cNvPr>
          <p:cNvSpPr>
            <a:spLocks noGrp="1"/>
          </p:cNvSpPr>
          <p:nvPr userDrawn="1">
            <p:ph type="body" sz="quarter" idx="15" hasCustomPrompt="1"/>
          </p:nvPr>
        </p:nvSpPr>
        <p:spPr>
          <a:xfrm>
            <a:off x="3819144" y="1568845"/>
            <a:ext cx="2276856" cy="328613"/>
          </a:xfrm>
          <a:prstGeom prst="rect">
            <a:avLst/>
          </a:prstGeom>
        </p:spPr>
        <p:txBody>
          <a:bodyPr lIns="0" tIns="0" rIns="0" bIns="0">
            <a:noAutofit/>
          </a:bodyPr>
          <a:lstStyle>
            <a:lvl1pPr marL="0" indent="0">
              <a:buNone/>
              <a:defRPr sz="1600" b="1">
                <a:latin typeface="+mj-lt"/>
              </a:defRPr>
            </a:lvl1pPr>
          </a:lstStyle>
          <a:p>
            <a:pPr lvl="0"/>
            <a:r>
              <a:rPr lang="en-US" noProof="0"/>
              <a:t>Training</a:t>
            </a:r>
          </a:p>
        </p:txBody>
      </p:sp>
      <p:sp>
        <p:nvSpPr>
          <p:cNvPr id="16" name="Date 1">
            <a:extLst>
              <a:ext uri="{FF2B5EF4-FFF2-40B4-BE49-F238E27FC236}">
                <a16:creationId xmlns:a16="http://schemas.microsoft.com/office/drawing/2014/main" id="{20095CCD-CD5E-3949-AE61-F6C4C445012D}"/>
              </a:ext>
            </a:extLst>
          </p:cNvPr>
          <p:cNvSpPr>
            <a:spLocks noGrp="1"/>
          </p:cNvSpPr>
          <p:nvPr userDrawn="1">
            <p:ph type="body" sz="quarter" idx="18" hasCustomPrompt="1"/>
          </p:nvPr>
        </p:nvSpPr>
        <p:spPr>
          <a:xfrm>
            <a:off x="3819144" y="2175709"/>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4" name="Description 1">
            <a:extLst>
              <a:ext uri="{FF2B5EF4-FFF2-40B4-BE49-F238E27FC236}">
                <a16:creationId xmlns:a16="http://schemas.microsoft.com/office/drawing/2014/main" id="{AF74C33C-BE80-3E4F-AD16-B853AFB0DC94}"/>
              </a:ext>
            </a:extLst>
          </p:cNvPr>
          <p:cNvSpPr>
            <a:spLocks noGrp="1"/>
          </p:cNvSpPr>
          <p:nvPr userDrawn="1">
            <p:ph type="body" sz="quarter" idx="21" hasCustomPrompt="1"/>
          </p:nvPr>
        </p:nvSpPr>
        <p:spPr>
          <a:xfrm>
            <a:off x="3819144" y="2507105"/>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5" name="Date 2">
            <a:extLst>
              <a:ext uri="{FF2B5EF4-FFF2-40B4-BE49-F238E27FC236}">
                <a16:creationId xmlns:a16="http://schemas.microsoft.com/office/drawing/2014/main" id="{450C4AEB-3215-D247-8707-2CA376BCFA6C}"/>
              </a:ext>
            </a:extLst>
          </p:cNvPr>
          <p:cNvSpPr>
            <a:spLocks noGrp="1"/>
          </p:cNvSpPr>
          <p:nvPr userDrawn="1">
            <p:ph type="body" sz="quarter" idx="22" hasCustomPrompt="1"/>
          </p:nvPr>
        </p:nvSpPr>
        <p:spPr>
          <a:xfrm>
            <a:off x="3819144" y="3574377"/>
            <a:ext cx="2276856" cy="309600"/>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6" name="Description 2">
            <a:extLst>
              <a:ext uri="{FF2B5EF4-FFF2-40B4-BE49-F238E27FC236}">
                <a16:creationId xmlns:a16="http://schemas.microsoft.com/office/drawing/2014/main" id="{8DBD234F-66B6-D24F-8630-18330562C11D}"/>
              </a:ext>
            </a:extLst>
          </p:cNvPr>
          <p:cNvSpPr>
            <a:spLocks noGrp="1"/>
          </p:cNvSpPr>
          <p:nvPr userDrawn="1">
            <p:ph type="body" sz="quarter" idx="23" hasCustomPrompt="1"/>
          </p:nvPr>
        </p:nvSpPr>
        <p:spPr>
          <a:xfrm>
            <a:off x="3819144" y="3905772"/>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7" name="Date 3">
            <a:extLst>
              <a:ext uri="{FF2B5EF4-FFF2-40B4-BE49-F238E27FC236}">
                <a16:creationId xmlns:a16="http://schemas.microsoft.com/office/drawing/2014/main" id="{91D5779F-40F4-114C-8F51-0E0ED5801647}"/>
              </a:ext>
            </a:extLst>
          </p:cNvPr>
          <p:cNvSpPr>
            <a:spLocks noGrp="1"/>
          </p:cNvSpPr>
          <p:nvPr userDrawn="1">
            <p:ph type="body" sz="quarter" idx="24" hasCustomPrompt="1"/>
          </p:nvPr>
        </p:nvSpPr>
        <p:spPr>
          <a:xfrm>
            <a:off x="3819144" y="49701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28" name="Description 3">
            <a:extLst>
              <a:ext uri="{FF2B5EF4-FFF2-40B4-BE49-F238E27FC236}">
                <a16:creationId xmlns:a16="http://schemas.microsoft.com/office/drawing/2014/main" id="{02D4596C-769E-D04E-A5B1-EC681DAEE8E2}"/>
              </a:ext>
            </a:extLst>
          </p:cNvPr>
          <p:cNvSpPr>
            <a:spLocks noGrp="1"/>
          </p:cNvSpPr>
          <p:nvPr userDrawn="1">
            <p:ph type="body" sz="quarter" idx="25" hasCustomPrompt="1"/>
          </p:nvPr>
        </p:nvSpPr>
        <p:spPr>
          <a:xfrm>
            <a:off x="3819144"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4" name="Experience header">
            <a:extLst>
              <a:ext uri="{FF2B5EF4-FFF2-40B4-BE49-F238E27FC236}">
                <a16:creationId xmlns:a16="http://schemas.microsoft.com/office/drawing/2014/main" id="{98004762-0448-1B4A-8FEF-D3D363CEA960}"/>
              </a:ext>
            </a:extLst>
          </p:cNvPr>
          <p:cNvSpPr>
            <a:spLocks noGrp="1"/>
          </p:cNvSpPr>
          <p:nvPr userDrawn="1">
            <p:ph type="body" sz="quarter" idx="16" hasCustomPrompt="1"/>
          </p:nvPr>
        </p:nvSpPr>
        <p:spPr>
          <a:xfrm>
            <a:off x="6496430"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Experience</a:t>
            </a:r>
          </a:p>
        </p:txBody>
      </p:sp>
      <p:sp>
        <p:nvSpPr>
          <p:cNvPr id="40" name="Date 4">
            <a:extLst>
              <a:ext uri="{FF2B5EF4-FFF2-40B4-BE49-F238E27FC236}">
                <a16:creationId xmlns:a16="http://schemas.microsoft.com/office/drawing/2014/main" id="{47888554-5D19-8841-B473-5B61BFF2C10C}"/>
              </a:ext>
            </a:extLst>
          </p:cNvPr>
          <p:cNvSpPr>
            <a:spLocks noGrp="1"/>
          </p:cNvSpPr>
          <p:nvPr userDrawn="1">
            <p:ph type="body" sz="quarter" idx="26" hasCustomPrompt="1"/>
          </p:nvPr>
        </p:nvSpPr>
        <p:spPr>
          <a:xfrm>
            <a:off x="6496430" y="21714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41" name="Description 4">
            <a:extLst>
              <a:ext uri="{FF2B5EF4-FFF2-40B4-BE49-F238E27FC236}">
                <a16:creationId xmlns:a16="http://schemas.microsoft.com/office/drawing/2014/main" id="{3970DAEB-7645-454B-8955-9052575C98F7}"/>
              </a:ext>
            </a:extLst>
          </p:cNvPr>
          <p:cNvSpPr>
            <a:spLocks noGrp="1"/>
          </p:cNvSpPr>
          <p:nvPr userDrawn="1">
            <p:ph type="body" sz="quarter" idx="27" hasCustomPrompt="1"/>
          </p:nvPr>
        </p:nvSpPr>
        <p:spPr>
          <a:xfrm>
            <a:off x="6496430" y="2502801"/>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2" name="Date 5">
            <a:extLst>
              <a:ext uri="{FF2B5EF4-FFF2-40B4-BE49-F238E27FC236}">
                <a16:creationId xmlns:a16="http://schemas.microsoft.com/office/drawing/2014/main" id="{65E9429C-4B9C-2C44-8067-2A7B97747993}"/>
              </a:ext>
            </a:extLst>
          </p:cNvPr>
          <p:cNvSpPr>
            <a:spLocks noGrp="1"/>
          </p:cNvSpPr>
          <p:nvPr userDrawn="1">
            <p:ph type="body" sz="quarter" idx="28" hasCustomPrompt="1"/>
          </p:nvPr>
        </p:nvSpPr>
        <p:spPr>
          <a:xfrm>
            <a:off x="6496430" y="3583521"/>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3" name="Description 5">
            <a:extLst>
              <a:ext uri="{FF2B5EF4-FFF2-40B4-BE49-F238E27FC236}">
                <a16:creationId xmlns:a16="http://schemas.microsoft.com/office/drawing/2014/main" id="{C620E413-434A-AD48-9D92-DFC651AFAD06}"/>
              </a:ext>
            </a:extLst>
          </p:cNvPr>
          <p:cNvSpPr>
            <a:spLocks noGrp="1"/>
          </p:cNvSpPr>
          <p:nvPr userDrawn="1">
            <p:ph type="body" sz="quarter" idx="29" hasCustomPrompt="1"/>
          </p:nvPr>
        </p:nvSpPr>
        <p:spPr>
          <a:xfrm>
            <a:off x="6496430" y="3914917"/>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4" name="Date 6">
            <a:extLst>
              <a:ext uri="{FF2B5EF4-FFF2-40B4-BE49-F238E27FC236}">
                <a16:creationId xmlns:a16="http://schemas.microsoft.com/office/drawing/2014/main" id="{7CF6FBAA-EDE5-FB49-866C-B8EBCF06E86D}"/>
              </a:ext>
            </a:extLst>
          </p:cNvPr>
          <p:cNvSpPr>
            <a:spLocks noGrp="1"/>
          </p:cNvSpPr>
          <p:nvPr userDrawn="1">
            <p:ph type="body" sz="quarter" idx="30" hasCustomPrompt="1"/>
          </p:nvPr>
        </p:nvSpPr>
        <p:spPr>
          <a:xfrm>
            <a:off x="6496430" y="4970105"/>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5" name="Description 6">
            <a:extLst>
              <a:ext uri="{FF2B5EF4-FFF2-40B4-BE49-F238E27FC236}">
                <a16:creationId xmlns:a16="http://schemas.microsoft.com/office/drawing/2014/main" id="{CBAB841A-326D-C24E-9D5D-1F837FD3C32A}"/>
              </a:ext>
            </a:extLst>
          </p:cNvPr>
          <p:cNvSpPr>
            <a:spLocks noGrp="1"/>
          </p:cNvSpPr>
          <p:nvPr userDrawn="1">
            <p:ph type="body" sz="quarter" idx="31" hasCustomPrompt="1"/>
          </p:nvPr>
        </p:nvSpPr>
        <p:spPr>
          <a:xfrm>
            <a:off x="6496430"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5" name="Skills header">
            <a:extLst>
              <a:ext uri="{FF2B5EF4-FFF2-40B4-BE49-F238E27FC236}">
                <a16:creationId xmlns:a16="http://schemas.microsoft.com/office/drawing/2014/main" id="{A8684217-8B73-6846-8964-A3D5A8B8F819}"/>
              </a:ext>
            </a:extLst>
          </p:cNvPr>
          <p:cNvSpPr>
            <a:spLocks noGrp="1"/>
          </p:cNvSpPr>
          <p:nvPr userDrawn="1">
            <p:ph type="body" sz="quarter" idx="17" hasCustomPrompt="1"/>
          </p:nvPr>
        </p:nvSpPr>
        <p:spPr>
          <a:xfrm>
            <a:off x="9146542"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Skills</a:t>
            </a:r>
          </a:p>
        </p:txBody>
      </p:sp>
      <p:sp>
        <p:nvSpPr>
          <p:cNvPr id="47" name="Skill 1">
            <a:extLst>
              <a:ext uri="{FF2B5EF4-FFF2-40B4-BE49-F238E27FC236}">
                <a16:creationId xmlns:a16="http://schemas.microsoft.com/office/drawing/2014/main" id="{243ED50F-FE73-A540-9506-CF3FA6620F75}"/>
              </a:ext>
            </a:extLst>
          </p:cNvPr>
          <p:cNvSpPr>
            <a:spLocks noGrp="1"/>
          </p:cNvSpPr>
          <p:nvPr userDrawn="1">
            <p:ph type="body" sz="quarter" idx="33" hasCustomPrompt="1"/>
          </p:nvPr>
        </p:nvSpPr>
        <p:spPr>
          <a:xfrm>
            <a:off x="9146542" y="2183913"/>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1" name="Rectangle 70">
            <a:extLst>
              <a:ext uri="{FF2B5EF4-FFF2-40B4-BE49-F238E27FC236}">
                <a16:creationId xmlns:a16="http://schemas.microsoft.com/office/drawing/2014/main" id="{A3E2C9B9-D123-9140-9766-89B60B158F43}"/>
              </a:ext>
              <a:ext uri="{C183D7F6-B498-43B3-948B-1728B52AA6E4}">
                <adec:decorative xmlns:adec="http://schemas.microsoft.com/office/drawing/2017/decorative" val="1"/>
              </a:ext>
            </a:extLst>
          </p:cNvPr>
          <p:cNvSpPr>
            <a:spLocks/>
          </p:cNvSpPr>
          <p:nvPr userDrawn="1"/>
        </p:nvSpPr>
        <p:spPr bwMode="gray">
          <a:xfrm>
            <a:off x="9146542" y="2502502"/>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8" name="Skill 2">
            <a:extLst>
              <a:ext uri="{FF2B5EF4-FFF2-40B4-BE49-F238E27FC236}">
                <a16:creationId xmlns:a16="http://schemas.microsoft.com/office/drawing/2014/main" id="{2CCFDE26-46F5-944F-8BF0-84097E7D3521}"/>
              </a:ext>
            </a:extLst>
          </p:cNvPr>
          <p:cNvSpPr>
            <a:spLocks noGrp="1"/>
          </p:cNvSpPr>
          <p:nvPr userDrawn="1">
            <p:ph type="body" sz="quarter" idx="34" hasCustomPrompt="1"/>
          </p:nvPr>
        </p:nvSpPr>
        <p:spPr>
          <a:xfrm>
            <a:off x="9146542" y="2882115"/>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2" name="Rectangle 71">
            <a:extLst>
              <a:ext uri="{FF2B5EF4-FFF2-40B4-BE49-F238E27FC236}">
                <a16:creationId xmlns:a16="http://schemas.microsoft.com/office/drawing/2014/main" id="{B3DD6D09-F468-D841-BF43-54F32E303D62}"/>
              </a:ext>
              <a:ext uri="{C183D7F6-B498-43B3-948B-1728B52AA6E4}">
                <adec:decorative xmlns:adec="http://schemas.microsoft.com/office/drawing/2017/decorative" val="1"/>
              </a:ext>
            </a:extLst>
          </p:cNvPr>
          <p:cNvSpPr>
            <a:spLocks/>
          </p:cNvSpPr>
          <p:nvPr userDrawn="1"/>
        </p:nvSpPr>
        <p:spPr bwMode="gray">
          <a:xfrm>
            <a:off x="9146542" y="320887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9" name="Skill 3">
            <a:extLst>
              <a:ext uri="{FF2B5EF4-FFF2-40B4-BE49-F238E27FC236}">
                <a16:creationId xmlns:a16="http://schemas.microsoft.com/office/drawing/2014/main" id="{FC6B7BD4-1B8A-954F-85B0-4D37B7C641E0}"/>
              </a:ext>
            </a:extLst>
          </p:cNvPr>
          <p:cNvSpPr>
            <a:spLocks noGrp="1"/>
          </p:cNvSpPr>
          <p:nvPr userDrawn="1">
            <p:ph type="body" sz="quarter" idx="35" hasCustomPrompt="1"/>
          </p:nvPr>
        </p:nvSpPr>
        <p:spPr>
          <a:xfrm>
            <a:off x="9146542" y="356744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3" name="Rectangle 72">
            <a:extLst>
              <a:ext uri="{FF2B5EF4-FFF2-40B4-BE49-F238E27FC236}">
                <a16:creationId xmlns:a16="http://schemas.microsoft.com/office/drawing/2014/main" id="{2298873A-8C14-B343-A7CC-7FB17B3A9CBE}"/>
              </a:ext>
              <a:ext uri="{C183D7F6-B498-43B3-948B-1728B52AA6E4}">
                <adec:decorative xmlns:adec="http://schemas.microsoft.com/office/drawing/2017/decorative" val="1"/>
              </a:ext>
            </a:extLst>
          </p:cNvPr>
          <p:cNvSpPr>
            <a:spLocks/>
          </p:cNvSpPr>
          <p:nvPr userDrawn="1"/>
        </p:nvSpPr>
        <p:spPr bwMode="gray">
          <a:xfrm>
            <a:off x="9146542" y="3887637"/>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0" name="Skill 4">
            <a:extLst>
              <a:ext uri="{FF2B5EF4-FFF2-40B4-BE49-F238E27FC236}">
                <a16:creationId xmlns:a16="http://schemas.microsoft.com/office/drawing/2014/main" id="{133898AB-EC8E-4C43-B65F-51B268B0E383}"/>
              </a:ext>
            </a:extLst>
          </p:cNvPr>
          <p:cNvSpPr>
            <a:spLocks noGrp="1"/>
          </p:cNvSpPr>
          <p:nvPr userDrawn="1">
            <p:ph type="body" sz="quarter" idx="36" hasCustomPrompt="1"/>
          </p:nvPr>
        </p:nvSpPr>
        <p:spPr>
          <a:xfrm>
            <a:off x="9146542" y="4270366"/>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4" name="Rectangle 73">
            <a:extLst>
              <a:ext uri="{FF2B5EF4-FFF2-40B4-BE49-F238E27FC236}">
                <a16:creationId xmlns:a16="http://schemas.microsoft.com/office/drawing/2014/main" id="{90A4235C-75A4-A243-B4A1-0BC434FED741}"/>
              </a:ext>
              <a:ext uri="{C183D7F6-B498-43B3-948B-1728B52AA6E4}">
                <adec:decorative xmlns:adec="http://schemas.microsoft.com/office/drawing/2017/decorative" val="1"/>
              </a:ext>
            </a:extLst>
          </p:cNvPr>
          <p:cNvSpPr>
            <a:spLocks/>
          </p:cNvSpPr>
          <p:nvPr userDrawn="1"/>
        </p:nvSpPr>
        <p:spPr bwMode="gray">
          <a:xfrm>
            <a:off x="9146542" y="459394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1" name="Skill 5">
            <a:extLst>
              <a:ext uri="{FF2B5EF4-FFF2-40B4-BE49-F238E27FC236}">
                <a16:creationId xmlns:a16="http://schemas.microsoft.com/office/drawing/2014/main" id="{248D277D-8ACF-F147-B6AA-2FEB83B1B063}"/>
              </a:ext>
            </a:extLst>
          </p:cNvPr>
          <p:cNvSpPr>
            <a:spLocks noGrp="1"/>
          </p:cNvSpPr>
          <p:nvPr userDrawn="1">
            <p:ph type="body" sz="quarter" idx="37" hasCustomPrompt="1"/>
          </p:nvPr>
        </p:nvSpPr>
        <p:spPr>
          <a:xfrm>
            <a:off x="9146542" y="4982068"/>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5" name="Rectangle 74">
            <a:extLst>
              <a:ext uri="{FF2B5EF4-FFF2-40B4-BE49-F238E27FC236}">
                <a16:creationId xmlns:a16="http://schemas.microsoft.com/office/drawing/2014/main" id="{A9CFB8E7-7827-3844-9CD8-99084B3B5665}"/>
              </a:ext>
              <a:ext uri="{C183D7F6-B498-43B3-948B-1728B52AA6E4}">
                <adec:decorative xmlns:adec="http://schemas.microsoft.com/office/drawing/2017/decorative" val="1"/>
              </a:ext>
            </a:extLst>
          </p:cNvPr>
          <p:cNvSpPr>
            <a:spLocks/>
          </p:cNvSpPr>
          <p:nvPr userDrawn="1"/>
        </p:nvSpPr>
        <p:spPr bwMode="gray">
          <a:xfrm>
            <a:off x="9146542" y="5301603"/>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6" name="Skill 6">
            <a:extLst>
              <a:ext uri="{FF2B5EF4-FFF2-40B4-BE49-F238E27FC236}">
                <a16:creationId xmlns:a16="http://schemas.microsoft.com/office/drawing/2014/main" id="{95AD3CFD-2DE9-C943-BA43-8B744BAD8A28}"/>
              </a:ext>
            </a:extLst>
          </p:cNvPr>
          <p:cNvSpPr>
            <a:spLocks noGrp="1"/>
          </p:cNvSpPr>
          <p:nvPr userDrawn="1">
            <p:ph type="body" sz="quarter" idx="32" hasCustomPrompt="1"/>
          </p:nvPr>
        </p:nvSpPr>
        <p:spPr>
          <a:xfrm>
            <a:off x="9146542" y="568906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6" name="Rectangle 75">
            <a:extLst>
              <a:ext uri="{FF2B5EF4-FFF2-40B4-BE49-F238E27FC236}">
                <a16:creationId xmlns:a16="http://schemas.microsoft.com/office/drawing/2014/main" id="{9ADD0EBE-315C-554F-B291-C50A3881353F}"/>
              </a:ext>
              <a:ext uri="{C183D7F6-B498-43B3-948B-1728B52AA6E4}">
                <adec:decorative xmlns:adec="http://schemas.microsoft.com/office/drawing/2017/decorative" val="1"/>
              </a:ext>
            </a:extLst>
          </p:cNvPr>
          <p:cNvSpPr>
            <a:spLocks/>
          </p:cNvSpPr>
          <p:nvPr userDrawn="1"/>
        </p:nvSpPr>
        <p:spPr bwMode="gray">
          <a:xfrm>
            <a:off x="9146542" y="6015718"/>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B33217FD-C179-A7C3-F298-CD2006B9AAC8}"/>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17" name="Slide Number Placeholder 16">
            <a:extLst>
              <a:ext uri="{FF2B5EF4-FFF2-40B4-BE49-F238E27FC236}">
                <a16:creationId xmlns:a16="http://schemas.microsoft.com/office/drawing/2014/main" id="{139F4668-3C2C-FCAD-4589-3629BE2114EA}"/>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7795726"/>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V/Resume slide – Layout 2A">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defRPr>
            </a:lvl1pPr>
          </a:lstStyle>
          <a:p>
            <a:r>
              <a:rPr lang="en-US" noProof="0"/>
              <a:t>CV/Resume layout 2A – click to add name</a:t>
            </a:r>
          </a:p>
        </p:txBody>
      </p:sp>
      <p:sp>
        <p:nvSpPr>
          <p:cNvPr id="19" name="Cornerstone">
            <a:extLst>
              <a:ext uri="{FF2B5EF4-FFF2-40B4-BE49-F238E27FC236}">
                <a16:creationId xmlns:a16="http://schemas.microsoft.com/office/drawing/2014/main" id="{5C45700E-216F-B143-AB3D-B415EEE0460A}"/>
              </a:ext>
              <a:ext uri="{C183D7F6-B498-43B3-948B-1728B52AA6E4}">
                <adec:decorative xmlns:adec="http://schemas.microsoft.com/office/drawing/2017/decorative" val="1"/>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71205"/>
            <a:ext cx="1268099" cy="1268099"/>
          </a:xfrm>
          <a:prstGeom prst="rect">
            <a:avLst/>
          </a:prstGeom>
        </p:spPr>
        <p:txBody>
          <a:bodyPr/>
          <a:lstStyle>
            <a:lvl1pPr marL="0" indent="0">
              <a:buNone/>
              <a:defRPr sz="1400"/>
            </a:lvl1pPr>
          </a:lstStyle>
          <a:p>
            <a:r>
              <a:rPr lang="en-US" noProof="0" dirty="0"/>
              <a:t>Click icon to add photo</a:t>
            </a:r>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2" name="Education heading 9">
            <a:extLst>
              <a:ext uri="{FF2B5EF4-FFF2-40B4-BE49-F238E27FC236}">
                <a16:creationId xmlns:a16="http://schemas.microsoft.com/office/drawing/2014/main" id="{1FD8F504-46E4-155F-8089-722C75F57C44}"/>
              </a:ext>
            </a:extLst>
          </p:cNvPr>
          <p:cNvSpPr>
            <a:spLocks noGrp="1"/>
          </p:cNvSpPr>
          <p:nvPr>
            <p:ph type="body" sz="quarter" idx="24" hasCustomPrompt="1"/>
          </p:nvPr>
        </p:nvSpPr>
        <p:spPr>
          <a:xfrm>
            <a:off x="766618" y="2171195"/>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18174"/>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0482"/>
            <a:ext cx="9115474" cy="173736"/>
          </a:xfrm>
          <a:prstGeom prst="rect">
            <a:avLst/>
          </a:prstGeom>
          <a:noFill/>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12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pic>
        <p:nvPicPr>
          <p:cNvPr id="18" name="CGI Logo">
            <a:extLst>
              <a:ext uri="{FF2B5EF4-FFF2-40B4-BE49-F238E27FC236}">
                <a16:creationId xmlns:a16="http://schemas.microsoft.com/office/drawing/2014/main" id="{8B094C90-E1A2-9948-AB43-B471059D60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
        <p:nvSpPr>
          <p:cNvPr id="9" name="Footer Placeholder 8">
            <a:extLst>
              <a:ext uri="{FF2B5EF4-FFF2-40B4-BE49-F238E27FC236}">
                <a16:creationId xmlns:a16="http://schemas.microsoft.com/office/drawing/2014/main" id="{BDC0B927-1636-F1BA-BE47-8BD02F852C75}"/>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3" name="Slide Number Placeholder 16">
            <a:extLst>
              <a:ext uri="{FF2B5EF4-FFF2-40B4-BE49-F238E27FC236}">
                <a16:creationId xmlns:a16="http://schemas.microsoft.com/office/drawing/2014/main" id="{CE0B31F8-A870-7693-D541-9C870D5181B2}"/>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8072286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fr-CA" noProof="0"/>
              <a:t>Cliquez sur l'icône pour ajouter une image</a:t>
            </a:r>
            <a:endParaRPr lang="en-US" noProof="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V/Resume slide – Continue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1F92AF6-A857-408E-8673-15B7E330B07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CV/Resume continuation slide – click to add name</a:t>
            </a:r>
          </a:p>
        </p:txBody>
      </p:sp>
      <p:sp>
        <p:nvSpPr>
          <p:cNvPr id="9" name="Focus areas header">
            <a:extLst>
              <a:ext uri="{FF2B5EF4-FFF2-40B4-BE49-F238E27FC236}">
                <a16:creationId xmlns:a16="http://schemas.microsoft.com/office/drawing/2014/main" id="{59C86A1D-A4E8-CD4E-A3FF-1266A7F082DD}"/>
              </a:ext>
            </a:extLst>
          </p:cNvPr>
          <p:cNvSpPr>
            <a:spLocks noGrp="1"/>
          </p:cNvSpPr>
          <p:nvPr>
            <p:ph type="body" sz="quarter" idx="24" hasCustomPrompt="1"/>
          </p:nvPr>
        </p:nvSpPr>
        <p:spPr>
          <a:xfrm>
            <a:off x="768232" y="1566229"/>
            <a:ext cx="1279052"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r>
              <a:rPr lang="en-US" sz="1200" b="1" noProof="0">
                <a:solidFill>
                  <a:srgbClr val="5135AA"/>
                </a:solidFill>
                <a:effectLst/>
                <a:latin typeface="Arial" pitchFamily="34" charset="0"/>
              </a:rPr>
              <a:t>Focus areas</a:t>
            </a:r>
            <a:endParaRPr lang="en-US" noProof="0"/>
          </a:p>
        </p:txBody>
      </p:sp>
      <p:sp>
        <p:nvSpPr>
          <p:cNvPr id="5" name="Focus area text placeholder">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5737" y="1828795"/>
            <a:ext cx="1280160" cy="1754377"/>
          </a:xfrm>
          <a:prstGeom prst="rect">
            <a:avLst/>
          </a:prstGeom>
        </p:spPr>
        <p:txBody>
          <a:bodyPr lIns="0" tIns="0" rIns="0" bIns="0"/>
          <a:lstStyle>
            <a:lvl1pPr marL="0" indent="0">
              <a:lnSpc>
                <a:spcPct val="100000"/>
              </a:lnSpc>
              <a:spcBef>
                <a:spcPct val="0"/>
              </a:spcBef>
              <a:spcAft>
                <a:spcPts val="600"/>
              </a:spcAft>
              <a:buNone/>
              <a:defRPr sz="1000" b="0">
                <a:solidFill>
                  <a:schemeClr val="tx1"/>
                </a:solidFill>
              </a:defRPr>
            </a:lvl1pPr>
          </a:lstStyle>
          <a:p>
            <a:pPr lvl="0"/>
            <a:r>
              <a:rPr lang="en-US" noProof="0"/>
              <a:t>Text</a:t>
            </a:r>
          </a:p>
        </p:txBody>
      </p:sp>
      <p:sp>
        <p:nvSpPr>
          <p:cNvPr id="4" name="Languages header">
            <a:extLst>
              <a:ext uri="{FF2B5EF4-FFF2-40B4-BE49-F238E27FC236}">
                <a16:creationId xmlns:a16="http://schemas.microsoft.com/office/drawing/2014/main" id="{AF140CBD-8DB6-6F42-08D9-0838F6A42D07}"/>
              </a:ext>
            </a:extLst>
          </p:cNvPr>
          <p:cNvSpPr>
            <a:spLocks noGrp="1"/>
          </p:cNvSpPr>
          <p:nvPr>
            <p:ph type="body" sz="quarter" idx="28" hasCustomPrompt="1"/>
          </p:nvPr>
        </p:nvSpPr>
        <p:spPr>
          <a:xfrm>
            <a:off x="765737" y="3758179"/>
            <a:ext cx="1280160" cy="184666"/>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Languages</a:t>
            </a:r>
          </a:p>
        </p:txBody>
      </p:sp>
      <p:sp>
        <p:nvSpPr>
          <p:cNvPr id="10" name="Languages placeholder">
            <a:extLst>
              <a:ext uri="{FF2B5EF4-FFF2-40B4-BE49-F238E27FC236}">
                <a16:creationId xmlns:a16="http://schemas.microsoft.com/office/drawing/2014/main" id="{54DA4F4C-4906-9AC6-0890-4345F8BCDD59}"/>
              </a:ext>
            </a:extLst>
          </p:cNvPr>
          <p:cNvSpPr>
            <a:spLocks noGrp="1"/>
          </p:cNvSpPr>
          <p:nvPr>
            <p:ph type="body" sz="quarter" idx="29" hasCustomPrompt="1"/>
          </p:nvPr>
        </p:nvSpPr>
        <p:spPr>
          <a:xfrm>
            <a:off x="767409" y="4020317"/>
            <a:ext cx="1280160" cy="940326"/>
          </a:xfrm>
          <a:prstGeom prst="rect">
            <a:avLst/>
          </a:prstGeom>
        </p:spPr>
        <p:txBody>
          <a:bodyPr lIns="0" tIns="0" rIns="0" bIns="0"/>
          <a:lstStyle>
            <a:lvl1pPr marL="0">
              <a:lnSpc>
                <a:spcPct val="100000"/>
              </a:lnSpc>
              <a:spcBef>
                <a:spcPct val="0"/>
              </a:spcBef>
              <a:spcAft>
                <a:spcPts val="600"/>
              </a:spcAft>
              <a:buNone/>
              <a:defRPr sz="1000" b="0">
                <a:solidFill>
                  <a:schemeClr val="tx1"/>
                </a:solidFill>
              </a:defRPr>
            </a:lvl1pPr>
          </a:lstStyle>
          <a:p>
            <a:pPr lvl="0"/>
            <a:r>
              <a:rPr lang="en-US" noProof="0"/>
              <a:t>Text</a:t>
            </a:r>
          </a:p>
        </p:txBody>
      </p:sp>
      <p:sp>
        <p:nvSpPr>
          <p:cNvPr id="3" name="Other experience heading 7">
            <a:extLst>
              <a:ext uri="{FF2B5EF4-FFF2-40B4-BE49-F238E27FC236}">
                <a16:creationId xmlns:a16="http://schemas.microsoft.com/office/drawing/2014/main" id="{429756FF-67F4-6C80-85D1-5F66552EBB33}"/>
              </a:ext>
            </a:extLst>
          </p:cNvPr>
          <p:cNvSpPr>
            <a:spLocks noGrp="1"/>
          </p:cNvSpPr>
          <p:nvPr>
            <p:ph type="body" sz="quarter" idx="22" hasCustomPrompt="1"/>
          </p:nvPr>
        </p:nvSpPr>
        <p:spPr>
          <a:xfrm>
            <a:off x="2304288" y="1563624"/>
            <a:ext cx="9115474"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Other Experience</a:t>
            </a:r>
            <a:endParaRPr lang="en-US" sz="800" b="1" noProof="0">
              <a:solidFill>
                <a:schemeClr val="accent3"/>
              </a:solidFill>
            </a:endParaRPr>
          </a:p>
        </p:txBody>
      </p:sp>
      <p:sp>
        <p:nvSpPr>
          <p:cNvPr id="11" name="Other experiences placeholder">
            <a:extLst>
              <a:ext uri="{FF2B5EF4-FFF2-40B4-BE49-F238E27FC236}">
                <a16:creationId xmlns:a16="http://schemas.microsoft.com/office/drawing/2014/main" id="{5F8FE79C-1310-0D3D-FCE6-9DAB67EDCDAF}"/>
              </a:ext>
            </a:extLst>
          </p:cNvPr>
          <p:cNvSpPr>
            <a:spLocks noGrp="1"/>
          </p:cNvSpPr>
          <p:nvPr>
            <p:ph type="body" sz="quarter" idx="30" hasCustomPrompt="1"/>
          </p:nvPr>
        </p:nvSpPr>
        <p:spPr>
          <a:xfrm>
            <a:off x="2294263" y="1828795"/>
            <a:ext cx="9116568" cy="4261104"/>
          </a:xfrm>
          <a:prstGeom prst="rect">
            <a:avLst/>
          </a:prstGeom>
          <a:noFill/>
        </p:spPr>
        <p:txBody>
          <a:bodyPr lIns="0" tIns="0" rIns="0" bIns="0" numCol="1"/>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9ED99596-0F8D-5C06-9CBF-8D5373890E4D}"/>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4" name="Slide Number Placeholder 13">
            <a:extLst>
              <a:ext uri="{FF2B5EF4-FFF2-40B4-BE49-F238E27FC236}">
                <a16:creationId xmlns:a16="http://schemas.microsoft.com/office/drawing/2014/main" id="{1AF06330-50E0-3BDE-BEA3-2C15DCF034EE}"/>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36037412"/>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quote highlight x1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p>
            <a:r>
              <a:rPr lang="en-US" noProof="0"/>
              <a:t>Content highlight or quote slide (gradient A)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6" name="Text Placeholder 14">
            <a:extLst>
              <a:ext uri="{FF2B5EF4-FFF2-40B4-BE49-F238E27FC236}">
                <a16:creationId xmlns:a16="http://schemas.microsoft.com/office/drawing/2014/main" id="{1A8811CD-8CCC-C15D-A8FD-E627A316CAE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C183E39F-6799-F2B6-31CC-B075FB91CE85}"/>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5387345"/>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‹n°›</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173" r:id="rId39"/>
    <p:sldLayoutId id="2147484174" r:id="rId40"/>
    <p:sldLayoutId id="2147484271" r:id="rId41"/>
    <p:sldLayoutId id="2147484175" r:id="rId42"/>
    <p:sldLayoutId id="2147484073" r:id="rId43"/>
    <p:sldLayoutId id="2147484246" r:id="rId44"/>
    <p:sldLayoutId id="2147484316" r:id="rId45"/>
    <p:sldLayoutId id="2147484079" r:id="rId46"/>
    <p:sldLayoutId id="2147484247" r:id="rId47"/>
    <p:sldLayoutId id="2147484080" r:id="rId48"/>
    <p:sldLayoutId id="2147484248" r:id="rId49"/>
    <p:sldLayoutId id="2147484081" r:id="rId50"/>
    <p:sldLayoutId id="2147484249" r:id="rId51"/>
    <p:sldLayoutId id="2147484082" r:id="rId52"/>
    <p:sldLayoutId id="2147484267" r:id="rId53"/>
    <p:sldLayoutId id="2147484321" r:id="rId54"/>
    <p:sldLayoutId id="2147484260" r:id="rId55"/>
    <p:sldLayoutId id="2147484265" r:id="rId56"/>
    <p:sldLayoutId id="2147484261" r:id="rId57"/>
    <p:sldLayoutId id="2147484044" r:id="rId58"/>
    <p:sldLayoutId id="2147484331" r:id="rId59"/>
    <p:sldLayoutId id="2147484332" r:id="rId60"/>
    <p:sldLayoutId id="2147484333" r:id="rId61"/>
    <p:sldLayoutId id="2147484226" r:id="rId62"/>
    <p:sldLayoutId id="2147484262" r:id="rId63"/>
    <p:sldLayoutId id="2147484324" r:id="rId64"/>
    <p:sldLayoutId id="2147484263" r:id="rId65"/>
    <p:sldLayoutId id="2147484325" r:id="rId66"/>
    <p:sldLayoutId id="2147484264" r:id="rId67"/>
    <p:sldLayoutId id="2147484317" r:id="rId68"/>
    <p:sldLayoutId id="2147484146" r:id="rId69"/>
    <p:sldLayoutId id="2147484145" r:id="rId70"/>
    <p:sldLayoutId id="2147484219" r:id="rId71"/>
    <p:sldLayoutId id="2147484255" r:id="rId72"/>
    <p:sldLayoutId id="2147484256" r:id="rId73"/>
    <p:sldLayoutId id="2147484257" r:id="rId74"/>
    <p:sldLayoutId id="2147484266" r:id="rId75"/>
    <p:sldLayoutId id="2147484259" r:id="rId76"/>
    <p:sldLayoutId id="2147484322" r:id="rId77"/>
    <p:sldLayoutId id="2147484268" r:id="rId78"/>
    <p:sldLayoutId id="2147484270" r:id="rId79"/>
    <p:sldLayoutId id="2147484239" r:id="rId80"/>
    <p:sldLayoutId id="2147484251" r:id="rId81"/>
    <p:sldLayoutId id="2147484240" r:id="rId82"/>
    <p:sldLayoutId id="2147484253" r:id="rId83"/>
    <p:sldLayoutId id="2147484323" r:id="rId84"/>
    <p:sldLayoutId id="2147484326" r:id="rId85"/>
    <p:sldLayoutId id="2147484241" r:id="rId86"/>
    <p:sldLayoutId id="2147484252" r:id="rId87"/>
    <p:sldLayoutId id="2147484242" r:id="rId88"/>
    <p:sldLayoutId id="2147484327" r:id="rId89"/>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t>Salesforce Consulting Framework</a:t>
            </a:r>
          </a:p>
        </p:txBody>
      </p:sp>
      <p:sp>
        <p:nvSpPr>
          <p:cNvPr id="3" name="Text Placeholder 2"/>
          <p:cNvSpPr>
            <a:spLocks noGrp="1"/>
          </p:cNvSpPr>
          <p:nvPr>
            <p:ph type="body" idx="14" sz="quarter"/>
          </p:nvPr>
        </p:nvSpPr>
        <p:spPr/>
        <p:txBody>
          <a:bodyPr/>
          <a:lstStyle/>
          <a:p>
            <a:r>
              <a:rPr sz="1800"/>
              <a:t>Structured Methodology for SF Engagement Delivery</a:t>
            </a:r>
          </a:p>
          <a:p>
            <a:r>
              <a:rPr sz="1800"/>
              <a:t>Powered by Claude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7" sz="quarter"/>
          </p:nvPr>
        </p:nvSpPr>
        <p:spPr/>
        <p:txBody>
          <a:bodyPr/>
          <a:lstStyle/>
          <a:p>
            <a:pPr>
              <a:spcAft>
                <a:spcPts val="400"/>
              </a:spcAft>
            </a:pPr>
            <a:r>
              <a:rPr sz="1400" b="1">
                <a:solidFill>
                  <a:srgbClr val="000000"/>
                </a:solidFill>
                <a:latin typeface="Calibri"/>
              </a:rPr>
              <a:t>What: </a:t>
            </a:r>
            <a:r>
              <a:rPr sz="1400" b="0">
                <a:solidFill>
                  <a:srgbClr val="000000"/>
                </a:solidFill>
                <a:latin typeface="Calibri"/>
              </a:rPr>
              <a:t>A repeatable, AI-powered scaffolding framework that standardizes Salesforce consulting engagement setup from discovery to delivery</a:t>
            </a:r>
          </a:p>
          <a:p>
            <a:pPr>
              <a:spcAft>
                <a:spcPts val="400"/>
              </a:spcAft>
            </a:pPr>
            <a:r>
              <a:rPr sz="1400" b="1">
                <a:solidFill>
                  <a:srgbClr val="000000"/>
                </a:solidFill>
                <a:latin typeface="Calibri"/>
              </a:rPr>
              <a:t>Who: </a:t>
            </a:r>
            <a:r>
              <a:rPr sz="1400" b="0">
                <a:solidFill>
                  <a:srgbClr val="000000"/>
                </a:solidFill>
                <a:latin typeface="Calibri"/>
              </a:rPr>
              <a:t>For Salesforce consultants, architects, and practice leads who need consistent project initialization</a:t>
            </a:r>
          </a:p>
          <a:p>
            <a:pPr>
              <a:spcAft>
                <a:spcPts val="400"/>
              </a:spcAft>
            </a:pPr>
            <a:r>
              <a:rPr sz="1400" b="1">
                <a:solidFill>
                  <a:srgbClr val="000000"/>
                </a:solidFill>
                <a:latin typeface="Calibri"/>
              </a:rPr>
              <a:t>Value: </a:t>
            </a:r>
            <a:r>
              <a:rPr sz="1400" b="0">
                <a:solidFill>
                  <a:srgbClr val="000000"/>
                </a:solidFill>
                <a:latin typeface="Calibri"/>
              </a:rPr>
              <a:t>Eliminates manual setup overhead, enforces firm best practices, and ensures every engagement starts with professional-grade documentation and tooling</a:t>
            </a:r>
          </a:p>
          <a:p>
            <a:pPr>
              <a:spcAft>
                <a:spcPts val="400"/>
              </a:spcAft>
            </a:pPr>
            <a:r>
              <a:rPr sz="1400" b="1">
                <a:solidFill>
                  <a:srgbClr val="000000"/>
                </a:solidFill>
                <a:latin typeface="Calibri"/>
              </a:rPr>
              <a:t>Components: </a:t>
            </a:r>
            <a:r>
              <a:rPr sz="1400" b="0">
                <a:solidFill>
                  <a:srgbClr val="000000"/>
                </a:solidFill>
                <a:latin typeface="Calibri"/>
              </a:rPr>
              <a:t>An interactive Claude Code skill (sf-project-init), 8 interactive HTML diagrams, and a comprehensive framework document</a:t>
            </a:r>
          </a:p>
          <a:p>
            <a:pPr>
              <a:spcAft>
                <a:spcPts val="400"/>
              </a:spcAft>
            </a:pPr>
            <a:r>
              <a:rPr sz="1400" b="1">
                <a:solidFill>
                  <a:srgbClr val="000000"/>
                </a:solidFill>
                <a:latin typeface="Calibri"/>
              </a:rPr>
              <a:t>Result: </a:t>
            </a:r>
            <a:r>
              <a:rPr sz="1400" b="0">
                <a:solidFill>
                  <a:srgbClr val="000000"/>
                </a:solidFill>
                <a:latin typeface="Calibri"/>
              </a:rPr>
              <a:t>Consistent engagement quality across the practice with 80%+ reduction in project scaffolding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7" sz="quarter"/>
          </p:nvPr>
        </p:nvSpPr>
        <p:spPr/>
        <p:txBody>
          <a:bodyPr/>
          <a:lstStyle/>
          <a:p>
            <a:pPr>
              <a:spcAft>
                <a:spcPts val="400"/>
              </a:spcAft>
            </a:pPr>
            <a:r>
              <a:rPr sz="1300" b="1">
                <a:solidFill>
                  <a:srgbClr val="000000"/>
                </a:solidFill>
                <a:latin typeface="Calibri"/>
              </a:rPr>
              <a:t>Inconsistent engagement setups: </a:t>
            </a:r>
            <a:r>
              <a:rPr sz="1300" b="0">
                <a:solidFill>
                  <a:srgbClr val="000000"/>
                </a:solidFill>
                <a:latin typeface="Calibri"/>
              </a:rPr>
              <a:t>Each consultant scaffolds projects differently, leading to varying quality and missing components</a:t>
            </a:r>
          </a:p>
          <a:p>
            <a:pPr>
              <a:spcAft>
                <a:spcPts val="400"/>
              </a:spcAft>
            </a:pPr>
            <a:r>
              <a:rPr sz="1300" b="1">
                <a:solidFill>
                  <a:srgbClr val="000000"/>
                </a:solidFill>
                <a:latin typeface="Calibri"/>
              </a:rPr>
              <a:t>Manual scaffolding overhead: </a:t>
            </a:r>
            <a:r>
              <a:rPr sz="1300" b="0">
                <a:solidFill>
                  <a:srgbClr val="000000"/>
                </a:solidFill>
                <a:latin typeface="Calibri"/>
              </a:rPr>
              <a:t>Hours spent creating SFDX projects, CI/CD pipelines, documentation templates, and Linear tracking from scratch</a:t>
            </a:r>
          </a:p>
          <a:p>
            <a:pPr>
              <a:spcAft>
                <a:spcPts val="400"/>
              </a:spcAft>
            </a:pPr>
            <a:r>
              <a:rPr sz="1300" b="1">
                <a:solidFill>
                  <a:srgbClr val="000000"/>
                </a:solidFill>
                <a:latin typeface="Calibri"/>
              </a:rPr>
              <a:t>No standard process: </a:t>
            </a:r>
            <a:r>
              <a:rPr sz="1300" b="0">
                <a:solidFill>
                  <a:srgbClr val="000000"/>
                </a:solidFill>
                <a:latin typeface="Calibri"/>
              </a:rPr>
              <a:t>No firm-wide methodology covering discovery through hypercare across all engagement types</a:t>
            </a:r>
          </a:p>
          <a:p>
            <a:pPr>
              <a:spcAft>
                <a:spcPts val="400"/>
              </a:spcAft>
            </a:pPr>
            <a:r>
              <a:rPr sz="1300" b="1">
                <a:solidFill>
                  <a:srgbClr val="000000"/>
                </a:solidFill>
                <a:latin typeface="Calibri"/>
              </a:rPr>
              <a:t>Varying documentation quality: </a:t>
            </a:r>
            <a:r>
              <a:rPr sz="1300" b="0">
                <a:solidFill>
                  <a:srgbClr val="000000"/>
                </a:solidFill>
                <a:latin typeface="Calibri"/>
              </a:rPr>
              <a:t>Client deliverables (BRDs, SDDs, test plans) lack consistency in structure and depth</a:t>
            </a:r>
          </a:p>
          <a:p>
            <a:pPr>
              <a:spcAft>
                <a:spcPts val="400"/>
              </a:spcAft>
            </a:pPr>
            <a:r>
              <a:rPr sz="1300" b="1">
                <a:solidFill>
                  <a:srgbClr val="000000"/>
                </a:solidFill>
                <a:latin typeface="Calibri"/>
              </a:rPr>
              <a:t>Knowledge silos: </a:t>
            </a:r>
            <a:r>
              <a:rPr sz="1300" b="0">
                <a:solidFill>
                  <a:srgbClr val="000000"/>
                </a:solidFill>
                <a:latin typeface="Calibri"/>
              </a:rPr>
              <a:t>Best practices, naming conventions, and architectural patterns live in individual consultants' heads</a:t>
            </a:r>
          </a:p>
          <a:p>
            <a:pPr>
              <a:spcAft>
                <a:spcPts val="400"/>
              </a:spcAft>
            </a:pPr>
            <a:r>
              <a:rPr sz="1300" b="1">
                <a:solidFill>
                  <a:srgbClr val="000000"/>
                </a:solidFill>
                <a:latin typeface="Calibri"/>
              </a:rPr>
              <a:t>Onboarding friction: </a:t>
            </a:r>
            <a:r>
              <a:rPr sz="1300" b="0">
                <a:solidFill>
                  <a:srgbClr val="000000"/>
                </a:solidFill>
                <a:latin typeface="Calibri"/>
              </a:rPr>
              <a:t>New team members have no standardized starting point or reference framework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Framework Overview</a:t>
            </a:r>
          </a:p>
        </p:txBody>
      </p:sp>
      <p:sp>
        <p:nvSpPr>
          <p:cNvPr id="3" name="Text Placeholder 2"/>
          <p:cNvSpPr>
            <a:spLocks noGrp="1"/>
          </p:cNvSpPr>
          <p:nvPr>
            <p:ph type="body" idx="10" sz="quarter"/>
          </p:nvPr>
        </p:nvSpPr>
        <p:spPr/>
        <p:txBody>
          <a:bodyPr/>
          <a:lstStyle/>
          <a:p>
            <a:r>
              <a:rPr sz="1800" b="1">
                <a:solidFill>
                  <a:srgbClr val="5236AB"/>
                </a:solidFill>
              </a:rPr>
              <a:t>Methodology</a:t>
            </a:r>
          </a:p>
        </p:txBody>
      </p:sp>
      <p:sp>
        <p:nvSpPr>
          <p:cNvPr id="4" name="Content Placeholder 3"/>
          <p:cNvSpPr>
            <a:spLocks noGrp="1"/>
          </p:cNvSpPr>
          <p:nvPr>
            <p:ph idx="20" sz="quarter"/>
          </p:nvPr>
        </p:nvSpPr>
        <p:spPr/>
        <p:txBody>
          <a:bodyPr/>
          <a:lstStyle/>
          <a:p>
            <a:pPr>
              <a:spcAft>
                <a:spcPts val="400"/>
              </a:spcAft>
            </a:pPr>
            <a:r>
              <a:rPr sz="1200" b="0">
                <a:solidFill>
                  <a:srgbClr val="000000"/>
                </a:solidFill>
                <a:latin typeface="Calibri"/>
              </a:rPr>
              <a:t>6 lifecycle phases</a:t>
            </a:r>
          </a:p>
          <a:p>
            <a:pPr>
              <a:spcAft>
                <a:spcPts val="400"/>
              </a:spcAft>
            </a:pPr>
            <a:r>
              <a:rPr sz="1200" b="0">
                <a:solidFill>
                  <a:srgbClr val="000000"/>
                </a:solidFill>
                <a:latin typeface="Calibri"/>
              </a:rPr>
              <a:t>4 entry points</a:t>
            </a:r>
          </a:p>
          <a:p>
            <a:pPr>
              <a:spcAft>
                <a:spcPts val="400"/>
              </a:spcAft>
            </a:pPr>
            <a:r>
              <a:rPr sz="1200" b="0">
                <a:solidFill>
                  <a:srgbClr val="000000"/>
                </a:solidFill>
                <a:latin typeface="Calibri"/>
              </a:rPr>
              <a:t>8-round structured interview</a:t>
            </a:r>
          </a:p>
          <a:p>
            <a:pPr>
              <a:spcAft>
                <a:spcPts val="400"/>
              </a:spcAft>
            </a:pPr>
            <a:r>
              <a:rPr sz="1200" b="0">
                <a:solidFill>
                  <a:srgbClr val="000000"/>
                </a:solidFill>
                <a:latin typeface="Calibri"/>
              </a:rPr>
              <a:t>13 Golden Rules</a:t>
            </a:r>
          </a:p>
          <a:p>
            <a:pPr>
              <a:spcAft>
                <a:spcPts val="400"/>
              </a:spcAft>
            </a:pPr>
            <a:r>
              <a:rPr sz="1200" b="0">
                <a:solidFill>
                  <a:srgbClr val="000000"/>
                </a:solidFill>
                <a:latin typeface="Calibri"/>
              </a:rPr>
              <a:t>Naming conventions</a:t>
            </a:r>
          </a:p>
          <a:p>
            <a:pPr>
              <a:spcAft>
                <a:spcPts val="400"/>
              </a:spcAft>
            </a:pPr>
            <a:r>
              <a:rPr sz="1200" b="0">
                <a:solidFill>
                  <a:srgbClr val="000000"/>
                </a:solidFill>
                <a:latin typeface="Calibri"/>
              </a:rPr>
              <a:t>Security &amp; compliance protocols</a:t>
            </a:r>
          </a:p>
        </p:txBody>
      </p:sp>
      <p:sp>
        <p:nvSpPr>
          <p:cNvPr id="5" name="Text Placeholder 4"/>
          <p:cNvSpPr>
            <a:spLocks noGrp="1"/>
          </p:cNvSpPr>
          <p:nvPr>
            <p:ph type="body" idx="11" sz="quarter"/>
          </p:nvPr>
        </p:nvSpPr>
        <p:spPr/>
        <p:txBody>
          <a:bodyPr/>
          <a:lstStyle/>
          <a:p>
            <a:r>
              <a:rPr sz="1800" b="1">
                <a:solidFill>
                  <a:srgbClr val="5236AB"/>
                </a:solidFill>
              </a:rPr>
              <a:t>Tools</a:t>
            </a:r>
          </a:p>
        </p:txBody>
      </p:sp>
      <p:sp>
        <p:nvSpPr>
          <p:cNvPr id="6" name="Content Placeholder 5"/>
          <p:cNvSpPr>
            <a:spLocks noGrp="1"/>
          </p:cNvSpPr>
          <p:nvPr>
            <p:ph idx="22" sz="quarter"/>
          </p:nvPr>
        </p:nvSpPr>
        <p:spPr/>
        <p:txBody>
          <a:bodyPr/>
          <a:lstStyle/>
          <a:p>
            <a:pPr>
              <a:spcAft>
                <a:spcPts val="400"/>
              </a:spcAft>
            </a:pPr>
            <a:r>
              <a:rPr sz="1200" b="0">
                <a:solidFill>
                  <a:srgbClr val="000000"/>
                </a:solidFill>
                <a:latin typeface="Calibri"/>
              </a:rPr>
              <a:t>Claude Code AI assistant</a:t>
            </a:r>
          </a:p>
          <a:p>
            <a:pPr>
              <a:spcAft>
                <a:spcPts val="400"/>
              </a:spcAft>
            </a:pPr>
            <a:r>
              <a:rPr sz="1200" b="0">
                <a:solidFill>
                  <a:srgbClr val="000000"/>
                </a:solidFill>
                <a:latin typeface="Calibri"/>
              </a:rPr>
              <a:t>SFDX CLI integration</a:t>
            </a:r>
          </a:p>
          <a:p>
            <a:pPr>
              <a:spcAft>
                <a:spcPts val="400"/>
              </a:spcAft>
            </a:pPr>
            <a:r>
              <a:rPr sz="1200" b="0">
                <a:solidFill>
                  <a:srgbClr val="000000"/>
                </a:solidFill>
                <a:latin typeface="Calibri"/>
              </a:rPr>
              <a:t>GitHub Actions CI/CD</a:t>
            </a:r>
          </a:p>
          <a:p>
            <a:pPr>
              <a:spcAft>
                <a:spcPts val="400"/>
              </a:spcAft>
            </a:pPr>
            <a:r>
              <a:rPr sz="1200" b="0">
                <a:solidFill>
                  <a:srgbClr val="000000"/>
                </a:solidFill>
                <a:latin typeface="Calibri"/>
              </a:rPr>
              <a:t>Linear project management</a:t>
            </a:r>
          </a:p>
          <a:p>
            <a:pPr>
              <a:spcAft>
                <a:spcPts val="400"/>
              </a:spcAft>
            </a:pPr>
            <a:r>
              <a:rPr sz="1200" b="0">
                <a:solidFill>
                  <a:srgbClr val="000000"/>
                </a:solidFill>
                <a:latin typeface="Calibri"/>
              </a:rPr>
              <a:t>Context7 live documentation</a:t>
            </a:r>
          </a:p>
          <a:p>
            <a:pPr>
              <a:spcAft>
                <a:spcPts val="400"/>
              </a:spcAft>
            </a:pPr>
            <a:r>
              <a:rPr sz="1200" b="0">
                <a:solidFill>
                  <a:srgbClr val="000000"/>
                </a:solidFill>
                <a:latin typeface="Calibri"/>
              </a:rPr>
              <a:t>Playwright UI testing</a:t>
            </a:r>
          </a:p>
        </p:txBody>
      </p:sp>
      <p:sp>
        <p:nvSpPr>
          <p:cNvPr id="7" name="Text Placeholder 6"/>
          <p:cNvSpPr>
            <a:spLocks noGrp="1"/>
          </p:cNvSpPr>
          <p:nvPr>
            <p:ph type="body" idx="12" sz="quarter"/>
          </p:nvPr>
        </p:nvSpPr>
        <p:spPr/>
        <p:txBody>
          <a:bodyPr/>
          <a:lstStyle/>
          <a:p>
            <a:r>
              <a:rPr sz="1800" b="1">
                <a:solidFill>
                  <a:srgbClr val="5236AB"/>
                </a:solidFill>
              </a:rPr>
              <a:t>Deliverables</a:t>
            </a:r>
          </a:p>
        </p:txBody>
      </p:sp>
      <p:sp>
        <p:nvSpPr>
          <p:cNvPr id="8" name="Content Placeholder 7"/>
          <p:cNvSpPr>
            <a:spLocks noGrp="1"/>
          </p:cNvSpPr>
          <p:nvPr>
            <p:ph idx="23" sz="quarter"/>
          </p:nvPr>
        </p:nvSpPr>
        <p:spPr/>
        <p:txBody>
          <a:bodyPr/>
          <a:lstStyle/>
          <a:p>
            <a:pPr>
              <a:spcAft>
                <a:spcPts val="400"/>
              </a:spcAft>
            </a:pPr>
            <a:r>
              <a:rPr sz="1200" b="0">
                <a:solidFill>
                  <a:srgbClr val="000000"/>
                </a:solidFill>
                <a:latin typeface="Calibri"/>
              </a:rPr>
              <a:t>SFDX project scaffolding</a:t>
            </a:r>
          </a:p>
          <a:p>
            <a:pPr>
              <a:spcAft>
                <a:spcPts val="400"/>
              </a:spcAft>
            </a:pPr>
            <a:r>
              <a:rPr sz="1200" b="0">
                <a:solidFill>
                  <a:srgbClr val="000000"/>
                </a:solidFill>
                <a:latin typeface="Calibri"/>
              </a:rPr>
              <a:t>CLAUDE.md configuration</a:t>
            </a:r>
          </a:p>
          <a:p>
            <a:pPr>
              <a:spcAft>
                <a:spcPts val="400"/>
              </a:spcAft>
            </a:pPr>
            <a:r>
              <a:rPr sz="1200" b="0">
                <a:solidFill>
                  <a:srgbClr val="000000"/>
                </a:solidFill>
                <a:latin typeface="Calibri"/>
              </a:rPr>
              <a:t>8 interactive diagrams</a:t>
            </a:r>
          </a:p>
          <a:p>
            <a:pPr>
              <a:spcAft>
                <a:spcPts val="400"/>
              </a:spcAft>
            </a:pPr>
            <a:r>
              <a:rPr sz="1200" b="0">
                <a:solidFill>
                  <a:srgbClr val="000000"/>
                </a:solidFill>
                <a:latin typeface="Calibri"/>
              </a:rPr>
              <a:t>Client document templates</a:t>
            </a:r>
          </a:p>
          <a:p>
            <a:pPr>
              <a:spcAft>
                <a:spcPts val="400"/>
              </a:spcAft>
            </a:pPr>
            <a:r>
              <a:rPr sz="1200" b="0">
                <a:solidFill>
                  <a:srgbClr val="000000"/>
                </a:solidFill>
                <a:latin typeface="Calibri"/>
              </a:rPr>
              <a:t>Living documentation suite</a:t>
            </a:r>
          </a:p>
          <a:p>
            <a:pPr>
              <a:spcAft>
                <a:spcPts val="400"/>
              </a:spcAft>
            </a:pPr>
            <a:r>
              <a:rPr sz="1200" b="0">
                <a:solidFill>
                  <a:srgbClr val="000000"/>
                </a:solidFill>
                <a:latin typeface="Calibri"/>
              </a:rPr>
              <a:t>Architecture diagrams</a:t>
            </a:r>
          </a:p>
        </p:txBody>
      </p:sp>
      <p:sp>
        <p:nvSpPr>
          <p:cNvPr id="9" name="TextBox 8"/>
          <p:cNvSpPr txBox="1"/>
          <p:nvPr/>
        </p:nvSpPr>
        <p:spPr>
          <a:xfrm>
            <a:off x="731520" y="5852160"/>
            <a:ext cx="10058400" cy="457200"/>
          </a:xfrm>
          <a:prstGeom prst="rect">
            <a:avLst/>
          </a:prstGeom>
          <a:noFill/>
        </p:spPr>
        <p:txBody>
          <a:bodyPr wrap="square">
            <a:spAutoFit/>
          </a:bodyPr>
          <a:lstStyle/>
          <a:p>
            <a:pPr algn="ctr"/>
            <a:r>
              <a:rPr sz="1300" b="0">
                <a:solidFill>
                  <a:srgbClr val="555555"/>
                </a:solidFill>
                <a:latin typeface="Calibri"/>
              </a:rPr>
              <a:t>Spanning 6 phases (Discovery → Design → Build → Test → Deploy → Hypercare) with 4 entry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Core Deliverables</a:t>
            </a:r>
          </a:p>
        </p:txBody>
      </p:sp>
      <p:sp>
        <p:nvSpPr>
          <p:cNvPr id="3" name="Text Placeholder 2"/>
          <p:cNvSpPr>
            <a:spLocks noGrp="1"/>
          </p:cNvSpPr>
          <p:nvPr>
            <p:ph type="body" idx="10" sz="quarter"/>
          </p:nvPr>
        </p:nvSpPr>
        <p:spPr/>
        <p:txBody>
          <a:bodyPr/>
          <a:lstStyle/>
          <a:p>
            <a:r>
              <a:rPr sz="1600" b="1">
                <a:solidFill>
                  <a:srgbClr val="5236AB"/>
                </a:solidFill>
              </a:rPr>
              <a:t>sf-project-init Skill</a:t>
            </a:r>
          </a:p>
        </p:txBody>
      </p:sp>
      <p:sp>
        <p:nvSpPr>
          <p:cNvPr id="4" name="Content Placeholder 3"/>
          <p:cNvSpPr>
            <a:spLocks noGrp="1"/>
          </p:cNvSpPr>
          <p:nvPr>
            <p:ph idx="20" sz="quarter"/>
          </p:nvPr>
        </p:nvSpPr>
        <p:spPr/>
        <p:txBody>
          <a:bodyPr/>
          <a:lstStyle/>
          <a:p>
            <a:pPr>
              <a:spcAft>
                <a:spcPts val="400"/>
              </a:spcAft>
            </a:pPr>
            <a:r>
              <a:rPr sz="1200" b="0">
                <a:solidFill>
                  <a:srgbClr val="000000"/>
                </a:solidFill>
                <a:latin typeface="Calibri"/>
              </a:rPr>
              <a:t>Installable Claude Code skill</a:t>
            </a:r>
          </a:p>
          <a:p>
            <a:pPr>
              <a:spcAft>
                <a:spcPts val="400"/>
              </a:spcAft>
            </a:pPr>
            <a:r>
              <a:rPr sz="1200" b="0">
                <a:solidFill>
                  <a:srgbClr val="000000"/>
                </a:solidFill>
                <a:latin typeface="Calibri"/>
              </a:rPr>
              <a:t>Structured 8-round interview</a:t>
            </a:r>
          </a:p>
          <a:p>
            <a:pPr>
              <a:spcAft>
                <a:spcPts val="400"/>
              </a:spcAft>
            </a:pPr>
            <a:r>
              <a:rPr sz="1200" b="0">
                <a:solidFill>
                  <a:srgbClr val="000000"/>
                </a:solidFill>
                <a:latin typeface="Calibri"/>
              </a:rPr>
              <a:t>Auto-generates SFDX project</a:t>
            </a:r>
          </a:p>
          <a:p>
            <a:pPr>
              <a:spcAft>
                <a:spcPts val="400"/>
              </a:spcAft>
            </a:pPr>
            <a:r>
              <a:rPr sz="1200" b="0">
                <a:solidFill>
                  <a:srgbClr val="000000"/>
                </a:solidFill>
                <a:latin typeface="Calibri"/>
              </a:rPr>
              <a:t>Creates CLAUDE.md config</a:t>
            </a:r>
          </a:p>
          <a:p>
            <a:pPr>
              <a:spcAft>
                <a:spcPts val="400"/>
              </a:spcAft>
            </a:pPr>
            <a:r>
              <a:rPr sz="1200" b="0">
                <a:solidFill>
                  <a:srgbClr val="000000"/>
                </a:solidFill>
                <a:latin typeface="Calibri"/>
              </a:rPr>
              <a:t>Sets up Linear tracking</a:t>
            </a:r>
          </a:p>
          <a:p>
            <a:pPr>
              <a:spcAft>
                <a:spcPts val="400"/>
              </a:spcAft>
            </a:pPr>
            <a:r>
              <a:rPr sz="1200" b="0">
                <a:solidFill>
                  <a:srgbClr val="000000"/>
                </a:solidFill>
                <a:latin typeface="Calibri"/>
              </a:rPr>
              <a:t>Configures CI/CD pipelines</a:t>
            </a:r>
          </a:p>
        </p:txBody>
      </p:sp>
      <p:sp>
        <p:nvSpPr>
          <p:cNvPr id="5" name="Text Placeholder 4"/>
          <p:cNvSpPr>
            <a:spLocks noGrp="1"/>
          </p:cNvSpPr>
          <p:nvPr>
            <p:ph type="body" idx="11" sz="quarter"/>
          </p:nvPr>
        </p:nvSpPr>
        <p:spPr/>
        <p:txBody>
          <a:bodyPr/>
          <a:lstStyle/>
          <a:p>
            <a:r>
              <a:rPr sz="1600" b="1">
                <a:solidFill>
                  <a:srgbClr val="5236AB"/>
                </a:solidFill>
              </a:rPr>
              <a:t>8 Interactive Diagrams</a:t>
            </a:r>
          </a:p>
        </p:txBody>
      </p:sp>
      <p:sp>
        <p:nvSpPr>
          <p:cNvPr id="6" name="Content Placeholder 5"/>
          <p:cNvSpPr>
            <a:spLocks noGrp="1"/>
          </p:cNvSpPr>
          <p:nvPr>
            <p:ph idx="22" sz="quarter"/>
          </p:nvPr>
        </p:nvSpPr>
        <p:spPr/>
        <p:txBody>
          <a:bodyPr/>
          <a:lstStyle/>
          <a:p>
            <a:pPr>
              <a:spcAft>
                <a:spcPts val="400"/>
              </a:spcAft>
            </a:pPr>
            <a:r>
              <a:rPr sz="1200" b="0">
                <a:solidFill>
                  <a:srgbClr val="000000"/>
                </a:solidFill>
                <a:latin typeface="Calibri"/>
              </a:rPr>
              <a:t>Framework Overview diagram</a:t>
            </a:r>
          </a:p>
          <a:p>
            <a:pPr>
              <a:spcAft>
                <a:spcPts val="400"/>
              </a:spcAft>
            </a:pPr>
            <a:r>
              <a:rPr sz="1200" b="0">
                <a:solidFill>
                  <a:srgbClr val="000000"/>
                </a:solidFill>
                <a:latin typeface="Calibri"/>
              </a:rPr>
              <a:t>Project Lifecycle phases</a:t>
            </a:r>
          </a:p>
          <a:p>
            <a:pPr>
              <a:spcAft>
                <a:spcPts val="400"/>
              </a:spcAft>
            </a:pPr>
            <a:r>
              <a:rPr sz="1200" b="0">
                <a:solidFill>
                  <a:srgbClr val="000000"/>
                </a:solidFill>
                <a:latin typeface="Calibri"/>
              </a:rPr>
              <a:t>Dev Loop cycle</a:t>
            </a:r>
          </a:p>
          <a:p>
            <a:pPr>
              <a:spcAft>
                <a:spcPts val="400"/>
              </a:spcAft>
            </a:pPr>
            <a:r>
              <a:rPr sz="1200" b="0">
                <a:solidFill>
                  <a:srgbClr val="000000"/>
                </a:solidFill>
                <a:latin typeface="Calibri"/>
              </a:rPr>
              <a:t>CI/CD Pipeline flow</a:t>
            </a:r>
          </a:p>
          <a:p>
            <a:pPr>
              <a:spcAft>
                <a:spcPts val="400"/>
              </a:spcAft>
            </a:pPr>
            <a:r>
              <a:rPr sz="1200" b="0">
                <a:solidFill>
                  <a:srgbClr val="000000"/>
                </a:solidFill>
                <a:latin typeface="Calibri"/>
              </a:rPr>
              <a:t>Integration architecture</a:t>
            </a:r>
          </a:p>
          <a:p>
            <a:pPr>
              <a:spcAft>
                <a:spcPts val="400"/>
              </a:spcAft>
            </a:pPr>
            <a:r>
              <a:rPr sz="1200" b="0">
                <a:solidFill>
                  <a:srgbClr val="000000"/>
                </a:solidFill>
                <a:latin typeface="Calibri"/>
              </a:rPr>
              <a:t>Scenario walkthroughs</a:t>
            </a:r>
          </a:p>
          <a:p>
            <a:pPr>
              <a:spcAft>
                <a:spcPts val="400"/>
              </a:spcAft>
            </a:pPr>
            <a:r>
              <a:rPr sz="1200" b="0">
                <a:solidFill>
                  <a:srgbClr val="000000"/>
                </a:solidFill>
                <a:latin typeface="Calibri"/>
              </a:rPr>
              <a:t>Tech Stack mapping</a:t>
            </a:r>
          </a:p>
          <a:p>
            <a:pPr>
              <a:spcAft>
                <a:spcPts val="400"/>
              </a:spcAft>
            </a:pPr>
            <a:r>
              <a:rPr sz="1200" b="0">
                <a:solidFill>
                  <a:srgbClr val="000000"/>
                </a:solidFill>
                <a:latin typeface="Calibri"/>
              </a:rPr>
              <a:t>Tool-to-phase mapping</a:t>
            </a:r>
          </a:p>
        </p:txBody>
      </p:sp>
      <p:sp>
        <p:nvSpPr>
          <p:cNvPr id="7" name="Text Placeholder 6"/>
          <p:cNvSpPr>
            <a:spLocks noGrp="1"/>
          </p:cNvSpPr>
          <p:nvPr>
            <p:ph type="body" idx="12" sz="quarter"/>
          </p:nvPr>
        </p:nvSpPr>
        <p:spPr/>
        <p:txBody>
          <a:bodyPr/>
          <a:lstStyle/>
          <a:p>
            <a:r>
              <a:rPr sz="1600" b="1">
                <a:solidFill>
                  <a:srgbClr val="5236AB"/>
                </a:solidFill>
              </a:rPr>
              <a:t>Framework Document</a:t>
            </a:r>
          </a:p>
        </p:txBody>
      </p:sp>
      <p:sp>
        <p:nvSpPr>
          <p:cNvPr id="8" name="Content Placeholder 7"/>
          <p:cNvSpPr>
            <a:spLocks noGrp="1"/>
          </p:cNvSpPr>
          <p:nvPr>
            <p:ph idx="23" sz="quarter"/>
          </p:nvPr>
        </p:nvSpPr>
        <p:spPr/>
        <p:txBody>
          <a:bodyPr/>
          <a:lstStyle/>
          <a:p>
            <a:pPr>
              <a:spcAft>
                <a:spcPts val="400"/>
              </a:spcAft>
            </a:pPr>
            <a:r>
              <a:rPr sz="1200" b="0">
                <a:solidFill>
                  <a:srgbClr val="000000"/>
                </a:solidFill>
                <a:latin typeface="Calibri"/>
              </a:rPr>
              <a:t>Complete methodology reference</a:t>
            </a:r>
          </a:p>
          <a:p>
            <a:pPr>
              <a:spcAft>
                <a:spcPts val="400"/>
              </a:spcAft>
            </a:pPr>
            <a:r>
              <a:rPr sz="1200" b="0">
                <a:solidFill>
                  <a:srgbClr val="000000"/>
                </a:solidFill>
                <a:latin typeface="Calibri"/>
              </a:rPr>
              <a:t>Engagement type guidance</a:t>
            </a:r>
          </a:p>
          <a:p>
            <a:pPr>
              <a:spcAft>
                <a:spcPts val="400"/>
              </a:spcAft>
            </a:pPr>
            <a:r>
              <a:rPr sz="1200" b="0">
                <a:solidFill>
                  <a:srgbClr val="000000"/>
                </a:solidFill>
                <a:latin typeface="Calibri"/>
              </a:rPr>
              <a:t>Delivery phase details</a:t>
            </a:r>
          </a:p>
          <a:p>
            <a:pPr>
              <a:spcAft>
                <a:spcPts val="400"/>
              </a:spcAft>
            </a:pPr>
            <a:r>
              <a:rPr sz="1200" b="0">
                <a:solidFill>
                  <a:srgbClr val="000000"/>
                </a:solidFill>
                <a:latin typeface="Calibri"/>
              </a:rPr>
              <a:t>Governance framework</a:t>
            </a:r>
          </a:p>
          <a:p>
            <a:pPr>
              <a:spcAft>
                <a:spcPts val="400"/>
              </a:spcAft>
            </a:pPr>
            <a:r>
              <a:rPr sz="1200" b="0">
                <a:solidFill>
                  <a:srgbClr val="000000"/>
                </a:solidFill>
                <a:latin typeface="Calibri"/>
              </a:rPr>
              <a:t>Best practices catalog</a:t>
            </a:r>
          </a:p>
          <a:p>
            <a:pPr>
              <a:spcAft>
                <a:spcPts val="400"/>
              </a:spcAft>
            </a:pPr>
            <a:r>
              <a:rPr sz="1200" b="0">
                <a:solidFill>
                  <a:srgbClr val="000000"/>
                </a:solidFill>
                <a:latin typeface="Calibri"/>
              </a:rPr>
              <a:t>Professional DOCX format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sf-project-init Skill</a:t>
            </a:r>
          </a:p>
        </p:txBody>
      </p:sp>
      <p:sp>
        <p:nvSpPr>
          <p:cNvPr id="3" name="Content Placeholder 2"/>
          <p:cNvSpPr>
            <a:spLocks noGrp="1"/>
          </p:cNvSpPr>
          <p:nvPr>
            <p:ph idx="17" sz="quarter"/>
          </p:nvPr>
        </p:nvSpPr>
        <p:spPr/>
        <p:txBody>
          <a:bodyPr/>
          <a:lstStyle/>
          <a:p>
            <a:pPr>
              <a:spcAft>
                <a:spcPts val="400"/>
              </a:spcAft>
            </a:pPr>
            <a:r>
              <a:rPr sz="1300" b="0">
                <a:solidFill>
                  <a:srgbClr val="000000"/>
                </a:solidFill>
                <a:latin typeface="Calibri"/>
              </a:rPr>
              <a:t>Phase 1 — Interview: Conduct 8 structured interview rounds gathering engagement context, org details, products, security, and conventions</a:t>
            </a:r>
          </a:p>
          <a:p>
            <a:pPr>
              <a:spcAft>
                <a:spcPts val="400"/>
              </a:spcAft>
            </a:pPr>
            <a:r>
              <a:rPr sz="1300" b="0">
                <a:solidFill>
                  <a:srgbClr val="000000"/>
                </a:solidFill>
                <a:latin typeface="Calibri"/>
              </a:rPr>
              <a:t>Phase 2 — Summary &amp; Approval: Present comprehensive creation plan and wait for consultant approval before generating any files</a:t>
            </a:r>
          </a:p>
          <a:p>
            <a:pPr>
              <a:spcAft>
                <a:spcPts val="400"/>
              </a:spcAft>
            </a:pPr>
            <a:r>
              <a:rPr sz="1300" b="0">
                <a:solidFill>
                  <a:srgbClr val="000000"/>
                </a:solidFill>
                <a:latin typeface="Calibri"/>
              </a:rPr>
              <a:t>Phase 3 — Generate: Create SFDX project structure, CLAUDE.md, documentation templates, CI/CD pipelines, and scripts</a:t>
            </a:r>
          </a:p>
          <a:p>
            <a:pPr>
              <a:spcAft>
                <a:spcPts val="400"/>
              </a:spcAft>
            </a:pPr>
            <a:r>
              <a:rPr sz="1300" b="0">
                <a:solidFill>
                  <a:srgbClr val="000000"/>
                </a:solidFill>
                <a:latin typeface="Calibri"/>
              </a:rPr>
              <a:t>Phase 4 — Linear Setup: Auto-create Linear project with milestones, cycles, and starter issues tailored to the engagement type</a:t>
            </a:r>
          </a:p>
          <a:p>
            <a:pPr>
              <a:spcAft>
                <a:spcPts val="400"/>
              </a:spcAft>
            </a:pPr>
            <a:r>
              <a:rPr sz="1300" b="0">
                <a:solidFill>
                  <a:srgbClr val="000000"/>
                </a:solidFill>
                <a:latin typeface="Calibri"/>
              </a:rPr>
              <a:t>Phase 5 — Configure: Set up MCP server integrations (Salesforce CLI, Context7, Playwright) and establish tool connections</a:t>
            </a:r>
          </a:p>
        </p:txBody>
      </p:sp>
      <p:sp>
        <p:nvSpPr>
          <p:cNvPr id="4" name="TextBox 3"/>
          <p:cNvSpPr txBox="1"/>
          <p:nvPr/>
        </p:nvSpPr>
        <p:spPr>
          <a:xfrm>
            <a:off x="731520" y="5303520"/>
            <a:ext cx="10058400" cy="457200"/>
          </a:xfrm>
          <a:prstGeom prst="rect">
            <a:avLst/>
          </a:prstGeom>
          <a:noFill/>
        </p:spPr>
        <p:txBody>
          <a:bodyPr wrap="square">
            <a:spAutoFit/>
          </a:bodyPr>
          <a:lstStyle/>
          <a:p>
            <a:pPr algn="ctr"/>
            <a:r>
              <a:rPr sz="1400" b="1">
                <a:solidFill>
                  <a:srgbClr val="5236AB"/>
                </a:solidFill>
                <a:latin typeface="Calibri"/>
              </a:rPr>
              <a:t>Invoke with:  /sf-project-init  —  The skill adapts all outputs based on the selected entry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Interview Rounds</a:t>
            </a:r>
          </a:p>
        </p:txBody>
      </p:sp>
      <p:graphicFrame>
        <p:nvGraphicFramePr>
          <p:cNvPr id="3" name="Table 2"/>
          <p:cNvGraphicFramePr>
            <a:graphicFrameLocks noGrp="1"/>
          </p:cNvGraphicFramePr>
          <p:nvPr/>
        </p:nvGraphicFramePr>
        <p:xfrm>
          <a:off x="731520" y="1371600"/>
          <a:ext cx="10515600" cy="4754880"/>
        </p:xfrm>
        <a:graphic>
          <a:graphicData uri="http://schemas.openxmlformats.org/drawingml/2006/table">
            <a:tbl>
              <a:tblPr firstRow="1" bandRow="1">
                <a:tableStyleId>{5C22544A-7EE6-4342-B048-85BDC9FD1C3A}</a:tableStyleId>
              </a:tblPr>
              <a:tblGrid>
                <a:gridCol w="1097280"/>
                <a:gridCol w="3200400"/>
                <a:gridCol w="6217920"/>
              </a:tblGrid>
              <a:tr h="528320">
                <a:tc>
                  <a:txBody>
                    <a:bodyPr/>
                    <a:lstStyle/>
                    <a:p>
                      <a:pPr>
                        <a:defRPr sz="1300" b="1">
                          <a:solidFill>
                            <a:srgbClr val="FFFFFF"/>
                          </a:solidFill>
                        </a:defRPr>
                      </a:pPr>
                      <a:r>
                        <a:t>Round</a:t>
                      </a:r>
                    </a:p>
                  </a:txBody>
                  <a:tcPr>
                    <a:solidFill>
                      <a:srgbClr val="5236AB"/>
                    </a:solidFill>
                  </a:tcPr>
                </a:tc>
                <a:tc>
                  <a:txBody>
                    <a:bodyPr/>
                    <a:lstStyle/>
                    <a:p>
                      <a:pPr>
                        <a:defRPr sz="1300" b="1">
                          <a:solidFill>
                            <a:srgbClr val="FFFFFF"/>
                          </a:solidFill>
                        </a:defRPr>
                      </a:pPr>
                      <a:r>
                        <a:t>Topic</a:t>
                      </a:r>
                    </a:p>
                  </a:txBody>
                  <a:tcPr>
                    <a:solidFill>
                      <a:srgbClr val="5236AB"/>
                    </a:solidFill>
                  </a:tcPr>
                </a:tc>
                <a:tc>
                  <a:txBody>
                    <a:bodyPr/>
                    <a:lstStyle/>
                    <a:p>
                      <a:pPr>
                        <a:defRPr sz="1300" b="1">
                          <a:solidFill>
                            <a:srgbClr val="FFFFFF"/>
                          </a:solidFill>
                        </a:defRPr>
                      </a:pPr>
                      <a:r>
                        <a:t>Key Outputs</a:t>
                      </a:r>
                    </a:p>
                  </a:txBody>
                  <a:tcPr>
                    <a:solidFill>
                      <a:srgbClr val="5236AB"/>
                    </a:solidFill>
                  </a:tcPr>
                </a:tc>
              </a:tr>
              <a:tr h="528320">
                <a:tc>
                  <a:txBody>
                    <a:bodyPr/>
                    <a:lstStyle/>
                    <a:p>
                      <a:pPr algn="ctr">
                        <a:defRPr sz="1100" b="1">
                          <a:solidFill>
                            <a:srgbClr val="5236AB"/>
                          </a:solidFill>
                        </a:defRPr>
                      </a:pPr>
                      <a:r>
                        <a:t>1</a:t>
                      </a:r>
                    </a:p>
                  </a:txBody>
                  <a:tcPr>
                    <a:solidFill>
                      <a:srgbClr val="E6E3F3"/>
                    </a:solidFill>
                  </a:tcPr>
                </a:tc>
                <a:tc>
                  <a:txBody>
                    <a:bodyPr/>
                    <a:lstStyle/>
                    <a:p>
                      <a:pPr>
                        <a:defRPr sz="1100">
                          <a:solidFill>
                            <a:srgbClr val="000000"/>
                          </a:solidFill>
                        </a:defRPr>
                      </a:pPr>
                      <a:r>
                        <a:t>Engagement Context</a:t>
                      </a:r>
                    </a:p>
                  </a:txBody>
                  <a:tcPr>
                    <a:solidFill>
                      <a:srgbClr val="E6E3F3"/>
                    </a:solidFill>
                  </a:tcPr>
                </a:tc>
                <a:tc>
                  <a:txBody>
                    <a:bodyPr/>
                    <a:lstStyle/>
                    <a:p>
                      <a:pPr>
                        <a:defRPr sz="1100">
                          <a:solidFill>
                            <a:srgbClr val="000000"/>
                          </a:solidFill>
                        </a:defRPr>
                      </a:pPr>
                      <a:r>
                        <a:t>Client name, project name, team size, entry point selection</a:t>
                      </a:r>
                    </a:p>
                  </a:txBody>
                  <a:tcPr>
                    <a:solidFill>
                      <a:srgbClr val="E6E3F3"/>
                    </a:solidFill>
                  </a:tcPr>
                </a:tc>
              </a:tr>
              <a:tr h="528320">
                <a:tc>
                  <a:txBody>
                    <a:bodyPr/>
                    <a:lstStyle/>
                    <a:p>
                      <a:pPr algn="ctr">
                        <a:defRPr sz="1100" b="1">
                          <a:solidFill>
                            <a:srgbClr val="5236AB"/>
                          </a:solidFill>
                        </a:defRPr>
                      </a:pPr>
                      <a:r>
                        <a:t>2</a:t>
                      </a:r>
                    </a:p>
                  </a:txBody>
                  <a:tcPr/>
                </a:tc>
                <a:tc>
                  <a:txBody>
                    <a:bodyPr/>
                    <a:lstStyle/>
                    <a:p>
                      <a:pPr>
                        <a:defRPr sz="1100">
                          <a:solidFill>
                            <a:srgbClr val="000000"/>
                          </a:solidFill>
                        </a:defRPr>
                      </a:pPr>
                      <a:r>
                        <a:t>Org &amp; Environment</a:t>
                      </a:r>
                    </a:p>
                  </a:txBody>
                  <a:tcPr/>
                </a:tc>
                <a:tc>
                  <a:txBody>
                    <a:bodyPr/>
                    <a:lstStyle/>
                    <a:p>
                      <a:pPr>
                        <a:defRPr sz="1100">
                          <a:solidFill>
                            <a:srgbClr val="000000"/>
                          </a:solidFill>
                        </a:defRPr>
                      </a:pPr>
                      <a:r>
                        <a:t>Org type, environment promotion path, scratch org strategy</a:t>
                      </a:r>
                    </a:p>
                  </a:txBody>
                  <a:tcPr/>
                </a:tc>
              </a:tr>
              <a:tr h="528320">
                <a:tc>
                  <a:txBody>
                    <a:bodyPr/>
                    <a:lstStyle/>
                    <a:p>
                      <a:pPr algn="ctr">
                        <a:defRPr sz="1100" b="1">
                          <a:solidFill>
                            <a:srgbClr val="5236AB"/>
                          </a:solidFill>
                        </a:defRPr>
                      </a:pPr>
                      <a:r>
                        <a:t>3</a:t>
                      </a:r>
                    </a:p>
                  </a:txBody>
                  <a:tcPr>
                    <a:solidFill>
                      <a:srgbClr val="E6E3F3"/>
                    </a:solidFill>
                  </a:tcPr>
                </a:tc>
                <a:tc>
                  <a:txBody>
                    <a:bodyPr/>
                    <a:lstStyle/>
                    <a:p>
                      <a:pPr>
                        <a:defRPr sz="1100">
                          <a:solidFill>
                            <a:srgbClr val="000000"/>
                          </a:solidFill>
                        </a:defRPr>
                      </a:pPr>
                      <a:r>
                        <a:t>Products &amp; Scope</a:t>
                      </a:r>
                    </a:p>
                  </a:txBody>
                  <a:tcPr>
                    <a:solidFill>
                      <a:srgbClr val="E6E3F3"/>
                    </a:solidFill>
                  </a:tcPr>
                </a:tc>
                <a:tc>
                  <a:txBody>
                    <a:bodyPr/>
                    <a:lstStyle/>
                    <a:p>
                      <a:pPr>
                        <a:defRPr sz="1100">
                          <a:solidFill>
                            <a:srgbClr val="000000"/>
                          </a:solidFill>
                        </a:defRPr>
                      </a:pPr>
                      <a:r>
                        <a:t>Salesforce clouds/products, integrations, data migration needs</a:t>
                      </a:r>
                    </a:p>
                  </a:txBody>
                  <a:tcPr>
                    <a:solidFill>
                      <a:srgbClr val="E6E3F3"/>
                    </a:solidFill>
                  </a:tcPr>
                </a:tc>
              </a:tr>
              <a:tr h="528320">
                <a:tc>
                  <a:txBody>
                    <a:bodyPr/>
                    <a:lstStyle/>
                    <a:p>
                      <a:pPr algn="ctr">
                        <a:defRPr sz="1100" b="1">
                          <a:solidFill>
                            <a:srgbClr val="5236AB"/>
                          </a:solidFill>
                        </a:defRPr>
                      </a:pPr>
                      <a:r>
                        <a:t>4</a:t>
                      </a:r>
                    </a:p>
                  </a:txBody>
                  <a:tcPr/>
                </a:tc>
                <a:tc>
                  <a:txBody>
                    <a:bodyPr/>
                    <a:lstStyle/>
                    <a:p>
                      <a:pPr>
                        <a:defRPr sz="1100">
                          <a:solidFill>
                            <a:srgbClr val="000000"/>
                          </a:solidFill>
                        </a:defRPr>
                      </a:pPr>
                      <a:r>
                        <a:t>Entry-Point Deep Dive</a:t>
                      </a:r>
                    </a:p>
                  </a:txBody>
                  <a:tcPr/>
                </a:tc>
                <a:tc>
                  <a:txBody>
                    <a:bodyPr/>
                    <a:lstStyle/>
                    <a:p>
                      <a:pPr>
                        <a:defRPr sz="1100">
                          <a:solidFill>
                            <a:srgbClr val="000000"/>
                          </a:solidFill>
                        </a:defRPr>
                      </a:pPr>
                      <a:r>
                        <a:t>Business processes, requirements status, SLAs, audit priorities</a:t>
                      </a:r>
                    </a:p>
                  </a:txBody>
                  <a:tcPr/>
                </a:tc>
              </a:tr>
              <a:tr h="528320">
                <a:tc>
                  <a:txBody>
                    <a:bodyPr/>
                    <a:lstStyle/>
                    <a:p>
                      <a:pPr algn="ctr">
                        <a:defRPr sz="1100" b="1">
                          <a:solidFill>
                            <a:srgbClr val="5236AB"/>
                          </a:solidFill>
                        </a:defRPr>
                      </a:pPr>
                      <a:r>
                        <a:t>5</a:t>
                      </a:r>
                    </a:p>
                  </a:txBody>
                  <a:tcPr>
                    <a:solidFill>
                      <a:srgbClr val="E6E3F3"/>
                    </a:solidFill>
                  </a:tcPr>
                </a:tc>
                <a:tc>
                  <a:txBody>
                    <a:bodyPr/>
                    <a:lstStyle/>
                    <a:p>
                      <a:pPr>
                        <a:defRPr sz="1100">
                          <a:solidFill>
                            <a:srgbClr val="000000"/>
                          </a:solidFill>
                        </a:defRPr>
                      </a:pPr>
                      <a:r>
                        <a:t>Deliverables &amp; Docs</a:t>
                      </a:r>
                    </a:p>
                  </a:txBody>
                  <a:tcPr>
                    <a:solidFill>
                      <a:srgbClr val="E6E3F3"/>
                    </a:solidFill>
                  </a:tcPr>
                </a:tc>
                <a:tc>
                  <a:txBody>
                    <a:bodyPr/>
                    <a:lstStyle/>
                    <a:p>
                      <a:pPr>
                        <a:defRPr sz="1100">
                          <a:solidFill>
                            <a:srgbClr val="000000"/>
                          </a:solidFill>
                        </a:defRPr>
                      </a:pPr>
                      <a:r>
                        <a:t>Client deliverable selection, Linear project setup, living documents</a:t>
                      </a:r>
                    </a:p>
                  </a:txBody>
                  <a:tcPr>
                    <a:solidFill>
                      <a:srgbClr val="E6E3F3"/>
                    </a:solidFill>
                  </a:tcPr>
                </a:tc>
              </a:tr>
              <a:tr h="528320">
                <a:tc>
                  <a:txBody>
                    <a:bodyPr/>
                    <a:lstStyle/>
                    <a:p>
                      <a:pPr algn="ctr">
                        <a:defRPr sz="1100" b="1">
                          <a:solidFill>
                            <a:srgbClr val="5236AB"/>
                          </a:solidFill>
                        </a:defRPr>
                      </a:pPr>
                      <a:r>
                        <a:t>6</a:t>
                      </a:r>
                    </a:p>
                  </a:txBody>
                  <a:tcPr/>
                </a:tc>
                <a:tc>
                  <a:txBody>
                    <a:bodyPr/>
                    <a:lstStyle/>
                    <a:p>
                      <a:pPr>
                        <a:defRPr sz="1100">
                          <a:solidFill>
                            <a:srgbClr val="000000"/>
                          </a:solidFill>
                        </a:defRPr>
                      </a:pPr>
                      <a:r>
                        <a:t>Dev Standards &amp; CI/CD</a:t>
                      </a:r>
                    </a:p>
                  </a:txBody>
                  <a:tcPr/>
                </a:tc>
                <a:tc>
                  <a:txBody>
                    <a:bodyPr/>
                    <a:lstStyle/>
                    <a:p>
                      <a:pPr>
                        <a:defRPr sz="1100">
                          <a:solidFill>
                            <a:srgbClr val="000000"/>
                          </a:solidFill>
                        </a:defRPr>
                      </a:pPr>
                      <a:r>
                        <a:t>Branching strategy, GitHub Actions, code review policy, Golden Rules</a:t>
                      </a:r>
                    </a:p>
                  </a:txBody>
                  <a:tcPr/>
                </a:tc>
              </a:tr>
              <a:tr h="528320">
                <a:tc>
                  <a:txBody>
                    <a:bodyPr/>
                    <a:lstStyle/>
                    <a:p>
                      <a:pPr algn="ctr">
                        <a:defRPr sz="1100" b="1">
                          <a:solidFill>
                            <a:srgbClr val="5236AB"/>
                          </a:solidFill>
                        </a:defRPr>
                      </a:pPr>
                      <a:r>
                        <a:t>7</a:t>
                      </a:r>
                    </a:p>
                  </a:txBody>
                  <a:tcPr>
                    <a:solidFill>
                      <a:srgbClr val="E6E3F3"/>
                    </a:solidFill>
                  </a:tcPr>
                </a:tc>
                <a:tc>
                  <a:txBody>
                    <a:bodyPr/>
                    <a:lstStyle/>
                    <a:p>
                      <a:pPr>
                        <a:defRPr sz="1100">
                          <a:solidFill>
                            <a:srgbClr val="000000"/>
                          </a:solidFill>
                        </a:defRPr>
                      </a:pPr>
                      <a:r>
                        <a:t>Security &amp; Compliance</a:t>
                      </a:r>
                    </a:p>
                  </a:txBody>
                  <a:tcPr>
                    <a:solidFill>
                      <a:srgbClr val="E6E3F3"/>
                    </a:solidFill>
                  </a:tcPr>
                </a:tc>
                <a:tc>
                  <a:txBody>
                    <a:bodyPr/>
                    <a:lstStyle/>
                    <a:p>
                      <a:pPr>
                        <a:defRPr sz="1100">
                          <a:solidFill>
                            <a:srgbClr val="000000"/>
                          </a:solidFill>
                        </a:defRPr>
                      </a:pPr>
                      <a:r>
                        <a:t>Data classification, compliance reqs, sharing model, encryption</a:t>
                      </a:r>
                    </a:p>
                  </a:txBody>
                  <a:tcPr>
                    <a:solidFill>
                      <a:srgbClr val="E6E3F3"/>
                    </a:solidFill>
                  </a:tcPr>
                </a:tc>
              </a:tr>
              <a:tr h="528320">
                <a:tc>
                  <a:txBody>
                    <a:bodyPr/>
                    <a:lstStyle/>
                    <a:p>
                      <a:pPr algn="ctr">
                        <a:defRPr sz="1100" b="1">
                          <a:solidFill>
                            <a:srgbClr val="5236AB"/>
                          </a:solidFill>
                        </a:defRPr>
                      </a:pPr>
                      <a:r>
                        <a:t>8</a:t>
                      </a:r>
                    </a:p>
                  </a:txBody>
                  <a:tcPr/>
                </a:tc>
                <a:tc>
                  <a:txBody>
                    <a:bodyPr/>
                    <a:lstStyle/>
                    <a:p>
                      <a:pPr>
                        <a:defRPr sz="1100">
                          <a:solidFill>
                            <a:srgbClr val="000000"/>
                          </a:solidFill>
                        </a:defRPr>
                      </a:pPr>
                      <a:r>
                        <a:t>Conventions &amp; Prefs</a:t>
                      </a:r>
                    </a:p>
                  </a:txBody>
                  <a:tcPr/>
                </a:tc>
                <a:tc>
                  <a:txBody>
                    <a:bodyPr/>
                    <a:lstStyle/>
                    <a:p>
                      <a:pPr>
                        <a:defRPr sz="1100">
                          <a:solidFill>
                            <a:srgbClr val="000000"/>
                          </a:solidFill>
                        </a:defRPr>
                      </a:pPr>
                      <a:r>
                        <a:t>Naming conventions, communication style, MCP confirmations</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Entry Points</a:t>
            </a:r>
          </a:p>
        </p:txBody>
      </p:sp>
      <p:sp>
        <p:nvSpPr>
          <p:cNvPr id="3" name="Text Placeholder 2"/>
          <p:cNvSpPr>
            <a:spLocks noGrp="1"/>
          </p:cNvSpPr>
          <p:nvPr>
            <p:ph type="body" idx="10" sz="quarter"/>
          </p:nvPr>
        </p:nvSpPr>
        <p:spPr/>
        <p:txBody>
          <a:bodyPr/>
          <a:lstStyle/>
          <a:p>
            <a:r>
              <a:rPr sz="1400" b="1">
                <a:solidFill>
                  <a:srgbClr val="5236AB"/>
                </a:solidFill>
              </a:rPr>
              <a:t>Greenfield / Discovery</a:t>
            </a:r>
          </a:p>
        </p:txBody>
      </p:sp>
      <p:sp>
        <p:nvSpPr>
          <p:cNvPr id="4" name="Content Placeholder 3"/>
          <p:cNvSpPr>
            <a:spLocks noGrp="1"/>
          </p:cNvSpPr>
          <p:nvPr>
            <p:ph idx="20" sz="quarter"/>
          </p:nvPr>
        </p:nvSpPr>
        <p:spPr/>
        <p:txBody>
          <a:bodyPr/>
          <a:lstStyle/>
          <a:p>
            <a:pPr>
              <a:spcAft>
                <a:spcPts val="400"/>
              </a:spcAft>
            </a:pPr>
            <a:r>
              <a:rPr sz="1100" b="0">
                <a:solidFill>
                  <a:srgbClr val="000000"/>
                </a:solidFill>
                <a:latin typeface="Calibri"/>
              </a:rPr>
              <a:t>Starting from scratch</a:t>
            </a:r>
          </a:p>
          <a:p>
            <a:pPr>
              <a:spcAft>
                <a:spcPts val="400"/>
              </a:spcAft>
            </a:pPr>
            <a:r>
              <a:rPr sz="1100" b="0">
                <a:solidFill>
                  <a:srgbClr val="000000"/>
                </a:solidFill>
                <a:latin typeface="Calibri"/>
              </a:rPr>
              <a:t>Full requirements gathering</a:t>
            </a:r>
          </a:p>
          <a:p>
            <a:pPr>
              <a:spcAft>
                <a:spcPts val="400"/>
              </a:spcAft>
            </a:pPr>
            <a:r>
              <a:rPr sz="1100" b="0">
                <a:solidFill>
                  <a:srgbClr val="000000"/>
                </a:solidFill>
                <a:latin typeface="Calibri"/>
              </a:rPr>
              <a:t>Stakeholder alignment</a:t>
            </a:r>
          </a:p>
          <a:p>
            <a:pPr>
              <a:spcAft>
                <a:spcPts val="400"/>
              </a:spcAft>
            </a:pPr>
            <a:r>
              <a:rPr sz="1100" b="0">
                <a:solidFill>
                  <a:srgbClr val="000000"/>
                </a:solidFill>
                <a:latin typeface="Calibri"/>
              </a:rPr>
              <a:t>Complete 8-round interview</a:t>
            </a:r>
          </a:p>
          <a:p>
            <a:pPr>
              <a:spcAft>
                <a:spcPts val="400"/>
              </a:spcAft>
            </a:pPr>
            <a:r>
              <a:rPr sz="1100" b="0">
                <a:solidFill>
                  <a:srgbClr val="000000"/>
                </a:solidFill>
                <a:latin typeface="Calibri"/>
              </a:rPr>
              <a:t>All deliverables generated</a:t>
            </a:r>
          </a:p>
        </p:txBody>
      </p:sp>
      <p:sp>
        <p:nvSpPr>
          <p:cNvPr id="5" name="Text Placeholder 4"/>
          <p:cNvSpPr>
            <a:spLocks noGrp="1"/>
          </p:cNvSpPr>
          <p:nvPr>
            <p:ph type="body" idx="11" sz="quarter"/>
          </p:nvPr>
        </p:nvSpPr>
        <p:spPr/>
        <p:txBody>
          <a:bodyPr/>
          <a:lstStyle/>
          <a:p>
            <a:r>
              <a:rPr sz="1400" b="1">
                <a:solidFill>
                  <a:srgbClr val="5236AB"/>
                </a:solidFill>
              </a:rPr>
              <a:t>Build Phase</a:t>
            </a:r>
          </a:p>
        </p:txBody>
      </p:sp>
      <p:sp>
        <p:nvSpPr>
          <p:cNvPr id="6" name="Content Placeholder 5"/>
          <p:cNvSpPr>
            <a:spLocks noGrp="1"/>
          </p:cNvSpPr>
          <p:nvPr>
            <p:ph idx="22" sz="quarter"/>
          </p:nvPr>
        </p:nvSpPr>
        <p:spPr/>
        <p:txBody>
          <a:bodyPr/>
          <a:lstStyle/>
          <a:p>
            <a:pPr>
              <a:spcAft>
                <a:spcPts val="400"/>
              </a:spcAft>
            </a:pPr>
            <a:r>
              <a:rPr sz="1100" b="0">
                <a:solidFill>
                  <a:srgbClr val="000000"/>
                </a:solidFill>
                <a:latin typeface="Calibri"/>
              </a:rPr>
              <a:t>Requirements exist</a:t>
            </a:r>
          </a:p>
          <a:p>
            <a:pPr>
              <a:spcAft>
                <a:spcPts val="400"/>
              </a:spcAft>
            </a:pPr>
            <a:r>
              <a:rPr sz="1100" b="0">
                <a:solidFill>
                  <a:srgbClr val="000000"/>
                </a:solidFill>
                <a:latin typeface="Calibri"/>
              </a:rPr>
              <a:t>Jump into development</a:t>
            </a:r>
          </a:p>
          <a:p>
            <a:pPr>
              <a:spcAft>
                <a:spcPts val="400"/>
              </a:spcAft>
            </a:pPr>
            <a:r>
              <a:rPr sz="1100" b="0">
                <a:solidFill>
                  <a:srgbClr val="000000"/>
                </a:solidFill>
                <a:latin typeface="Calibri"/>
              </a:rPr>
              <a:t>Sprint planning focus</a:t>
            </a:r>
          </a:p>
          <a:p>
            <a:pPr>
              <a:spcAft>
                <a:spcPts val="400"/>
              </a:spcAft>
            </a:pPr>
            <a:r>
              <a:rPr sz="1100" b="0">
                <a:solidFill>
                  <a:srgbClr val="000000"/>
                </a:solidFill>
                <a:latin typeface="Calibri"/>
              </a:rPr>
              <a:t>Lighter interview rounds</a:t>
            </a:r>
          </a:p>
          <a:p>
            <a:pPr>
              <a:spcAft>
                <a:spcPts val="400"/>
              </a:spcAft>
            </a:pPr>
            <a:r>
              <a:rPr sz="1100" b="0">
                <a:solidFill>
                  <a:srgbClr val="000000"/>
                </a:solidFill>
                <a:latin typeface="Calibri"/>
              </a:rPr>
              <a:t>Skip BRD, focus on SDD</a:t>
            </a:r>
          </a:p>
        </p:txBody>
      </p:sp>
      <p:sp>
        <p:nvSpPr>
          <p:cNvPr id="7" name="Text Placeholder 6"/>
          <p:cNvSpPr>
            <a:spLocks noGrp="1"/>
          </p:cNvSpPr>
          <p:nvPr>
            <p:ph type="body" idx="12" sz="quarter"/>
          </p:nvPr>
        </p:nvSpPr>
        <p:spPr/>
        <p:txBody>
          <a:bodyPr/>
          <a:lstStyle/>
          <a:p>
            <a:r>
              <a:rPr sz="1400" b="1">
                <a:solidFill>
                  <a:srgbClr val="5236AB"/>
                </a:solidFill>
              </a:rPr>
              <a:t>Managed Services</a:t>
            </a:r>
          </a:p>
        </p:txBody>
      </p:sp>
      <p:sp>
        <p:nvSpPr>
          <p:cNvPr id="8" name="Content Placeholder 7"/>
          <p:cNvSpPr>
            <a:spLocks noGrp="1"/>
          </p:cNvSpPr>
          <p:nvPr>
            <p:ph idx="23" sz="quarter"/>
          </p:nvPr>
        </p:nvSpPr>
        <p:spPr/>
        <p:txBody>
          <a:bodyPr/>
          <a:lstStyle/>
          <a:p>
            <a:pPr>
              <a:spcAft>
                <a:spcPts val="400"/>
              </a:spcAft>
            </a:pPr>
            <a:r>
              <a:rPr sz="1100" b="0">
                <a:solidFill>
                  <a:srgbClr val="000000"/>
                </a:solidFill>
                <a:latin typeface="Calibri"/>
              </a:rPr>
              <a:t>Ongoing support</a:t>
            </a:r>
          </a:p>
          <a:p>
            <a:pPr>
              <a:spcAft>
                <a:spcPts val="400"/>
              </a:spcAft>
            </a:pPr>
            <a:r>
              <a:rPr sz="1100" b="0">
                <a:solidFill>
                  <a:srgbClr val="000000"/>
                </a:solidFill>
                <a:latin typeface="Calibri"/>
              </a:rPr>
              <a:t>Operations focus</a:t>
            </a:r>
          </a:p>
          <a:p>
            <a:pPr>
              <a:spcAft>
                <a:spcPts val="400"/>
              </a:spcAft>
            </a:pPr>
            <a:r>
              <a:rPr sz="1100" b="0">
                <a:solidFill>
                  <a:srgbClr val="000000"/>
                </a:solidFill>
                <a:latin typeface="Calibri"/>
              </a:rPr>
              <a:t>SLA-driven work</a:t>
            </a:r>
          </a:p>
          <a:p>
            <a:pPr>
              <a:spcAft>
                <a:spcPts val="400"/>
              </a:spcAft>
            </a:pPr>
            <a:r>
              <a:rPr sz="1100" b="0">
                <a:solidFill>
                  <a:srgbClr val="000000"/>
                </a:solidFill>
                <a:latin typeface="Calibri"/>
              </a:rPr>
              <a:t>Lightest interview</a:t>
            </a:r>
          </a:p>
          <a:p>
            <a:pPr>
              <a:spcAft>
                <a:spcPts val="400"/>
              </a:spcAft>
            </a:pPr>
            <a:r>
              <a:rPr sz="1100" b="0">
                <a:solidFill>
                  <a:srgbClr val="000000"/>
                </a:solidFill>
                <a:latin typeface="Calibri"/>
              </a:rPr>
              <a:t>Org health assessment</a:t>
            </a:r>
          </a:p>
        </p:txBody>
      </p:sp>
      <p:sp>
        <p:nvSpPr>
          <p:cNvPr id="9" name="Text Placeholder 8"/>
          <p:cNvSpPr>
            <a:spLocks noGrp="1"/>
          </p:cNvSpPr>
          <p:nvPr>
            <p:ph type="body" idx="13" sz="quarter"/>
          </p:nvPr>
        </p:nvSpPr>
        <p:spPr/>
        <p:txBody>
          <a:bodyPr/>
          <a:lstStyle/>
          <a:p>
            <a:r>
              <a:rPr sz="1400" b="1">
                <a:solidFill>
                  <a:srgbClr val="5236AB"/>
                </a:solidFill>
              </a:rPr>
              <a:t>Rescue / Takeover</a:t>
            </a:r>
          </a:p>
        </p:txBody>
      </p:sp>
      <p:sp>
        <p:nvSpPr>
          <p:cNvPr id="10" name="Content Placeholder 9"/>
          <p:cNvSpPr>
            <a:spLocks noGrp="1"/>
          </p:cNvSpPr>
          <p:nvPr>
            <p:ph idx="24" sz="quarter"/>
          </p:nvPr>
        </p:nvSpPr>
        <p:spPr/>
        <p:txBody>
          <a:bodyPr/>
          <a:lstStyle/>
          <a:p>
            <a:pPr>
              <a:spcAft>
                <a:spcPts val="400"/>
              </a:spcAft>
            </a:pPr>
            <a:r>
              <a:rPr sz="1100" b="0">
                <a:solidFill>
                  <a:srgbClr val="000000"/>
                </a:solidFill>
                <a:latin typeface="Calibri"/>
              </a:rPr>
              <a:t>Audit-first approach</a:t>
            </a:r>
          </a:p>
          <a:p>
            <a:pPr>
              <a:spcAft>
                <a:spcPts val="400"/>
              </a:spcAft>
            </a:pPr>
            <a:r>
              <a:rPr sz="1100" b="0">
                <a:solidFill>
                  <a:srgbClr val="000000"/>
                </a:solidFill>
                <a:latin typeface="Calibri"/>
              </a:rPr>
              <a:t>Previous vendor handoff</a:t>
            </a:r>
          </a:p>
          <a:p>
            <a:pPr>
              <a:spcAft>
                <a:spcPts val="400"/>
              </a:spcAft>
            </a:pPr>
            <a:r>
              <a:rPr sz="1100" b="0">
                <a:solidFill>
                  <a:srgbClr val="000000"/>
                </a:solidFill>
                <a:latin typeface="Calibri"/>
              </a:rPr>
              <a:t>Technical debt catalog</a:t>
            </a:r>
          </a:p>
          <a:p>
            <a:pPr>
              <a:spcAft>
                <a:spcPts val="400"/>
              </a:spcAft>
            </a:pPr>
            <a:r>
              <a:rPr sz="1100" b="0">
                <a:solidFill>
                  <a:srgbClr val="000000"/>
                </a:solidFill>
                <a:latin typeface="Calibri"/>
              </a:rPr>
              <a:t>Critical fixes prioritized</a:t>
            </a:r>
          </a:p>
          <a:p>
            <a:pPr>
              <a:spcAft>
                <a:spcPts val="400"/>
              </a:spcAft>
            </a:pPr>
            <a:r>
              <a:rPr sz="1100" b="0">
                <a:solidFill>
                  <a:srgbClr val="000000"/>
                </a:solidFill>
                <a:latin typeface="Calibri"/>
              </a:rPr>
              <a:t>Severity rating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Interview Adaptations by Entry Point</a:t>
            </a:r>
          </a:p>
        </p:txBody>
      </p:sp>
      <p:graphicFrame>
        <p:nvGraphicFramePr>
          <p:cNvPr id="3" name="Table 2"/>
          <p:cNvGraphicFramePr>
            <a:graphicFrameLocks noGrp="1"/>
          </p:cNvGraphicFramePr>
          <p:nvPr/>
        </p:nvGraphicFramePr>
        <p:xfrm>
          <a:off x="457200" y="1371600"/>
          <a:ext cx="10972800" cy="4754880"/>
        </p:xfrm>
        <a:graphic>
          <a:graphicData uri="http://schemas.openxmlformats.org/drawingml/2006/table">
            <a:tbl>
              <a:tblPr firstRow="1" bandRow="1">
                <a:tableStyleId>{5C22544A-7EE6-4342-B048-85BDC9FD1C3A}</a:tableStyleId>
              </a:tblPr>
              <a:tblGrid>
                <a:gridCol w="2560320"/>
                <a:gridCol w="2103120"/>
                <a:gridCol w="2103120"/>
                <a:gridCol w="2103120"/>
                <a:gridCol w="2103120"/>
              </a:tblGrid>
              <a:tr h="528320">
                <a:tc>
                  <a:txBody>
                    <a:bodyPr/>
                    <a:lstStyle/>
                    <a:p>
                      <a:pPr>
                        <a:defRPr sz="1100" b="1">
                          <a:solidFill>
                            <a:srgbClr val="FFFFFF"/>
                          </a:solidFill>
                        </a:defRPr>
                      </a:pPr>
                      <a:r>
                        <a:t>Round</a:t>
                      </a:r>
                    </a:p>
                  </a:txBody>
                  <a:tcPr>
                    <a:solidFill>
                      <a:srgbClr val="5236AB"/>
                    </a:solidFill>
                  </a:tcPr>
                </a:tc>
                <a:tc>
                  <a:txBody>
                    <a:bodyPr/>
                    <a:lstStyle/>
                    <a:p>
                      <a:pPr>
                        <a:defRPr sz="1100" b="1">
                          <a:solidFill>
                            <a:srgbClr val="FFFFFF"/>
                          </a:solidFill>
                        </a:defRPr>
                      </a:pPr>
                      <a:r>
                        <a:t>Greenfield</a:t>
                      </a:r>
                    </a:p>
                  </a:txBody>
                  <a:tcPr>
                    <a:solidFill>
                      <a:srgbClr val="5236AB"/>
                    </a:solidFill>
                  </a:tcPr>
                </a:tc>
                <a:tc>
                  <a:txBody>
                    <a:bodyPr/>
                    <a:lstStyle/>
                    <a:p>
                      <a:pPr>
                        <a:defRPr sz="1100" b="1">
                          <a:solidFill>
                            <a:srgbClr val="FFFFFF"/>
                          </a:solidFill>
                        </a:defRPr>
                      </a:pPr>
                      <a:r>
                        <a:t>Build</a:t>
                      </a:r>
                    </a:p>
                  </a:txBody>
                  <a:tcPr>
                    <a:solidFill>
                      <a:srgbClr val="5236AB"/>
                    </a:solidFill>
                  </a:tcPr>
                </a:tc>
                <a:tc>
                  <a:txBody>
                    <a:bodyPr/>
                    <a:lstStyle/>
                    <a:p>
                      <a:pPr>
                        <a:defRPr sz="1100" b="1">
                          <a:solidFill>
                            <a:srgbClr val="FFFFFF"/>
                          </a:solidFill>
                        </a:defRPr>
                      </a:pPr>
                      <a:r>
                        <a:t>Managed Svc</a:t>
                      </a:r>
                    </a:p>
                  </a:txBody>
                  <a:tcPr>
                    <a:solidFill>
                      <a:srgbClr val="5236AB"/>
                    </a:solidFill>
                  </a:tcPr>
                </a:tc>
                <a:tc>
                  <a:txBody>
                    <a:bodyPr/>
                    <a:lstStyle/>
                    <a:p>
                      <a:pPr>
                        <a:defRPr sz="1100" b="1">
                          <a:solidFill>
                            <a:srgbClr val="FFFFFF"/>
                          </a:solidFill>
                        </a:defRPr>
                      </a:pPr>
                      <a:r>
                        <a:t>Rescue</a:t>
                      </a:r>
                    </a:p>
                  </a:txBody>
                  <a:tcPr>
                    <a:solidFill>
                      <a:srgbClr val="5236AB"/>
                    </a:solidFill>
                  </a:tcPr>
                </a:tc>
              </a:tr>
              <a:tr h="528320">
                <a:tc>
                  <a:txBody>
                    <a:bodyPr/>
                    <a:lstStyle/>
                    <a:p>
                      <a:pPr>
                        <a:defRPr sz="1000" b="1">
                          <a:solidFill>
                            <a:srgbClr val="000000"/>
                          </a:solidFill>
                        </a:defRPr>
                      </a:pPr>
                      <a:r>
                        <a:t>1. Engagement</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Full</a:t>
                      </a:r>
                    </a:p>
                  </a:txBody>
                  <a:tcPr>
                    <a:solidFill>
                      <a:srgbClr val="E6E3F3"/>
                    </a:solidFill>
                  </a:tcPr>
                </a:tc>
              </a:tr>
              <a:tr h="528320">
                <a:tc>
                  <a:txBody>
                    <a:bodyPr/>
                    <a:lstStyle/>
                    <a:p>
                      <a:pPr>
                        <a:defRPr sz="1000" b="1">
                          <a:solidFill>
                            <a:srgbClr val="000000"/>
                          </a:solidFill>
                        </a:defRPr>
                      </a:pPr>
                      <a:r>
                        <a:t>2. Org &amp; Env</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Light</a:t>
                      </a:r>
                    </a:p>
                  </a:txBody>
                  <a:tcPr/>
                </a:tc>
                <a:tc>
                  <a:txBody>
                    <a:bodyPr/>
                    <a:lstStyle/>
                    <a:p>
                      <a:pPr>
                        <a:defRPr sz="1000">
                          <a:solidFill>
                            <a:srgbClr val="000000"/>
                          </a:solidFill>
                        </a:defRPr>
                      </a:pPr>
                      <a:r>
                        <a:t>Full + Audit</a:t>
                      </a:r>
                    </a:p>
                  </a:txBody>
                  <a:tcPr/>
                </a:tc>
              </a:tr>
              <a:tr h="528320">
                <a:tc>
                  <a:txBody>
                    <a:bodyPr/>
                    <a:lstStyle/>
                    <a:p>
                      <a:pPr>
                        <a:defRPr sz="1000" b="1">
                          <a:solidFill>
                            <a:srgbClr val="000000"/>
                          </a:solidFill>
                        </a:defRPr>
                      </a:pPr>
                      <a:r>
                        <a:t>3. Products</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Light</a:t>
                      </a:r>
                    </a:p>
                  </a:txBody>
                  <a:tcPr>
                    <a:solidFill>
                      <a:srgbClr val="E6E3F3"/>
                    </a:solidFill>
                  </a:tcPr>
                </a:tc>
                <a:tc>
                  <a:txBody>
                    <a:bodyPr/>
                    <a:lstStyle/>
                    <a:p>
                      <a:pPr>
                        <a:defRPr sz="1000">
                          <a:solidFill>
                            <a:srgbClr val="000000"/>
                          </a:solidFill>
                        </a:defRPr>
                      </a:pPr>
                      <a:r>
                        <a:t>Full</a:t>
                      </a:r>
                    </a:p>
                  </a:txBody>
                  <a:tcPr>
                    <a:solidFill>
                      <a:srgbClr val="E6E3F3"/>
                    </a:solidFill>
                  </a:tcPr>
                </a:tc>
              </a:tr>
              <a:tr h="528320">
                <a:tc>
                  <a:txBody>
                    <a:bodyPr/>
                    <a:lstStyle/>
                    <a:p>
                      <a:pPr>
                        <a:defRPr sz="1000" b="1">
                          <a:solidFill>
                            <a:srgbClr val="000000"/>
                          </a:solidFill>
                        </a:defRPr>
                      </a:pPr>
                      <a:r>
                        <a:t>4. Deep Dive</a:t>
                      </a:r>
                    </a:p>
                  </a:txBody>
                  <a:tcPr/>
                </a:tc>
                <a:tc>
                  <a:txBody>
                    <a:bodyPr/>
                    <a:lstStyle/>
                    <a:p>
                      <a:pPr>
                        <a:defRPr sz="1000">
                          <a:solidFill>
                            <a:srgbClr val="000000"/>
                          </a:solidFill>
                        </a:defRPr>
                      </a:pPr>
                      <a:r>
                        <a:t>Business procs</a:t>
                      </a:r>
                    </a:p>
                  </a:txBody>
                  <a:tcPr/>
                </a:tc>
                <a:tc>
                  <a:txBody>
                    <a:bodyPr/>
                    <a:lstStyle/>
                    <a:p>
                      <a:pPr>
                        <a:defRPr sz="1000">
                          <a:solidFill>
                            <a:srgbClr val="000000"/>
                          </a:solidFill>
                        </a:defRPr>
                      </a:pPr>
                      <a:r>
                        <a:t>Sprint readiness</a:t>
                      </a:r>
                    </a:p>
                  </a:txBody>
                  <a:tcPr/>
                </a:tc>
                <a:tc>
                  <a:txBody>
                    <a:bodyPr/>
                    <a:lstStyle/>
                    <a:p>
                      <a:pPr>
                        <a:defRPr sz="1000">
                          <a:solidFill>
                            <a:srgbClr val="000000"/>
                          </a:solidFill>
                        </a:defRPr>
                      </a:pPr>
                      <a:r>
                        <a:t>SLA terms</a:t>
                      </a:r>
                    </a:p>
                  </a:txBody>
                  <a:tcPr/>
                </a:tc>
                <a:tc>
                  <a:txBody>
                    <a:bodyPr/>
                    <a:lstStyle/>
                    <a:p>
                      <a:pPr>
                        <a:defRPr sz="1000">
                          <a:solidFill>
                            <a:srgbClr val="000000"/>
                          </a:solidFill>
                        </a:defRPr>
                      </a:pPr>
                      <a:r>
                        <a:t>What's broken</a:t>
                      </a:r>
                    </a:p>
                  </a:txBody>
                  <a:tcPr/>
                </a:tc>
              </a:tr>
              <a:tr h="528320">
                <a:tc>
                  <a:txBody>
                    <a:bodyPr/>
                    <a:lstStyle/>
                    <a:p>
                      <a:pPr>
                        <a:defRPr sz="1000" b="1">
                          <a:solidFill>
                            <a:srgbClr val="000000"/>
                          </a:solidFill>
                        </a:defRPr>
                      </a:pPr>
                      <a:r>
                        <a:t>5. Deliverables</a:t>
                      </a:r>
                    </a:p>
                  </a:txBody>
                  <a:tcPr>
                    <a:solidFill>
                      <a:srgbClr val="E6E3F3"/>
                    </a:solidFill>
                  </a:tcPr>
                </a:tc>
                <a:tc>
                  <a:txBody>
                    <a:bodyPr/>
                    <a:lstStyle/>
                    <a:p>
                      <a:pPr>
                        <a:defRPr sz="1000">
                          <a:solidFill>
                            <a:srgbClr val="000000"/>
                          </a:solidFill>
                        </a:defRPr>
                      </a:pPr>
                      <a:r>
                        <a:t>All defaults</a:t>
                      </a:r>
                    </a:p>
                  </a:txBody>
                  <a:tcPr>
                    <a:solidFill>
                      <a:srgbClr val="E6E3F3"/>
                    </a:solidFill>
                  </a:tcPr>
                </a:tc>
                <a:tc>
                  <a:txBody>
                    <a:bodyPr/>
                    <a:lstStyle/>
                    <a:p>
                      <a:pPr>
                        <a:defRPr sz="1000">
                          <a:solidFill>
                            <a:srgbClr val="000000"/>
                          </a:solidFill>
                        </a:defRPr>
                      </a:pPr>
                      <a:r>
                        <a:t>Skip BRD</a:t>
                      </a:r>
                    </a:p>
                  </a:txBody>
                  <a:tcPr>
                    <a:solidFill>
                      <a:srgbClr val="E6E3F3"/>
                    </a:solidFill>
                  </a:tcPr>
                </a:tc>
                <a:tc>
                  <a:txBody>
                    <a:bodyPr/>
                    <a:lstStyle/>
                    <a:p>
                      <a:pPr>
                        <a:defRPr sz="1000">
                          <a:solidFill>
                            <a:srgbClr val="000000"/>
                          </a:solidFill>
                        </a:defRPr>
                      </a:pPr>
                      <a:r>
                        <a:t>Assessment only</a:t>
                      </a:r>
                    </a:p>
                  </a:txBody>
                  <a:tcPr>
                    <a:solidFill>
                      <a:srgbClr val="E6E3F3"/>
                    </a:solidFill>
                  </a:tcPr>
                </a:tc>
                <a:tc>
                  <a:txBody>
                    <a:bodyPr/>
                    <a:lstStyle/>
                    <a:p>
                      <a:pPr>
                        <a:defRPr sz="1000">
                          <a:solidFill>
                            <a:srgbClr val="000000"/>
                          </a:solidFill>
                        </a:defRPr>
                      </a:pPr>
                      <a:r>
                        <a:t>Audit + remediation</a:t>
                      </a:r>
                    </a:p>
                  </a:txBody>
                  <a:tcPr>
                    <a:solidFill>
                      <a:srgbClr val="E6E3F3"/>
                    </a:solidFill>
                  </a:tcPr>
                </a:tc>
              </a:tr>
              <a:tr h="528320">
                <a:tc>
                  <a:txBody>
                    <a:bodyPr/>
                    <a:lstStyle/>
                    <a:p>
                      <a:pPr>
                        <a:defRPr sz="1000" b="1">
                          <a:solidFill>
                            <a:srgbClr val="000000"/>
                          </a:solidFill>
                        </a:defRPr>
                      </a:pPr>
                      <a:r>
                        <a:t>6. Dev Standards</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Deploy focus</a:t>
                      </a:r>
                    </a:p>
                  </a:txBody>
                  <a:tcPr/>
                </a:tc>
                <a:tc>
                  <a:txBody>
                    <a:bodyPr/>
                    <a:lstStyle/>
                    <a:p>
                      <a:pPr>
                        <a:defRPr sz="1000">
                          <a:solidFill>
                            <a:srgbClr val="000000"/>
                          </a:solidFill>
                        </a:defRPr>
                      </a:pPr>
                      <a:r>
                        <a:t>Full + audit</a:t>
                      </a:r>
                    </a:p>
                  </a:txBody>
                  <a:tcPr/>
                </a:tc>
              </a:tr>
              <a:tr h="528320">
                <a:tc>
                  <a:txBody>
                    <a:bodyPr/>
                    <a:lstStyle/>
                    <a:p>
                      <a:pPr>
                        <a:defRPr sz="1000" b="1">
                          <a:solidFill>
                            <a:srgbClr val="000000"/>
                          </a:solidFill>
                        </a:defRPr>
                      </a:pPr>
                      <a:r>
                        <a:t>7. Security</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Full</a:t>
                      </a:r>
                    </a:p>
                  </a:txBody>
                  <a:tcPr>
                    <a:solidFill>
                      <a:srgbClr val="E6E3F3"/>
                    </a:solidFill>
                  </a:tcPr>
                </a:tc>
                <a:tc>
                  <a:txBody>
                    <a:bodyPr/>
                    <a:lstStyle/>
                    <a:p>
                      <a:pPr>
                        <a:defRPr sz="1000">
                          <a:solidFill>
                            <a:srgbClr val="000000"/>
                          </a:solidFill>
                        </a:defRPr>
                      </a:pPr>
                      <a:r>
                        <a:t>Review existing</a:t>
                      </a:r>
                    </a:p>
                  </a:txBody>
                  <a:tcPr>
                    <a:solidFill>
                      <a:srgbClr val="E6E3F3"/>
                    </a:solidFill>
                  </a:tcPr>
                </a:tc>
                <a:tc>
                  <a:txBody>
                    <a:bodyPr/>
                    <a:lstStyle/>
                    <a:p>
                      <a:pPr>
                        <a:defRPr sz="1000">
                          <a:solidFill>
                            <a:srgbClr val="000000"/>
                          </a:solidFill>
                        </a:defRPr>
                      </a:pPr>
                      <a:r>
                        <a:t>Full + audit</a:t>
                      </a:r>
                    </a:p>
                  </a:txBody>
                  <a:tcPr>
                    <a:solidFill>
                      <a:srgbClr val="E6E3F3"/>
                    </a:solidFill>
                  </a:tcPr>
                </a:tc>
              </a:tr>
              <a:tr h="528320">
                <a:tc>
                  <a:txBody>
                    <a:bodyPr/>
                    <a:lstStyle/>
                    <a:p>
                      <a:pPr>
                        <a:defRPr sz="1000" b="1">
                          <a:solidFill>
                            <a:srgbClr val="000000"/>
                          </a:solidFill>
                        </a:defRPr>
                      </a:pPr>
                      <a:r>
                        <a:t>8. Conventions</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Full</a:t>
                      </a:r>
                    </a:p>
                  </a:txBody>
                  <a:tcPr/>
                </a:tc>
                <a:tc>
                  <a:txBody>
                    <a:bodyPr/>
                    <a:lstStyle/>
                    <a:p>
                      <a:pPr>
                        <a:defRPr sz="1000">
                          <a:solidFill>
                            <a:srgbClr val="000000"/>
                          </a:solidFill>
                        </a:defRPr>
                      </a:pPr>
                      <a:r>
                        <a:t>Light</a:t>
                      </a:r>
                    </a:p>
                  </a:txBody>
                  <a:tcPr/>
                </a:tc>
                <a:tc>
                  <a:txBody>
                    <a:bodyPr/>
                    <a:lstStyle/>
                    <a:p>
                      <a:pPr>
                        <a:defRPr sz="1000">
                          <a:solidFill>
                            <a:srgbClr val="000000"/>
                          </a:solidFill>
                        </a:defRPr>
                      </a:pPr>
                      <a:r>
                        <a:t>Full</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13 Golden Rules</a:t>
            </a:r>
          </a:p>
        </p:txBody>
      </p:sp>
      <p:sp>
        <p:nvSpPr>
          <p:cNvPr id="3" name="Content Placeholder 2"/>
          <p:cNvSpPr>
            <a:spLocks noGrp="1"/>
          </p:cNvSpPr>
          <p:nvPr>
            <p:ph idx="17" sz="quarter"/>
          </p:nvPr>
        </p:nvSpPr>
        <p:spPr/>
        <p:txBody>
          <a:bodyPr/>
          <a:lstStyle/>
          <a:p>
            <a:pPr>
              <a:spcAft>
                <a:spcPts val="400"/>
              </a:spcAft>
            </a:pPr>
            <a:r>
              <a:rPr sz="1100" b="1">
                <a:solidFill>
                  <a:srgbClr val="000000"/>
                </a:solidFill>
                <a:latin typeface="Calibri"/>
              </a:rPr>
              <a:t>1. Bulkification: </a:t>
            </a:r>
            <a:r>
              <a:rPr sz="1100" b="0">
                <a:solidFill>
                  <a:srgbClr val="000000"/>
                </a:solidFill>
                <a:latin typeface="Calibri"/>
              </a:rPr>
              <a:t>All Apex must handle collections, never single records</a:t>
            </a:r>
          </a:p>
          <a:p>
            <a:pPr>
              <a:spcAft>
                <a:spcPts val="400"/>
              </a:spcAft>
            </a:pPr>
            <a:r>
              <a:rPr sz="1100" b="1">
                <a:solidFill>
                  <a:srgbClr val="000000"/>
                </a:solidFill>
                <a:latin typeface="Calibri"/>
              </a:rPr>
              <a:t>2. No SOQL/DML in loops: </a:t>
            </a:r>
            <a:r>
              <a:rPr sz="1100" b="0">
                <a:solidFill>
                  <a:srgbClr val="000000"/>
                </a:solidFill>
                <a:latin typeface="Calibri"/>
              </a:rPr>
              <a:t>Query and DML operations outside loops, always</a:t>
            </a:r>
          </a:p>
          <a:p>
            <a:pPr>
              <a:spcAft>
                <a:spcPts val="400"/>
              </a:spcAft>
            </a:pPr>
            <a:r>
              <a:rPr sz="1100" b="1">
                <a:solidFill>
                  <a:srgbClr val="000000"/>
                </a:solidFill>
                <a:latin typeface="Calibri"/>
              </a:rPr>
              <a:t>3. Trigger handler pattern: </a:t>
            </a:r>
            <a:r>
              <a:rPr sz="1100" b="0">
                <a:solidFill>
                  <a:srgbClr val="000000"/>
                </a:solidFill>
                <a:latin typeface="Calibri"/>
              </a:rPr>
              <a:t>One trigger per object, delegates to handler class</a:t>
            </a:r>
          </a:p>
          <a:p>
            <a:pPr>
              <a:spcAft>
                <a:spcPts val="400"/>
              </a:spcAft>
            </a:pPr>
            <a:r>
              <a:rPr sz="1100" b="1">
                <a:solidFill>
                  <a:srgbClr val="000000"/>
                </a:solidFill>
                <a:latin typeface="Calibri"/>
              </a:rPr>
              <a:t>4. Governor limit awareness: </a:t>
            </a:r>
            <a:r>
              <a:rPr sz="1100" b="0">
                <a:solidFill>
                  <a:srgbClr val="000000"/>
                </a:solidFill>
                <a:latin typeface="Calibri"/>
              </a:rPr>
              <a:t>Check Limits class, design for 200-record batches</a:t>
            </a:r>
          </a:p>
          <a:p>
            <a:pPr>
              <a:spcAft>
                <a:spcPts val="400"/>
              </a:spcAft>
            </a:pPr>
            <a:r>
              <a:rPr sz="1100" b="1">
                <a:solidFill>
                  <a:srgbClr val="000000"/>
                </a:solidFill>
                <a:latin typeface="Calibri"/>
              </a:rPr>
              <a:t>5. CRUD/FLS enforcement: </a:t>
            </a:r>
            <a:r>
              <a:rPr sz="1100" b="0">
                <a:solidFill>
                  <a:srgbClr val="000000"/>
                </a:solidFill>
                <a:latin typeface="Calibri"/>
              </a:rPr>
              <a:t>Use WITH SECURITY_ENFORCED or stripInaccessible()</a:t>
            </a:r>
          </a:p>
          <a:p>
            <a:pPr>
              <a:spcAft>
                <a:spcPts val="400"/>
              </a:spcAft>
            </a:pPr>
            <a:r>
              <a:rPr sz="1100" b="1">
                <a:solidFill>
                  <a:srgbClr val="000000"/>
                </a:solidFill>
                <a:latin typeface="Calibri"/>
              </a:rPr>
              <a:t>6. With/without sharing: </a:t>
            </a:r>
            <a:r>
              <a:rPr sz="1100" b="0">
                <a:solidFill>
                  <a:srgbClr val="000000"/>
                </a:solidFill>
                <a:latin typeface="Calibri"/>
              </a:rPr>
              <a:t>Default with sharing, document every without sharing use</a:t>
            </a:r>
          </a:p>
          <a:p>
            <a:pPr>
              <a:spcAft>
                <a:spcPts val="400"/>
              </a:spcAft>
            </a:pPr>
            <a:r>
              <a:rPr sz="1100" b="1">
                <a:solidFill>
                  <a:srgbClr val="000000"/>
                </a:solidFill>
                <a:latin typeface="Calibri"/>
              </a:rPr>
              <a:t>7. Test coverage 85%+: </a:t>
            </a:r>
            <a:r>
              <a:rPr sz="1100" b="0">
                <a:solidFill>
                  <a:srgbClr val="000000"/>
                </a:solidFill>
                <a:latin typeface="Calibri"/>
              </a:rPr>
              <a:t>Test bulk operations, assert outcomes</a:t>
            </a:r>
          </a:p>
        </p:txBody>
      </p:sp>
      <p:sp>
        <p:nvSpPr>
          <p:cNvPr id="4" name="Content Placeholder 3"/>
          <p:cNvSpPr>
            <a:spLocks noGrp="1"/>
          </p:cNvSpPr>
          <p:nvPr>
            <p:ph idx="23" sz="quarter"/>
          </p:nvPr>
        </p:nvSpPr>
        <p:spPr/>
        <p:txBody>
          <a:bodyPr/>
          <a:lstStyle/>
          <a:p>
            <a:pPr>
              <a:spcAft>
                <a:spcPts val="400"/>
              </a:spcAft>
            </a:pPr>
            <a:r>
              <a:rPr sz="1100" b="1">
                <a:solidFill>
                  <a:srgbClr val="000000"/>
                </a:solidFill>
                <a:latin typeface="Calibri"/>
              </a:rPr>
              <a:t>8. Metadata-first: </a:t>
            </a:r>
            <a:r>
              <a:rPr sz="1100" b="0">
                <a:solidFill>
                  <a:srgbClr val="000000"/>
                </a:solidFill>
                <a:latin typeface="Calibri"/>
              </a:rPr>
              <a:t>Prefer declarative (Flows, validation rules) over custom code</a:t>
            </a:r>
          </a:p>
          <a:p>
            <a:pPr>
              <a:spcAft>
                <a:spcPts val="400"/>
              </a:spcAft>
            </a:pPr>
            <a:r>
              <a:rPr sz="1100" b="1">
                <a:solidFill>
                  <a:srgbClr val="000000"/>
                </a:solidFill>
                <a:latin typeface="Calibri"/>
              </a:rPr>
              <a:t>9. SLDS compliance: </a:t>
            </a:r>
            <a:r>
              <a:rPr sz="1100" b="0">
                <a:solidFill>
                  <a:srgbClr val="000000"/>
                </a:solidFill>
                <a:latin typeface="Calibri"/>
              </a:rPr>
              <a:t>All LWC must use Lightning Design System</a:t>
            </a:r>
          </a:p>
          <a:p>
            <a:pPr>
              <a:spcAft>
                <a:spcPts val="400"/>
              </a:spcAft>
            </a:pPr>
            <a:r>
              <a:rPr sz="1100" b="1">
                <a:solidFill>
                  <a:srgbClr val="000000"/>
                </a:solidFill>
                <a:latin typeface="Calibri"/>
              </a:rPr>
              <a:t>10. Data classification: </a:t>
            </a:r>
            <a:r>
              <a:rPr sz="1100" b="0">
                <a:solidFill>
                  <a:srgbClr val="000000"/>
                </a:solidFill>
                <a:latin typeface="Calibri"/>
              </a:rPr>
              <a:t>Mark custom fields with sensitivity level</a:t>
            </a:r>
          </a:p>
          <a:p>
            <a:pPr>
              <a:spcAft>
                <a:spcPts val="400"/>
              </a:spcAft>
            </a:pPr>
            <a:r>
              <a:rPr sz="1100" b="1">
                <a:solidFill>
                  <a:srgbClr val="000000"/>
                </a:solidFill>
                <a:latin typeface="Calibri"/>
              </a:rPr>
              <a:t>11. Ask before modifying: </a:t>
            </a:r>
            <a:r>
              <a:rPr sz="1100" b="0">
                <a:solidFill>
                  <a:srgbClr val="000000"/>
                </a:solidFill>
                <a:latin typeface="Calibri"/>
              </a:rPr>
              <a:t>Never create/modify objects or fields without confirmation</a:t>
            </a:r>
          </a:p>
          <a:p>
            <a:pPr>
              <a:spcAft>
                <a:spcPts val="400"/>
              </a:spcAft>
            </a:pPr>
            <a:r>
              <a:rPr sz="1100" b="1">
                <a:solidFill>
                  <a:srgbClr val="000000"/>
                </a:solidFill>
                <a:latin typeface="Calibri"/>
              </a:rPr>
              <a:t>12. CPU time budget: </a:t>
            </a:r>
            <a:r>
              <a:rPr sz="1100" b="0">
                <a:solidFill>
                  <a:srgbClr val="000000"/>
                </a:solidFill>
                <a:latin typeface="Calibri"/>
              </a:rPr>
              <a:t>Monitor in complex operations, use Queueable/Batch</a:t>
            </a:r>
          </a:p>
          <a:p>
            <a:pPr>
              <a:spcAft>
                <a:spcPts val="400"/>
              </a:spcAft>
            </a:pPr>
            <a:r>
              <a:rPr sz="1100" b="1">
                <a:solidFill>
                  <a:srgbClr val="000000"/>
                </a:solidFill>
                <a:latin typeface="Calibri"/>
              </a:rPr>
              <a:t>13. Naming conventions: </a:t>
            </a:r>
            <a:r>
              <a:rPr sz="1100" b="0">
                <a:solidFill>
                  <a:srgbClr val="000000"/>
                </a:solidFill>
                <a:latin typeface="Calibri"/>
              </a:rPr>
              <a:t>Follow firm standard from naming-conventions reference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Scaffolded Project Output</a:t>
            </a:r>
          </a:p>
        </p:txBody>
      </p:sp>
      <p:sp>
        <p:nvSpPr>
          <p:cNvPr id="3" name="Content Placeholder 2"/>
          <p:cNvSpPr>
            <a:spLocks noGrp="1"/>
          </p:cNvSpPr>
          <p:nvPr>
            <p:ph idx="17" sz="quarter"/>
          </p:nvPr>
        </p:nvSpPr>
        <p:spPr/>
        <p:txBody>
          <a:bodyPr/>
          <a:lstStyle/>
          <a:p>
            <a:r>
              <a:rPr sz="1200" b="1">
                <a:solidFill>
                  <a:srgbClr val="000000"/>
                </a:solidFill>
                <a:latin typeface="Consolas"/>
              </a:rPr>
              <a:t>CLAUDE.md  —  AI assistant configuration</a:t>
            </a:r>
          </a:p>
          <a:p>
            <a:r>
              <a:rPr sz="1200" b="1">
                <a:solidFill>
                  <a:srgbClr val="000000"/>
                </a:solidFill>
                <a:latin typeface="Consolas"/>
              </a:rPr>
              <a:t>sfdx-project.json  —  SFDX project definition</a:t>
            </a:r>
          </a:p>
          <a:p>
            <a:r>
              <a:rPr sz="1200">
                <a:solidFill>
                  <a:srgbClr val="000000"/>
                </a:solidFill>
                <a:latin typeface="Consolas"/>
              </a:rPr>
              <a:t>config/project-scratch-def.json</a:t>
            </a:r>
          </a:p>
          <a:p>
            <a:r>
              <a:rPr sz="1200">
                <a:solidFill>
                  <a:srgbClr val="000000"/>
                </a:solidFill>
                <a:latin typeface="Consolas"/>
              </a:rPr>
              <a:t>.forceignore  /  .gitignore</a:t>
            </a:r>
          </a:p>
          <a:p>
            <a:r>
              <a:rPr sz="1200">
                <a:solidFill>
                  <a:srgbClr val="000000"/>
                </a:solidFill>
                <a:latin typeface="Consolas"/>
              </a:rPr>
              <a:t/>
            </a:r>
          </a:p>
          <a:p>
            <a:r>
              <a:rPr sz="1200">
                <a:solidFill>
                  <a:srgbClr val="000000"/>
                </a:solidFill>
                <a:latin typeface="Consolas"/>
              </a:rPr>
              <a:t>force-app/main/default/</a:t>
            </a:r>
          </a:p>
          <a:p>
            <a:r>
              <a:rPr sz="1200">
                <a:solidFill>
                  <a:srgbClr val="000000"/>
                </a:solidFill>
                <a:latin typeface="Consolas"/>
              </a:rPr>
              <a:t>  classes/  —  Apex classes</a:t>
            </a:r>
          </a:p>
          <a:p>
            <a:r>
              <a:rPr sz="1200">
                <a:solidFill>
                  <a:srgbClr val="000000"/>
                </a:solidFill>
                <a:latin typeface="Consolas"/>
              </a:rPr>
              <a:t>  triggers/  —  Apex triggers</a:t>
            </a:r>
          </a:p>
          <a:p>
            <a:r>
              <a:rPr sz="1200">
                <a:solidFill>
                  <a:srgbClr val="000000"/>
                </a:solidFill>
                <a:latin typeface="Consolas"/>
              </a:rPr>
              <a:t>  lwc/  —  Lightning Web Components</a:t>
            </a:r>
          </a:p>
          <a:p>
            <a:r>
              <a:rPr sz="1200">
                <a:solidFill>
                  <a:srgbClr val="000000"/>
                </a:solidFill>
                <a:latin typeface="Consolas"/>
              </a:rPr>
              <a:t>  flows/  —  Flow definitions</a:t>
            </a:r>
          </a:p>
          <a:p>
            <a:r>
              <a:rPr sz="1200">
                <a:solidFill>
                  <a:srgbClr val="000000"/>
                </a:solidFill>
                <a:latin typeface="Consolas"/>
              </a:rPr>
              <a:t>  objects/  —  Custom objects &amp; fields</a:t>
            </a:r>
          </a:p>
          <a:p>
            <a:r>
              <a:rPr sz="1200">
                <a:solidFill>
                  <a:srgbClr val="000000"/>
                </a:solidFill>
                <a:latin typeface="Consolas"/>
              </a:rPr>
              <a:t>  permissionsets/  —  Permission sets</a:t>
            </a:r>
          </a:p>
        </p:txBody>
      </p:sp>
      <p:sp>
        <p:nvSpPr>
          <p:cNvPr id="4" name="Content Placeholder 3"/>
          <p:cNvSpPr>
            <a:spLocks noGrp="1"/>
          </p:cNvSpPr>
          <p:nvPr>
            <p:ph idx="23" sz="quarter"/>
          </p:nvPr>
        </p:nvSpPr>
        <p:spPr/>
        <p:txBody>
          <a:bodyPr/>
          <a:lstStyle/>
          <a:p>
            <a:r>
              <a:rPr sz="1200" b="1">
                <a:solidFill>
                  <a:srgbClr val="000000"/>
                </a:solidFill>
                <a:latin typeface="Consolas"/>
              </a:rPr>
              <a:t>docs/  —  Living documentation</a:t>
            </a:r>
          </a:p>
          <a:p>
            <a:r>
              <a:rPr sz="1200">
                <a:solidFill>
                  <a:srgbClr val="000000"/>
                </a:solidFill>
                <a:latin typeface="Consolas"/>
              </a:rPr>
              <a:t>  BACKLOG.md, REQUIREMENTS.md</a:t>
            </a:r>
          </a:p>
          <a:p>
            <a:r>
              <a:rPr sz="1200">
                <a:solidFill>
                  <a:srgbClr val="000000"/>
                </a:solidFill>
                <a:latin typeface="Consolas"/>
              </a:rPr>
              <a:t>  TECHNICAL_SPEC.md, DECISIONS.md</a:t>
            </a:r>
          </a:p>
          <a:p>
            <a:r>
              <a:rPr sz="1200">
                <a:solidFill>
                  <a:srgbClr val="000000"/>
                </a:solidFill>
                <a:latin typeface="Consolas"/>
              </a:rPr>
              <a:t>  DATA_MODEL.md, CODE_ATLAS.md</a:t>
            </a:r>
          </a:p>
          <a:p>
            <a:r>
              <a:rPr sz="1200">
                <a:solidFill>
                  <a:srgbClr val="000000"/>
                </a:solidFill>
                <a:latin typeface="Consolas"/>
              </a:rPr>
              <a:t/>
            </a:r>
          </a:p>
          <a:p>
            <a:r>
              <a:rPr sz="1200" b="1">
                <a:solidFill>
                  <a:srgbClr val="000000"/>
                </a:solidFill>
                <a:latin typeface="Consolas"/>
              </a:rPr>
              <a:t>deliverables/  —  Client-facing docs</a:t>
            </a:r>
          </a:p>
          <a:p>
            <a:r>
              <a:rPr sz="1200">
                <a:solidFill>
                  <a:srgbClr val="000000"/>
                </a:solidFill>
                <a:latin typeface="Consolas"/>
              </a:rPr>
              <a:t>  brd/, sdd/, test-plans/</a:t>
            </a:r>
          </a:p>
          <a:p>
            <a:r>
              <a:rPr sz="1200">
                <a:solidFill>
                  <a:srgbClr val="000000"/>
                </a:solidFill>
                <a:latin typeface="Consolas"/>
              </a:rPr>
              <a:t>  architecture/, presentations/</a:t>
            </a:r>
          </a:p>
          <a:p>
            <a:r>
              <a:rPr sz="1200">
                <a:solidFill>
                  <a:srgbClr val="000000"/>
                </a:solidFill>
                <a:latin typeface="Consolas"/>
              </a:rPr>
              <a:t/>
            </a:r>
          </a:p>
          <a:p>
            <a:r>
              <a:rPr sz="1200">
                <a:solidFill>
                  <a:srgbClr val="000000"/>
                </a:solidFill>
                <a:latin typeface="Consolas"/>
              </a:rPr>
              <a:t>.github/workflows/</a:t>
            </a:r>
          </a:p>
          <a:p>
            <a:r>
              <a:rPr sz="1200">
                <a:solidFill>
                  <a:srgbClr val="000000"/>
                </a:solidFill>
                <a:latin typeface="Consolas"/>
              </a:rPr>
              <a:t>  sf-validate.yml  —  PR validation</a:t>
            </a:r>
          </a:p>
          <a:p>
            <a:r>
              <a:rPr sz="1200">
                <a:solidFill>
                  <a:srgbClr val="000000"/>
                </a:solidFill>
                <a:latin typeface="Consolas"/>
              </a:rPr>
              <a:t>  sf-deploy.yml  —  Deployment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Integration: Hub-and-Spoke Architecture</a:t>
            </a:r>
          </a:p>
        </p:txBody>
      </p:sp>
      <p:sp>
        <p:nvSpPr>
          <p:cNvPr id="3" name="Rectangle 2"/>
          <p:cNvSpPr/>
          <p:nvPr/>
        </p:nvSpPr>
        <p:spPr>
          <a:xfrm>
            <a:off x="4937760" y="2926080"/>
            <a:ext cx="2286000" cy="109728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0" y="3108960"/>
            <a:ext cx="2286000" cy="1097280"/>
          </a:xfrm>
          <a:prstGeom prst="rect">
            <a:avLst/>
          </a:prstGeom>
          <a:noFill/>
        </p:spPr>
        <p:txBody>
          <a:bodyPr wrap="square">
            <a:spAutoFit/>
          </a:bodyPr>
          <a:lstStyle/>
          <a:p>
            <a:pPr algn="ctr"/>
            <a:r>
              <a:rPr sz="1600" b="1">
                <a:solidFill>
                  <a:srgbClr val="FFFFFF"/>
                </a:solidFill>
                <a:latin typeface="Calibri"/>
              </a:rPr>
              <a:t>Claude Code
AI Assistant</a:t>
            </a:r>
          </a:p>
        </p:txBody>
      </p:sp>
      <p:sp>
        <p:nvSpPr>
          <p:cNvPr id="5" name="Rectangle 4"/>
          <p:cNvSpPr/>
          <p:nvPr/>
        </p:nvSpPr>
        <p:spPr>
          <a:xfrm>
            <a:off x="914400" y="1645920"/>
            <a:ext cx="2011680" cy="9144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011680" cy="640080"/>
          </a:xfrm>
          <a:prstGeom prst="rect">
            <a:avLst/>
          </a:prstGeom>
          <a:noFill/>
        </p:spPr>
        <p:txBody>
          <a:bodyPr wrap="square">
            <a:spAutoFit/>
          </a:bodyPr>
          <a:lstStyle/>
          <a:p>
            <a:pPr algn="ctr"/>
            <a:r>
              <a:rPr sz="1200" b="1">
                <a:solidFill>
                  <a:srgbClr val="FFFFFF"/>
                </a:solidFill>
                <a:latin typeface="Calibri"/>
              </a:rPr>
              <a:t>SFDX CLI
MCP Server</a:t>
            </a:r>
          </a:p>
        </p:txBody>
      </p:sp>
      <p:sp>
        <p:nvSpPr>
          <p:cNvPr id="7" name="Rectangle 6"/>
          <p:cNvSpPr/>
          <p:nvPr/>
        </p:nvSpPr>
        <p:spPr>
          <a:xfrm>
            <a:off x="4572000" y="1371600"/>
            <a:ext cx="2011680" cy="9144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2011680" cy="640080"/>
          </a:xfrm>
          <a:prstGeom prst="rect">
            <a:avLst/>
          </a:prstGeom>
          <a:noFill/>
        </p:spPr>
        <p:txBody>
          <a:bodyPr wrap="square">
            <a:spAutoFit/>
          </a:bodyPr>
          <a:lstStyle/>
          <a:p>
            <a:pPr algn="ctr"/>
            <a:r>
              <a:rPr sz="1200" b="1">
                <a:solidFill>
                  <a:srgbClr val="FFFFFF"/>
                </a:solidFill>
                <a:latin typeface="Calibri"/>
              </a:rPr>
              <a:t>Context7
Live Docs</a:t>
            </a:r>
          </a:p>
        </p:txBody>
      </p:sp>
      <p:sp>
        <p:nvSpPr>
          <p:cNvPr id="9" name="Rectangle 8"/>
          <p:cNvSpPr/>
          <p:nvPr/>
        </p:nvSpPr>
        <p:spPr>
          <a:xfrm>
            <a:off x="8412480" y="1645920"/>
            <a:ext cx="2011680" cy="9144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783080"/>
            <a:ext cx="2011680" cy="640080"/>
          </a:xfrm>
          <a:prstGeom prst="rect">
            <a:avLst/>
          </a:prstGeom>
          <a:noFill/>
        </p:spPr>
        <p:txBody>
          <a:bodyPr wrap="square">
            <a:spAutoFit/>
          </a:bodyPr>
          <a:lstStyle/>
          <a:p>
            <a:pPr algn="ctr"/>
            <a:r>
              <a:rPr sz="1200" b="1">
                <a:solidFill>
                  <a:srgbClr val="FFFFFF"/>
                </a:solidFill>
                <a:latin typeface="Calibri"/>
              </a:rPr>
              <a:t>GitHub Actions
CI/CD</a:t>
            </a:r>
          </a:p>
        </p:txBody>
      </p:sp>
      <p:sp>
        <p:nvSpPr>
          <p:cNvPr id="11" name="Rectangle 10"/>
          <p:cNvSpPr/>
          <p:nvPr/>
        </p:nvSpPr>
        <p:spPr>
          <a:xfrm>
            <a:off x="548640" y="3840480"/>
            <a:ext cx="2011680" cy="9144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977640"/>
            <a:ext cx="2011680" cy="640080"/>
          </a:xfrm>
          <a:prstGeom prst="rect">
            <a:avLst/>
          </a:prstGeom>
          <a:noFill/>
        </p:spPr>
        <p:txBody>
          <a:bodyPr wrap="square">
            <a:spAutoFit/>
          </a:bodyPr>
          <a:lstStyle/>
          <a:p>
            <a:pPr algn="ctr"/>
            <a:r>
              <a:rPr sz="1200" b="1">
                <a:solidFill>
                  <a:srgbClr val="FFFFFF"/>
                </a:solidFill>
                <a:latin typeface="Calibri"/>
              </a:rPr>
              <a:t>Linear MCP
Project Mgmt</a:t>
            </a:r>
          </a:p>
        </p:txBody>
      </p:sp>
      <p:sp>
        <p:nvSpPr>
          <p:cNvPr id="13" name="Rectangle 12"/>
          <p:cNvSpPr/>
          <p:nvPr/>
        </p:nvSpPr>
        <p:spPr>
          <a:xfrm>
            <a:off x="8778240" y="3840480"/>
            <a:ext cx="2011680" cy="9144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3977640"/>
            <a:ext cx="2011680" cy="640080"/>
          </a:xfrm>
          <a:prstGeom prst="rect">
            <a:avLst/>
          </a:prstGeom>
          <a:noFill/>
        </p:spPr>
        <p:txBody>
          <a:bodyPr wrap="square">
            <a:spAutoFit/>
          </a:bodyPr>
          <a:lstStyle/>
          <a:p>
            <a:pPr algn="ctr"/>
            <a:r>
              <a:rPr sz="1200" b="1">
                <a:solidFill>
                  <a:srgbClr val="FFFFFF"/>
                </a:solidFill>
                <a:latin typeface="Calibri"/>
              </a:rPr>
              <a:t>Playwright MCP
UI Testing</a:t>
            </a:r>
          </a:p>
        </p:txBody>
      </p:sp>
      <p:sp>
        <p:nvSpPr>
          <p:cNvPr id="15" name="Rectangle 14"/>
          <p:cNvSpPr/>
          <p:nvPr/>
        </p:nvSpPr>
        <p:spPr>
          <a:xfrm>
            <a:off x="1371600" y="5303520"/>
            <a:ext cx="2011680" cy="9144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440680"/>
            <a:ext cx="2011680" cy="640080"/>
          </a:xfrm>
          <a:prstGeom prst="rect">
            <a:avLst/>
          </a:prstGeom>
          <a:noFill/>
        </p:spPr>
        <p:txBody>
          <a:bodyPr wrap="square">
            <a:spAutoFit/>
          </a:bodyPr>
          <a:lstStyle/>
          <a:p>
            <a:pPr algn="ctr"/>
            <a:r>
              <a:rPr sz="1200" b="1">
                <a:solidFill>
                  <a:srgbClr val="FFFFFF"/>
                </a:solidFill>
                <a:latin typeface="Calibri"/>
              </a:rPr>
              <a:t>Salesforce
Org APIs</a:t>
            </a:r>
          </a:p>
        </p:txBody>
      </p:sp>
      <p:sp>
        <p:nvSpPr>
          <p:cNvPr id="17" name="Rectangle 16"/>
          <p:cNvSpPr/>
          <p:nvPr/>
        </p:nvSpPr>
        <p:spPr>
          <a:xfrm>
            <a:off x="4572000" y="5303520"/>
            <a:ext cx="2011680" cy="9144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5440680"/>
            <a:ext cx="2011680" cy="640080"/>
          </a:xfrm>
          <a:prstGeom prst="rect">
            <a:avLst/>
          </a:prstGeom>
          <a:noFill/>
        </p:spPr>
        <p:txBody>
          <a:bodyPr wrap="square">
            <a:spAutoFit/>
          </a:bodyPr>
          <a:lstStyle/>
          <a:p>
            <a:pPr algn="ctr"/>
            <a:r>
              <a:rPr sz="1200" b="1">
                <a:solidFill>
                  <a:srgbClr val="FFFFFF"/>
                </a:solidFill>
                <a:latin typeface="Calibri"/>
              </a:rPr>
              <a:t>Git / GitHub
Version Control</a:t>
            </a:r>
          </a:p>
        </p:txBody>
      </p:sp>
      <p:sp>
        <p:nvSpPr>
          <p:cNvPr id="19" name="Rectangle 18"/>
          <p:cNvSpPr/>
          <p:nvPr/>
        </p:nvSpPr>
        <p:spPr>
          <a:xfrm>
            <a:off x="8046720" y="5303520"/>
            <a:ext cx="2011680" cy="9144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5440680"/>
            <a:ext cx="2011680" cy="640080"/>
          </a:xfrm>
          <a:prstGeom prst="rect">
            <a:avLst/>
          </a:prstGeom>
          <a:noFill/>
        </p:spPr>
        <p:txBody>
          <a:bodyPr wrap="square">
            <a:spAutoFit/>
          </a:bodyPr>
          <a:lstStyle/>
          <a:p>
            <a:pPr algn="ctr"/>
            <a:r>
              <a:rPr sz="1200" b="1">
                <a:solidFill>
                  <a:srgbClr val="FFFFFF"/>
                </a:solidFill>
                <a:latin typeface="Calibri"/>
              </a:rPr>
              <a:t>tsmztech MCP
SOQL/CRUD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CI/CD Pipeline: Environment Progression</a:t>
            </a:r>
          </a:p>
        </p:txBody>
      </p:sp>
      <p:sp>
        <p:nvSpPr>
          <p:cNvPr id="3" name="Content Placeholder 2"/>
          <p:cNvSpPr>
            <a:spLocks noGrp="1"/>
          </p:cNvSpPr>
          <p:nvPr>
            <p:ph idx="17" sz="quarter"/>
          </p:nvPr>
        </p:nvSpPr>
        <p:spPr/>
        <p:txBody>
          <a:bodyPr/>
          <a:lstStyle/>
          <a:p>
            <a:pPr>
              <a:spcAft>
                <a:spcPts val="400"/>
              </a:spcAft>
            </a:pPr>
            <a:r>
              <a:rPr sz="1200" b="1">
                <a:solidFill>
                  <a:srgbClr val="000000"/>
                </a:solidFill>
                <a:latin typeface="Calibri"/>
              </a:rPr>
              <a:t>Scratch Org: </a:t>
            </a:r>
            <a:r>
              <a:rPr sz="1200" b="0">
                <a:solidFill>
                  <a:srgbClr val="000000"/>
                </a:solidFill>
                <a:latin typeface="Calibri"/>
              </a:rPr>
              <a:t>Individual developer workspace with source tracking, isolated feature development</a:t>
            </a:r>
          </a:p>
          <a:p>
            <a:pPr>
              <a:spcAft>
                <a:spcPts val="400"/>
              </a:spcAft>
            </a:pPr>
            <a:r>
              <a:rPr sz="1200" b="1">
                <a:solidFill>
                  <a:srgbClr val="000000"/>
                </a:solidFill>
                <a:latin typeface="Calibri"/>
              </a:rPr>
              <a:t>Feature Branch: </a:t>
            </a:r>
            <a:r>
              <a:rPr sz="1200" b="0">
                <a:solidFill>
                  <a:srgbClr val="000000"/>
                </a:solidFill>
                <a:latin typeface="Calibri"/>
              </a:rPr>
              <a:t>Git-managed code with PR validation, automated Apex test execution on every push</a:t>
            </a:r>
          </a:p>
          <a:p>
            <a:pPr>
              <a:spcAft>
                <a:spcPts val="400"/>
              </a:spcAft>
            </a:pPr>
            <a:r>
              <a:rPr sz="1200" b="1">
                <a:solidFill>
                  <a:srgbClr val="000000"/>
                </a:solidFill>
                <a:latin typeface="Calibri"/>
              </a:rPr>
              <a:t>CI Sandbox: </a:t>
            </a:r>
            <a:r>
              <a:rPr sz="1200" b="0">
                <a:solidFill>
                  <a:srgbClr val="000000"/>
                </a:solidFill>
                <a:latin typeface="Calibri"/>
              </a:rPr>
              <a:t>Continuous integration environment, sf-validate.yml runs full test suite (85%+ coverage gate)</a:t>
            </a:r>
          </a:p>
          <a:p>
            <a:pPr>
              <a:spcAft>
                <a:spcPts val="400"/>
              </a:spcAft>
            </a:pPr>
            <a:r>
              <a:rPr sz="1200" b="1">
                <a:solidFill>
                  <a:srgbClr val="000000"/>
                </a:solidFill>
                <a:latin typeface="Calibri"/>
              </a:rPr>
              <a:t>Dev Sandbox: </a:t>
            </a:r>
            <a:r>
              <a:rPr sz="1200" b="0">
                <a:solidFill>
                  <a:srgbClr val="000000"/>
                </a:solidFill>
                <a:latin typeface="Calibri"/>
              </a:rPr>
              <a:t>Integration testing, cross-feature validation, shared development environment</a:t>
            </a:r>
          </a:p>
          <a:p>
            <a:pPr>
              <a:spcAft>
                <a:spcPts val="400"/>
              </a:spcAft>
            </a:pPr>
            <a:r>
              <a:rPr sz="1200" b="1">
                <a:solidFill>
                  <a:srgbClr val="000000"/>
                </a:solidFill>
                <a:latin typeface="Calibri"/>
              </a:rPr>
              <a:t>QA Sandbox: </a:t>
            </a:r>
            <a:r>
              <a:rPr sz="1200" b="0">
                <a:solidFill>
                  <a:srgbClr val="000000"/>
                </a:solidFill>
                <a:latin typeface="Calibri"/>
              </a:rPr>
              <a:t>Quality assurance testing, regression testing, UAT script execution</a:t>
            </a:r>
          </a:p>
          <a:p>
            <a:pPr>
              <a:spcAft>
                <a:spcPts val="400"/>
              </a:spcAft>
            </a:pPr>
            <a:r>
              <a:rPr sz="1200" b="1">
                <a:solidFill>
                  <a:srgbClr val="000000"/>
                </a:solidFill>
                <a:latin typeface="Calibri"/>
              </a:rPr>
              <a:t>UAT Sandbox: </a:t>
            </a:r>
            <a:r>
              <a:rPr sz="1200" b="0">
                <a:solidFill>
                  <a:srgbClr val="000000"/>
                </a:solidFill>
                <a:latin typeface="Calibri"/>
              </a:rPr>
              <a:t>User acceptance testing with client stakeholders, release candidate validation</a:t>
            </a:r>
          </a:p>
          <a:p>
            <a:pPr>
              <a:spcAft>
                <a:spcPts val="400"/>
              </a:spcAft>
            </a:pPr>
            <a:r>
              <a:rPr sz="1200" b="1">
                <a:solidFill>
                  <a:srgbClr val="000000"/>
                </a:solidFill>
                <a:latin typeface="Calibri"/>
              </a:rPr>
              <a:t>Production: </a:t>
            </a:r>
            <a:r>
              <a:rPr sz="1200" b="0">
                <a:solidFill>
                  <a:srgbClr val="000000"/>
                </a:solidFill>
                <a:latin typeface="Calibri"/>
              </a:rPr>
              <a:t>sf-deploy.yml with approval gates, production deployment with rollback plan</a:t>
            </a:r>
          </a:p>
        </p:txBody>
      </p:sp>
      <p:sp>
        <p:nvSpPr>
          <p:cNvPr id="4" name="TextBox 3"/>
          <p:cNvSpPr txBox="1"/>
          <p:nvPr/>
        </p:nvSpPr>
        <p:spPr>
          <a:xfrm>
            <a:off x="731520" y="5669280"/>
            <a:ext cx="10058400" cy="365760"/>
          </a:xfrm>
          <a:prstGeom prst="rect">
            <a:avLst/>
          </a:prstGeom>
          <a:noFill/>
        </p:spPr>
        <p:txBody>
          <a:bodyPr wrap="square">
            <a:spAutoFit/>
          </a:bodyPr>
          <a:lstStyle/>
          <a:p>
            <a:pPr algn="ctr"/>
            <a:r>
              <a:rPr sz="1600" b="1">
                <a:solidFill>
                  <a:srgbClr val="5236AB"/>
                </a:solidFill>
                <a:latin typeface="Calibri"/>
              </a:rPr>
              <a:t>Scratch → Feature → CI → Dev → QA → UAT →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Interactive HTML Diagrams</a:t>
            </a:r>
          </a:p>
        </p:txBody>
      </p:sp>
      <p:sp>
        <p:nvSpPr>
          <p:cNvPr id="3" name="Content Placeholder 2"/>
          <p:cNvSpPr>
            <a:spLocks noGrp="1"/>
          </p:cNvSpPr>
          <p:nvPr>
            <p:ph idx="17" sz="quarter"/>
          </p:nvPr>
        </p:nvSpPr>
        <p:spPr/>
        <p:txBody>
          <a:bodyPr/>
          <a:lstStyle/>
          <a:p>
            <a:pPr>
              <a:spcAft>
                <a:spcPts val="400"/>
              </a:spcAft>
            </a:pPr>
            <a:r>
              <a:rPr sz="1200" b="1">
                <a:solidFill>
                  <a:srgbClr val="000000"/>
                </a:solidFill>
                <a:latin typeface="Calibri"/>
              </a:rPr>
              <a:t>Framework Overview: </a:t>
            </a:r>
            <a:r>
              <a:rPr sz="1200" b="0">
                <a:solidFill>
                  <a:srgbClr val="000000"/>
                </a:solidFill>
                <a:latin typeface="Calibri"/>
              </a:rPr>
              <a:t>High-level view of the consulting methodology, pillars, and phases</a:t>
            </a:r>
          </a:p>
          <a:p>
            <a:pPr>
              <a:spcAft>
                <a:spcPts val="400"/>
              </a:spcAft>
            </a:pPr>
            <a:r>
              <a:rPr sz="1200" b="1">
                <a:solidFill>
                  <a:srgbClr val="000000"/>
                </a:solidFill>
                <a:latin typeface="Calibri"/>
              </a:rPr>
              <a:t>Project Lifecycle: </a:t>
            </a:r>
            <a:r>
              <a:rPr sz="1200" b="0">
                <a:solidFill>
                  <a:srgbClr val="000000"/>
                </a:solidFill>
                <a:latin typeface="Calibri"/>
              </a:rPr>
              <a:t>6 phases from discovery through hypercare with key activities</a:t>
            </a:r>
          </a:p>
          <a:p>
            <a:pPr>
              <a:spcAft>
                <a:spcPts val="400"/>
              </a:spcAft>
            </a:pPr>
            <a:r>
              <a:rPr sz="1200" b="1">
                <a:solidFill>
                  <a:srgbClr val="000000"/>
                </a:solidFill>
                <a:latin typeface="Calibri"/>
              </a:rPr>
              <a:t>Dev Loop: </a:t>
            </a:r>
            <a:r>
              <a:rPr sz="1200" b="0">
                <a:solidFill>
                  <a:srgbClr val="000000"/>
                </a:solidFill>
                <a:latin typeface="Calibri"/>
              </a:rPr>
              <a:t>Iterative development cycle within a sprint (code, test, review, deploy)</a:t>
            </a:r>
          </a:p>
          <a:p>
            <a:pPr>
              <a:spcAft>
                <a:spcPts val="400"/>
              </a:spcAft>
            </a:pPr>
            <a:r>
              <a:rPr sz="1200" b="1">
                <a:solidFill>
                  <a:srgbClr val="000000"/>
                </a:solidFill>
                <a:latin typeface="Calibri"/>
              </a:rPr>
              <a:t>CI/CD Pipeline: </a:t>
            </a:r>
            <a:r>
              <a:rPr sz="1200" b="0">
                <a:solidFill>
                  <a:srgbClr val="000000"/>
                </a:solidFill>
                <a:latin typeface="Calibri"/>
              </a:rPr>
              <a:t>Deployment pipeline flow across all environments</a:t>
            </a:r>
          </a:p>
        </p:txBody>
      </p:sp>
      <p:sp>
        <p:nvSpPr>
          <p:cNvPr id="4" name="Content Placeholder 3"/>
          <p:cNvSpPr>
            <a:spLocks noGrp="1"/>
          </p:cNvSpPr>
          <p:nvPr>
            <p:ph idx="23" sz="quarter"/>
          </p:nvPr>
        </p:nvSpPr>
        <p:spPr/>
        <p:txBody>
          <a:bodyPr/>
          <a:lstStyle/>
          <a:p>
            <a:pPr>
              <a:spcAft>
                <a:spcPts val="400"/>
              </a:spcAft>
            </a:pPr>
            <a:r>
              <a:rPr sz="1200" b="1">
                <a:solidFill>
                  <a:srgbClr val="000000"/>
                </a:solidFill>
                <a:latin typeface="Calibri"/>
              </a:rPr>
              <a:t>Integration Flow: </a:t>
            </a:r>
            <a:r>
              <a:rPr sz="1200" b="0">
                <a:solidFill>
                  <a:srgbClr val="000000"/>
                </a:solidFill>
                <a:latin typeface="Calibri"/>
              </a:rPr>
              <a:t>System integration architecture patterns and data flows</a:t>
            </a:r>
          </a:p>
          <a:p>
            <a:pPr>
              <a:spcAft>
                <a:spcPts val="400"/>
              </a:spcAft>
            </a:pPr>
            <a:r>
              <a:rPr sz="1200" b="1">
                <a:solidFill>
                  <a:srgbClr val="000000"/>
                </a:solidFill>
                <a:latin typeface="Calibri"/>
              </a:rPr>
              <a:t>Scenario Flows: </a:t>
            </a:r>
            <a:r>
              <a:rPr sz="1200" b="0">
                <a:solidFill>
                  <a:srgbClr val="000000"/>
                </a:solidFill>
                <a:latin typeface="Calibri"/>
              </a:rPr>
              <a:t>Common engagement scenario walkthroughs for each entry point</a:t>
            </a:r>
          </a:p>
          <a:p>
            <a:pPr>
              <a:spcAft>
                <a:spcPts val="400"/>
              </a:spcAft>
            </a:pPr>
            <a:r>
              <a:rPr sz="1200" b="1">
                <a:solidFill>
                  <a:srgbClr val="000000"/>
                </a:solidFill>
                <a:latin typeface="Calibri"/>
              </a:rPr>
              <a:t>Tech Stack: </a:t>
            </a:r>
            <a:r>
              <a:rPr sz="1200" b="0">
                <a:solidFill>
                  <a:srgbClr val="000000"/>
                </a:solidFill>
                <a:latin typeface="Calibri"/>
              </a:rPr>
              <a:t>Technology components and their relationships in a hub-spoke view</a:t>
            </a:r>
          </a:p>
          <a:p>
            <a:pPr>
              <a:spcAft>
                <a:spcPts val="400"/>
              </a:spcAft>
            </a:pPr>
            <a:r>
              <a:rPr sz="1200" b="1">
                <a:solidFill>
                  <a:srgbClr val="000000"/>
                </a:solidFill>
                <a:latin typeface="Calibri"/>
              </a:rPr>
              <a:t>Tool Mapping: </a:t>
            </a:r>
            <a:r>
              <a:rPr sz="1200" b="0">
                <a:solidFill>
                  <a:srgbClr val="000000"/>
                </a:solidFill>
                <a:latin typeface="Calibri"/>
              </a:rPr>
              <a:t>Tools mapped to framework phases showing when each tool is used</a:t>
            </a:r>
          </a:p>
        </p:txBody>
      </p:sp>
      <p:sp>
        <p:nvSpPr>
          <p:cNvPr id="5" name="TextBox 4"/>
          <p:cNvSpPr txBox="1"/>
          <p:nvPr/>
        </p:nvSpPr>
        <p:spPr>
          <a:xfrm>
            <a:off x="731520" y="5669280"/>
            <a:ext cx="10058400" cy="365760"/>
          </a:xfrm>
          <a:prstGeom prst="rect">
            <a:avLst/>
          </a:prstGeom>
          <a:noFill/>
        </p:spPr>
        <p:txBody>
          <a:bodyPr wrap="square">
            <a:spAutoFit/>
          </a:bodyPr>
          <a:lstStyle/>
          <a:p>
            <a:pPr algn="ctr"/>
            <a:r>
              <a:rPr sz="1200" b="0">
                <a:solidFill>
                  <a:srgbClr val="555555"/>
                </a:solidFill>
                <a:latin typeface="Calibri"/>
              </a:rPr>
              <a:t>Built with D3.js  —  Dark theme, force-directed graphs, zoom/pan, tooltips, click-to-inspect sidebars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Lifecycle: 6 Phases</a:t>
            </a:r>
          </a:p>
        </p:txBody>
      </p:sp>
      <p:sp>
        <p:nvSpPr>
          <p:cNvPr id="3" name="Rectangle 2"/>
          <p:cNvSpPr/>
          <p:nvPr/>
        </p:nvSpPr>
        <p:spPr>
          <a:xfrm>
            <a:off x="457200" y="1828800"/>
            <a:ext cx="1737360" cy="347472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1554480" cy="365760"/>
          </a:xfrm>
          <a:prstGeom prst="rect">
            <a:avLst/>
          </a:prstGeom>
          <a:noFill/>
        </p:spPr>
        <p:txBody>
          <a:bodyPr wrap="square">
            <a:spAutoFit/>
          </a:bodyPr>
          <a:lstStyle/>
          <a:p>
            <a:pPr algn="ctr"/>
            <a:r>
              <a:rPr sz="1100" b="0">
                <a:solidFill>
                  <a:srgbClr val="9E83F5"/>
                </a:solidFill>
                <a:latin typeface="Calibri"/>
              </a:rPr>
              <a:t>Phase 1</a:t>
            </a:r>
          </a:p>
        </p:txBody>
      </p:sp>
      <p:sp>
        <p:nvSpPr>
          <p:cNvPr id="5" name="TextBox 4"/>
          <p:cNvSpPr txBox="1"/>
          <p:nvPr/>
        </p:nvSpPr>
        <p:spPr>
          <a:xfrm>
            <a:off x="548640" y="2194560"/>
            <a:ext cx="1554480" cy="457200"/>
          </a:xfrm>
          <a:prstGeom prst="rect">
            <a:avLst/>
          </a:prstGeom>
          <a:noFill/>
        </p:spPr>
        <p:txBody>
          <a:bodyPr wrap="square">
            <a:spAutoFit/>
          </a:bodyPr>
          <a:lstStyle/>
          <a:p>
            <a:pPr algn="ctr"/>
            <a:r>
              <a:rPr sz="1800" b="1">
                <a:solidFill>
                  <a:srgbClr val="FFFFFF"/>
                </a:solidFill>
                <a:latin typeface="Calibri"/>
              </a:rPr>
              <a:t>Discovery</a:t>
            </a:r>
          </a:p>
        </p:txBody>
      </p:sp>
      <p:sp>
        <p:nvSpPr>
          <p:cNvPr id="6" name="TextBox 5"/>
          <p:cNvSpPr txBox="1"/>
          <p:nvPr/>
        </p:nvSpPr>
        <p:spPr>
          <a:xfrm>
            <a:off x="548640" y="2743200"/>
            <a:ext cx="1554480" cy="2286000"/>
          </a:xfrm>
          <a:prstGeom prst="rect">
            <a:avLst/>
          </a:prstGeom>
          <a:noFill/>
        </p:spPr>
        <p:txBody>
          <a:bodyPr wrap="square">
            <a:spAutoFit/>
          </a:bodyPr>
          <a:lstStyle/>
          <a:p>
            <a:pPr algn="ctr"/>
            <a:r>
              <a:rPr sz="1100" b="0">
                <a:solidFill>
                  <a:srgbClr val="FFFFFF"/>
                </a:solidFill>
                <a:latin typeface="Calibri"/>
              </a:rPr>
              <a:t>Requirements
gathering,
stakeholder
alignment,
current state
analysis</a:t>
            </a:r>
          </a:p>
        </p:txBody>
      </p:sp>
      <p:sp>
        <p:nvSpPr>
          <p:cNvPr id="7" name="Rectangle 6"/>
          <p:cNvSpPr/>
          <p:nvPr/>
        </p:nvSpPr>
        <p:spPr>
          <a:xfrm>
            <a:off x="2331720" y="1828800"/>
            <a:ext cx="1737360" cy="347472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23160" y="1920240"/>
            <a:ext cx="1554480" cy="365760"/>
          </a:xfrm>
          <a:prstGeom prst="rect">
            <a:avLst/>
          </a:prstGeom>
          <a:noFill/>
        </p:spPr>
        <p:txBody>
          <a:bodyPr wrap="square">
            <a:spAutoFit/>
          </a:bodyPr>
          <a:lstStyle/>
          <a:p>
            <a:pPr algn="ctr"/>
            <a:r>
              <a:rPr sz="1100" b="0">
                <a:solidFill>
                  <a:srgbClr val="9E83F5"/>
                </a:solidFill>
                <a:latin typeface="Calibri"/>
              </a:rPr>
              <a:t>Phase 2</a:t>
            </a:r>
          </a:p>
        </p:txBody>
      </p:sp>
      <p:sp>
        <p:nvSpPr>
          <p:cNvPr id="9" name="TextBox 8"/>
          <p:cNvSpPr txBox="1"/>
          <p:nvPr/>
        </p:nvSpPr>
        <p:spPr>
          <a:xfrm>
            <a:off x="2423160" y="2194560"/>
            <a:ext cx="1554480" cy="457200"/>
          </a:xfrm>
          <a:prstGeom prst="rect">
            <a:avLst/>
          </a:prstGeom>
          <a:noFill/>
        </p:spPr>
        <p:txBody>
          <a:bodyPr wrap="square">
            <a:spAutoFit/>
          </a:bodyPr>
          <a:lstStyle/>
          <a:p>
            <a:pPr algn="ctr"/>
            <a:r>
              <a:rPr sz="1800" b="1">
                <a:solidFill>
                  <a:srgbClr val="FFFFFF"/>
                </a:solidFill>
                <a:latin typeface="Calibri"/>
              </a:rPr>
              <a:t>Design</a:t>
            </a:r>
          </a:p>
        </p:txBody>
      </p:sp>
      <p:sp>
        <p:nvSpPr>
          <p:cNvPr id="10" name="TextBox 9"/>
          <p:cNvSpPr txBox="1"/>
          <p:nvPr/>
        </p:nvSpPr>
        <p:spPr>
          <a:xfrm>
            <a:off x="2423160" y="2743200"/>
            <a:ext cx="1554480" cy="2286000"/>
          </a:xfrm>
          <a:prstGeom prst="rect">
            <a:avLst/>
          </a:prstGeom>
          <a:noFill/>
        </p:spPr>
        <p:txBody>
          <a:bodyPr wrap="square">
            <a:spAutoFit/>
          </a:bodyPr>
          <a:lstStyle/>
          <a:p>
            <a:pPr algn="ctr"/>
            <a:r>
              <a:rPr sz="1100" b="0">
                <a:solidFill>
                  <a:srgbClr val="FFFFFF"/>
                </a:solidFill>
                <a:latin typeface="Calibri"/>
              </a:rPr>
              <a:t>Solution
architecture,
data model,
integration
patterns,
prototyping</a:t>
            </a:r>
          </a:p>
        </p:txBody>
      </p:sp>
      <p:sp>
        <p:nvSpPr>
          <p:cNvPr id="11" name="Rectangle 10"/>
          <p:cNvSpPr/>
          <p:nvPr/>
        </p:nvSpPr>
        <p:spPr>
          <a:xfrm>
            <a:off x="4206240" y="1828800"/>
            <a:ext cx="1737360" cy="347472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920240"/>
            <a:ext cx="1554480" cy="365760"/>
          </a:xfrm>
          <a:prstGeom prst="rect">
            <a:avLst/>
          </a:prstGeom>
          <a:noFill/>
        </p:spPr>
        <p:txBody>
          <a:bodyPr wrap="square">
            <a:spAutoFit/>
          </a:bodyPr>
          <a:lstStyle/>
          <a:p>
            <a:pPr algn="ctr"/>
            <a:r>
              <a:rPr sz="1100" b="0">
                <a:solidFill>
                  <a:srgbClr val="9E83F5"/>
                </a:solidFill>
                <a:latin typeface="Calibri"/>
              </a:rPr>
              <a:t>Phase 3</a:t>
            </a:r>
          </a:p>
        </p:txBody>
      </p:sp>
      <p:sp>
        <p:nvSpPr>
          <p:cNvPr id="13" name="TextBox 12"/>
          <p:cNvSpPr txBox="1"/>
          <p:nvPr/>
        </p:nvSpPr>
        <p:spPr>
          <a:xfrm>
            <a:off x="4297680" y="2194560"/>
            <a:ext cx="1554480" cy="457200"/>
          </a:xfrm>
          <a:prstGeom prst="rect">
            <a:avLst/>
          </a:prstGeom>
          <a:noFill/>
        </p:spPr>
        <p:txBody>
          <a:bodyPr wrap="square">
            <a:spAutoFit/>
          </a:bodyPr>
          <a:lstStyle/>
          <a:p>
            <a:pPr algn="ctr"/>
            <a:r>
              <a:rPr sz="1800" b="1">
                <a:solidFill>
                  <a:srgbClr val="FFFFFF"/>
                </a:solidFill>
                <a:latin typeface="Calibri"/>
              </a:rPr>
              <a:t>Build</a:t>
            </a:r>
          </a:p>
        </p:txBody>
      </p:sp>
      <p:sp>
        <p:nvSpPr>
          <p:cNvPr id="14" name="TextBox 13"/>
          <p:cNvSpPr txBox="1"/>
          <p:nvPr/>
        </p:nvSpPr>
        <p:spPr>
          <a:xfrm>
            <a:off x="4297680" y="2743200"/>
            <a:ext cx="1554480" cy="2286000"/>
          </a:xfrm>
          <a:prstGeom prst="rect">
            <a:avLst/>
          </a:prstGeom>
          <a:noFill/>
        </p:spPr>
        <p:txBody>
          <a:bodyPr wrap="square">
            <a:spAutoFit/>
          </a:bodyPr>
          <a:lstStyle/>
          <a:p>
            <a:pPr algn="ctr"/>
            <a:r>
              <a:rPr sz="1100" b="0">
                <a:solidFill>
                  <a:srgbClr val="FFFFFF"/>
                </a:solidFill>
                <a:latin typeface="Calibri"/>
              </a:rPr>
              <a:t>Sprint-based
development,
Apex/LWC,
Flows,
configuration,
unit testing</a:t>
            </a:r>
          </a:p>
        </p:txBody>
      </p:sp>
      <p:sp>
        <p:nvSpPr>
          <p:cNvPr id="15" name="Rectangle 14"/>
          <p:cNvSpPr/>
          <p:nvPr/>
        </p:nvSpPr>
        <p:spPr>
          <a:xfrm>
            <a:off x="6080760" y="1828800"/>
            <a:ext cx="1737360" cy="347472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920240"/>
            <a:ext cx="1554480" cy="365760"/>
          </a:xfrm>
          <a:prstGeom prst="rect">
            <a:avLst/>
          </a:prstGeom>
          <a:noFill/>
        </p:spPr>
        <p:txBody>
          <a:bodyPr wrap="square">
            <a:spAutoFit/>
          </a:bodyPr>
          <a:lstStyle/>
          <a:p>
            <a:pPr algn="ctr"/>
            <a:r>
              <a:rPr sz="1100" b="0">
                <a:solidFill>
                  <a:srgbClr val="9E83F5"/>
                </a:solidFill>
                <a:latin typeface="Calibri"/>
              </a:rPr>
              <a:t>Phase 4</a:t>
            </a:r>
          </a:p>
        </p:txBody>
      </p:sp>
      <p:sp>
        <p:nvSpPr>
          <p:cNvPr id="17" name="TextBox 16"/>
          <p:cNvSpPr txBox="1"/>
          <p:nvPr/>
        </p:nvSpPr>
        <p:spPr>
          <a:xfrm>
            <a:off x="6172200" y="2194560"/>
            <a:ext cx="1554480" cy="457200"/>
          </a:xfrm>
          <a:prstGeom prst="rect">
            <a:avLst/>
          </a:prstGeom>
          <a:noFill/>
        </p:spPr>
        <p:txBody>
          <a:bodyPr wrap="square">
            <a:spAutoFit/>
          </a:bodyPr>
          <a:lstStyle/>
          <a:p>
            <a:pPr algn="ctr"/>
            <a:r>
              <a:rPr sz="1800" b="1">
                <a:solidFill>
                  <a:srgbClr val="FFFFFF"/>
                </a:solidFill>
                <a:latin typeface="Calibri"/>
              </a:rPr>
              <a:t>Test</a:t>
            </a:r>
          </a:p>
        </p:txBody>
      </p:sp>
      <p:sp>
        <p:nvSpPr>
          <p:cNvPr id="18" name="TextBox 17"/>
          <p:cNvSpPr txBox="1"/>
          <p:nvPr/>
        </p:nvSpPr>
        <p:spPr>
          <a:xfrm>
            <a:off x="6172200" y="2743200"/>
            <a:ext cx="1554480" cy="2286000"/>
          </a:xfrm>
          <a:prstGeom prst="rect">
            <a:avLst/>
          </a:prstGeom>
          <a:noFill/>
        </p:spPr>
        <p:txBody>
          <a:bodyPr wrap="square">
            <a:spAutoFit/>
          </a:bodyPr>
          <a:lstStyle/>
          <a:p>
            <a:pPr algn="ctr"/>
            <a:r>
              <a:rPr sz="1100" b="0">
                <a:solidFill>
                  <a:srgbClr val="FFFFFF"/>
                </a:solidFill>
                <a:latin typeface="Calibri"/>
              </a:rPr>
              <a:t>QA testing,
regression,
UAT scripts,
performance,
security
validation</a:t>
            </a:r>
          </a:p>
        </p:txBody>
      </p:sp>
      <p:sp>
        <p:nvSpPr>
          <p:cNvPr id="19" name="Rectangle 18"/>
          <p:cNvSpPr/>
          <p:nvPr/>
        </p:nvSpPr>
        <p:spPr>
          <a:xfrm>
            <a:off x="7955280" y="1828800"/>
            <a:ext cx="1737360" cy="347472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1920240"/>
            <a:ext cx="1554480" cy="365760"/>
          </a:xfrm>
          <a:prstGeom prst="rect">
            <a:avLst/>
          </a:prstGeom>
          <a:noFill/>
        </p:spPr>
        <p:txBody>
          <a:bodyPr wrap="square">
            <a:spAutoFit/>
          </a:bodyPr>
          <a:lstStyle/>
          <a:p>
            <a:pPr algn="ctr"/>
            <a:r>
              <a:rPr sz="1100" b="0">
                <a:solidFill>
                  <a:srgbClr val="9E83F5"/>
                </a:solidFill>
                <a:latin typeface="Calibri"/>
              </a:rPr>
              <a:t>Phase 5</a:t>
            </a:r>
          </a:p>
        </p:txBody>
      </p:sp>
      <p:sp>
        <p:nvSpPr>
          <p:cNvPr id="21" name="TextBox 20"/>
          <p:cNvSpPr txBox="1"/>
          <p:nvPr/>
        </p:nvSpPr>
        <p:spPr>
          <a:xfrm>
            <a:off x="8046720" y="2194560"/>
            <a:ext cx="1554480" cy="457200"/>
          </a:xfrm>
          <a:prstGeom prst="rect">
            <a:avLst/>
          </a:prstGeom>
          <a:noFill/>
        </p:spPr>
        <p:txBody>
          <a:bodyPr wrap="square">
            <a:spAutoFit/>
          </a:bodyPr>
          <a:lstStyle/>
          <a:p>
            <a:pPr algn="ctr"/>
            <a:r>
              <a:rPr sz="1800" b="1">
                <a:solidFill>
                  <a:srgbClr val="FFFFFF"/>
                </a:solidFill>
                <a:latin typeface="Calibri"/>
              </a:rPr>
              <a:t>Deploy</a:t>
            </a:r>
          </a:p>
        </p:txBody>
      </p:sp>
      <p:sp>
        <p:nvSpPr>
          <p:cNvPr id="22" name="TextBox 21"/>
          <p:cNvSpPr txBox="1"/>
          <p:nvPr/>
        </p:nvSpPr>
        <p:spPr>
          <a:xfrm>
            <a:off x="8046720" y="2743200"/>
            <a:ext cx="1554480" cy="2286000"/>
          </a:xfrm>
          <a:prstGeom prst="rect">
            <a:avLst/>
          </a:prstGeom>
          <a:noFill/>
        </p:spPr>
        <p:txBody>
          <a:bodyPr wrap="square">
            <a:spAutoFit/>
          </a:bodyPr>
          <a:lstStyle/>
          <a:p>
            <a:pPr algn="ctr"/>
            <a:r>
              <a:rPr sz="1100" b="0">
                <a:solidFill>
                  <a:srgbClr val="FFFFFF"/>
                </a:solidFill>
                <a:latin typeface="Calibri"/>
              </a:rPr>
              <a:t>Environment
promotion,
data migration,
go-live prep,
cutover
planning</a:t>
            </a:r>
          </a:p>
        </p:txBody>
      </p:sp>
      <p:sp>
        <p:nvSpPr>
          <p:cNvPr id="23" name="Rectangle 22"/>
          <p:cNvSpPr/>
          <p:nvPr/>
        </p:nvSpPr>
        <p:spPr>
          <a:xfrm>
            <a:off x="9829800" y="1828800"/>
            <a:ext cx="1737360" cy="3474720"/>
          </a:xfrm>
          <a:prstGeom prst="rect">
            <a:avLst/>
          </a:prstGeom>
          <a:solidFill>
            <a:srgbClr val="650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1920240"/>
            <a:ext cx="1554480" cy="365760"/>
          </a:xfrm>
          <a:prstGeom prst="rect">
            <a:avLst/>
          </a:prstGeom>
          <a:noFill/>
        </p:spPr>
        <p:txBody>
          <a:bodyPr wrap="square">
            <a:spAutoFit/>
          </a:bodyPr>
          <a:lstStyle/>
          <a:p>
            <a:pPr algn="ctr"/>
            <a:r>
              <a:rPr sz="1100" b="0">
                <a:solidFill>
                  <a:srgbClr val="9E83F5"/>
                </a:solidFill>
                <a:latin typeface="Calibri"/>
              </a:rPr>
              <a:t>Phase 6</a:t>
            </a:r>
          </a:p>
        </p:txBody>
      </p:sp>
      <p:sp>
        <p:nvSpPr>
          <p:cNvPr id="25" name="TextBox 24"/>
          <p:cNvSpPr txBox="1"/>
          <p:nvPr/>
        </p:nvSpPr>
        <p:spPr>
          <a:xfrm>
            <a:off x="9921240" y="2194560"/>
            <a:ext cx="1554480" cy="457200"/>
          </a:xfrm>
          <a:prstGeom prst="rect">
            <a:avLst/>
          </a:prstGeom>
          <a:noFill/>
        </p:spPr>
        <p:txBody>
          <a:bodyPr wrap="square">
            <a:spAutoFit/>
          </a:bodyPr>
          <a:lstStyle/>
          <a:p>
            <a:pPr algn="ctr"/>
            <a:r>
              <a:rPr sz="1800" b="1">
                <a:solidFill>
                  <a:srgbClr val="FFFFFF"/>
                </a:solidFill>
                <a:latin typeface="Calibri"/>
              </a:rPr>
              <a:t>Hypercare</a:t>
            </a:r>
          </a:p>
        </p:txBody>
      </p:sp>
      <p:sp>
        <p:nvSpPr>
          <p:cNvPr id="26" name="TextBox 25"/>
          <p:cNvSpPr txBox="1"/>
          <p:nvPr/>
        </p:nvSpPr>
        <p:spPr>
          <a:xfrm>
            <a:off x="9921240" y="2743200"/>
            <a:ext cx="1554480" cy="2286000"/>
          </a:xfrm>
          <a:prstGeom prst="rect">
            <a:avLst/>
          </a:prstGeom>
          <a:noFill/>
        </p:spPr>
        <p:txBody>
          <a:bodyPr wrap="square">
            <a:spAutoFit/>
          </a:bodyPr>
          <a:lstStyle/>
          <a:p>
            <a:pPr algn="ctr"/>
            <a:r>
              <a:rPr sz="1100" b="0">
                <a:solidFill>
                  <a:srgbClr val="FFFFFF"/>
                </a:solidFill>
                <a:latin typeface="Calibri"/>
              </a:rPr>
              <a:t>Post-go-live
support,
monitoring,
bug fixes,
knowledge
transfer</a:t>
            </a:r>
          </a:p>
        </p:txBody>
      </p:sp>
      <p:sp>
        <p:nvSpPr>
          <p:cNvPr id="27" name="TextBox 26"/>
          <p:cNvSpPr txBox="1"/>
          <p:nvPr/>
        </p:nvSpPr>
        <p:spPr>
          <a:xfrm>
            <a:off x="2103120" y="3200400"/>
            <a:ext cx="365760" cy="365760"/>
          </a:xfrm>
          <a:prstGeom prst="rect">
            <a:avLst/>
          </a:prstGeom>
          <a:noFill/>
        </p:spPr>
        <p:txBody>
          <a:bodyPr wrap="square">
            <a:spAutoFit/>
          </a:bodyPr>
          <a:lstStyle/>
          <a:p>
            <a:pPr algn="ctr"/>
            <a:r>
              <a:rPr sz="2000" b="0">
                <a:solidFill>
                  <a:srgbClr val="9E83F5"/>
                </a:solidFill>
                <a:latin typeface="Calibri"/>
              </a:rPr>
              <a:t>▶</a:t>
            </a:r>
          </a:p>
        </p:txBody>
      </p:sp>
      <p:sp>
        <p:nvSpPr>
          <p:cNvPr id="28" name="TextBox 27"/>
          <p:cNvSpPr txBox="1"/>
          <p:nvPr/>
        </p:nvSpPr>
        <p:spPr>
          <a:xfrm>
            <a:off x="3977640" y="3200400"/>
            <a:ext cx="365760" cy="365760"/>
          </a:xfrm>
          <a:prstGeom prst="rect">
            <a:avLst/>
          </a:prstGeom>
          <a:noFill/>
        </p:spPr>
        <p:txBody>
          <a:bodyPr wrap="square">
            <a:spAutoFit/>
          </a:bodyPr>
          <a:lstStyle/>
          <a:p>
            <a:pPr algn="ctr"/>
            <a:r>
              <a:rPr sz="2000" b="0">
                <a:solidFill>
                  <a:srgbClr val="9E83F5"/>
                </a:solidFill>
                <a:latin typeface="Calibri"/>
              </a:rPr>
              <a:t>▶</a:t>
            </a:r>
          </a:p>
        </p:txBody>
      </p:sp>
      <p:sp>
        <p:nvSpPr>
          <p:cNvPr id="29" name="TextBox 28"/>
          <p:cNvSpPr txBox="1"/>
          <p:nvPr/>
        </p:nvSpPr>
        <p:spPr>
          <a:xfrm>
            <a:off x="5852160" y="3200400"/>
            <a:ext cx="365760" cy="365760"/>
          </a:xfrm>
          <a:prstGeom prst="rect">
            <a:avLst/>
          </a:prstGeom>
          <a:noFill/>
        </p:spPr>
        <p:txBody>
          <a:bodyPr wrap="square">
            <a:spAutoFit/>
          </a:bodyPr>
          <a:lstStyle/>
          <a:p>
            <a:pPr algn="ctr"/>
            <a:r>
              <a:rPr sz="2000" b="0">
                <a:solidFill>
                  <a:srgbClr val="9E83F5"/>
                </a:solidFill>
                <a:latin typeface="Calibri"/>
              </a:rPr>
              <a:t>▶</a:t>
            </a:r>
          </a:p>
        </p:txBody>
      </p:sp>
      <p:sp>
        <p:nvSpPr>
          <p:cNvPr id="30" name="TextBox 29"/>
          <p:cNvSpPr txBox="1"/>
          <p:nvPr/>
        </p:nvSpPr>
        <p:spPr>
          <a:xfrm>
            <a:off x="7726680" y="3200400"/>
            <a:ext cx="365760" cy="365760"/>
          </a:xfrm>
          <a:prstGeom prst="rect">
            <a:avLst/>
          </a:prstGeom>
          <a:noFill/>
        </p:spPr>
        <p:txBody>
          <a:bodyPr wrap="square">
            <a:spAutoFit/>
          </a:bodyPr>
          <a:lstStyle/>
          <a:p>
            <a:pPr algn="ctr"/>
            <a:r>
              <a:rPr sz="2000" b="0">
                <a:solidFill>
                  <a:srgbClr val="9E83F5"/>
                </a:solidFill>
                <a:latin typeface="Calibri"/>
              </a:rPr>
              <a:t>▶</a:t>
            </a:r>
          </a:p>
        </p:txBody>
      </p:sp>
      <p:sp>
        <p:nvSpPr>
          <p:cNvPr id="31" name="TextBox 30"/>
          <p:cNvSpPr txBox="1"/>
          <p:nvPr/>
        </p:nvSpPr>
        <p:spPr>
          <a:xfrm>
            <a:off x="9601200" y="3200400"/>
            <a:ext cx="365760" cy="365760"/>
          </a:xfrm>
          <a:prstGeom prst="rect">
            <a:avLst/>
          </a:prstGeom>
          <a:noFill/>
        </p:spPr>
        <p:txBody>
          <a:bodyPr wrap="square">
            <a:spAutoFit/>
          </a:bodyPr>
          <a:lstStyle/>
          <a:p>
            <a:pPr algn="ctr"/>
            <a:r>
              <a:rPr sz="2000" b="0">
                <a:solidFill>
                  <a:srgbClr val="9E83F5"/>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 Project Auto-Creation</a:t>
            </a:r>
          </a:p>
        </p:txBody>
      </p:sp>
      <p:sp>
        <p:nvSpPr>
          <p:cNvPr id="3" name="Content Placeholder 2"/>
          <p:cNvSpPr>
            <a:spLocks noGrp="1"/>
          </p:cNvSpPr>
          <p:nvPr>
            <p:ph idx="17" sz="quarter"/>
          </p:nvPr>
        </p:nvSpPr>
        <p:spPr/>
        <p:txBody>
          <a:bodyPr/>
          <a:lstStyle/>
          <a:p>
            <a:pPr>
              <a:spcAft>
                <a:spcPts val="400"/>
              </a:spcAft>
            </a:pPr>
            <a:r>
              <a:rPr sz="1300" b="1">
                <a:solidFill>
                  <a:srgbClr val="000000"/>
                </a:solidFill>
                <a:latin typeface="Calibri"/>
              </a:rPr>
              <a:t>Project: </a:t>
            </a:r>
            <a:r>
              <a:rPr sz="1300" b="0">
                <a:solidFill>
                  <a:srgbClr val="000000"/>
                </a:solidFill>
                <a:latin typeface="Calibri"/>
              </a:rPr>
              <a:t>Auto-creates Linear project under team Rihm with engagement-specific name and description</a:t>
            </a:r>
          </a:p>
          <a:p>
            <a:pPr>
              <a:spcAft>
                <a:spcPts val="400"/>
              </a:spcAft>
            </a:pPr>
            <a:r>
              <a:rPr sz="1300" b="1">
                <a:solidFill>
                  <a:srgbClr val="000000"/>
                </a:solidFill>
                <a:latin typeface="Calibri"/>
              </a:rPr>
              <a:t>Milestones: </a:t>
            </a:r>
            <a:r>
              <a:rPr sz="1300" b="0">
                <a:solidFill>
                  <a:srgbClr val="000000"/>
                </a:solidFill>
                <a:latin typeface="Calibri"/>
              </a:rPr>
              <a:t>Entry-point-specific milestone structure (e.g., Greenfield: Discovery → Design → Build → Test → Deploy → Go-Live → Hypercare)</a:t>
            </a:r>
          </a:p>
          <a:p>
            <a:pPr>
              <a:spcAft>
                <a:spcPts val="400"/>
              </a:spcAft>
            </a:pPr>
            <a:r>
              <a:rPr sz="1300" b="1">
                <a:solidFill>
                  <a:srgbClr val="000000"/>
                </a:solidFill>
                <a:latin typeface="Calibri"/>
              </a:rPr>
              <a:t>Cycles: </a:t>
            </a:r>
            <a:r>
              <a:rPr sz="1300" b="0">
                <a:solidFill>
                  <a:srgbClr val="000000"/>
                </a:solidFill>
                <a:latin typeface="Calibri"/>
              </a:rPr>
              <a:t>2-week sprint cycles aligned to the engagement timeline with automatic cycle creation</a:t>
            </a:r>
          </a:p>
          <a:p>
            <a:pPr>
              <a:spcAft>
                <a:spcPts val="400"/>
              </a:spcAft>
            </a:pPr>
            <a:r>
              <a:rPr sz="1300" b="1">
                <a:solidFill>
                  <a:srgbClr val="000000"/>
                </a:solidFill>
                <a:latin typeface="Calibri"/>
              </a:rPr>
              <a:t>Issues: </a:t>
            </a:r>
            <a:r>
              <a:rPr sz="1300" b="0">
                <a:solidFill>
                  <a:srgbClr val="000000"/>
                </a:solidFill>
                <a:latin typeface="Calibri"/>
              </a:rPr>
              <a:t>Starter issues derived from interview answers, assigned to Michael Rihm with appropriate priority</a:t>
            </a:r>
          </a:p>
          <a:p>
            <a:pPr>
              <a:spcAft>
                <a:spcPts val="400"/>
              </a:spcAft>
            </a:pPr>
            <a:r>
              <a:rPr sz="1300" b="1">
                <a:solidFill>
                  <a:srgbClr val="000000"/>
                </a:solidFill>
                <a:latin typeface="Calibri"/>
              </a:rPr>
              <a:t>Labels: </a:t>
            </a:r>
            <a:r>
              <a:rPr sz="1300" b="0">
                <a:solidFill>
                  <a:srgbClr val="000000"/>
                </a:solidFill>
                <a:latin typeface="Calibri"/>
              </a:rPr>
              <a:t>Uses existing team labels for categorization (feature, bug, enhancement, documentation)</a:t>
            </a:r>
          </a:p>
          <a:p>
            <a:pPr>
              <a:spcAft>
                <a:spcPts val="400"/>
              </a:spcAft>
            </a:pPr>
            <a:r>
              <a:rPr sz="1300" b="1">
                <a:solidFill>
                  <a:srgbClr val="000000"/>
                </a:solidFill>
                <a:latin typeface="Calibri"/>
              </a:rPr>
              <a:t>Integration: </a:t>
            </a:r>
            <a:r>
              <a:rPr sz="1300" b="0">
                <a:solidFill>
                  <a:srgbClr val="000000"/>
                </a:solidFill>
                <a:latin typeface="Calibri"/>
              </a:rPr>
              <a:t>Full bi-directional sync — Claude Code can create, update, and query issues via Linear MCP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Salesforce Product Coverage</a:t>
            </a:r>
          </a:p>
        </p:txBody>
      </p:sp>
      <p:sp>
        <p:nvSpPr>
          <p:cNvPr id="3" name="Rectangle 2"/>
          <p:cNvSpPr/>
          <p:nvPr/>
        </p:nvSpPr>
        <p:spPr>
          <a:xfrm>
            <a:off x="731520" y="1463040"/>
            <a:ext cx="3291840" cy="137160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00200"/>
            <a:ext cx="3017520" cy="365760"/>
          </a:xfrm>
          <a:prstGeom prst="rect">
            <a:avLst/>
          </a:prstGeom>
          <a:noFill/>
        </p:spPr>
        <p:txBody>
          <a:bodyPr wrap="square">
            <a:spAutoFit/>
          </a:bodyPr>
          <a:lstStyle/>
          <a:p>
            <a:pPr algn="ctr"/>
            <a:r>
              <a:rPr sz="1500" b="1">
                <a:solidFill>
                  <a:srgbClr val="FFFFFF"/>
                </a:solidFill>
                <a:latin typeface="Calibri"/>
              </a:rPr>
              <a:t>Sales Cloud</a:t>
            </a:r>
          </a:p>
        </p:txBody>
      </p:sp>
      <p:sp>
        <p:nvSpPr>
          <p:cNvPr id="5" name="TextBox 4"/>
          <p:cNvSpPr txBox="1"/>
          <p:nvPr/>
        </p:nvSpPr>
        <p:spPr>
          <a:xfrm>
            <a:off x="868680" y="2011680"/>
            <a:ext cx="3017520" cy="731520"/>
          </a:xfrm>
          <a:prstGeom prst="rect">
            <a:avLst/>
          </a:prstGeom>
          <a:noFill/>
        </p:spPr>
        <p:txBody>
          <a:bodyPr wrap="square">
            <a:spAutoFit/>
          </a:bodyPr>
          <a:lstStyle/>
          <a:p>
            <a:pPr algn="ctr"/>
            <a:r>
              <a:rPr sz="1100" b="0">
                <a:solidFill>
                  <a:srgbClr val="FFFFFF"/>
                </a:solidFill>
                <a:latin typeface="Calibri"/>
              </a:rPr>
              <a:t>Lead, Account, Opportunity
Territory, Forecasting</a:t>
            </a:r>
          </a:p>
        </p:txBody>
      </p:sp>
      <p:sp>
        <p:nvSpPr>
          <p:cNvPr id="6" name="Rectangle 5"/>
          <p:cNvSpPr/>
          <p:nvPr/>
        </p:nvSpPr>
        <p:spPr>
          <a:xfrm>
            <a:off x="4297680" y="1463040"/>
            <a:ext cx="3291840" cy="13716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600200"/>
            <a:ext cx="3017520" cy="365760"/>
          </a:xfrm>
          <a:prstGeom prst="rect">
            <a:avLst/>
          </a:prstGeom>
          <a:noFill/>
        </p:spPr>
        <p:txBody>
          <a:bodyPr wrap="square">
            <a:spAutoFit/>
          </a:bodyPr>
          <a:lstStyle/>
          <a:p>
            <a:pPr algn="ctr"/>
            <a:r>
              <a:rPr sz="1500" b="1">
                <a:solidFill>
                  <a:srgbClr val="FFFFFF"/>
                </a:solidFill>
                <a:latin typeface="Calibri"/>
              </a:rPr>
              <a:t>Service Cloud</a:t>
            </a:r>
          </a:p>
        </p:txBody>
      </p:sp>
      <p:sp>
        <p:nvSpPr>
          <p:cNvPr id="8" name="TextBox 7"/>
          <p:cNvSpPr txBox="1"/>
          <p:nvPr/>
        </p:nvSpPr>
        <p:spPr>
          <a:xfrm>
            <a:off x="4434840" y="2011680"/>
            <a:ext cx="3017520" cy="731520"/>
          </a:xfrm>
          <a:prstGeom prst="rect">
            <a:avLst/>
          </a:prstGeom>
          <a:noFill/>
        </p:spPr>
        <p:txBody>
          <a:bodyPr wrap="square">
            <a:spAutoFit/>
          </a:bodyPr>
          <a:lstStyle/>
          <a:p>
            <a:pPr algn="ctr"/>
            <a:r>
              <a:rPr sz="1100" b="0">
                <a:solidFill>
                  <a:srgbClr val="FFFFFF"/>
                </a:solidFill>
                <a:latin typeface="Calibri"/>
              </a:rPr>
              <a:t>Case, Entitlement, Knowledge
Omni-Channel, Chatbots</a:t>
            </a:r>
          </a:p>
        </p:txBody>
      </p:sp>
      <p:sp>
        <p:nvSpPr>
          <p:cNvPr id="9" name="Rectangle 8"/>
          <p:cNvSpPr/>
          <p:nvPr/>
        </p:nvSpPr>
        <p:spPr>
          <a:xfrm>
            <a:off x="7863840" y="1463040"/>
            <a:ext cx="3291840" cy="13716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600200"/>
            <a:ext cx="3017520" cy="365760"/>
          </a:xfrm>
          <a:prstGeom prst="rect">
            <a:avLst/>
          </a:prstGeom>
          <a:noFill/>
        </p:spPr>
        <p:txBody>
          <a:bodyPr wrap="square">
            <a:spAutoFit/>
          </a:bodyPr>
          <a:lstStyle/>
          <a:p>
            <a:pPr algn="ctr"/>
            <a:r>
              <a:rPr sz="1500" b="1">
                <a:solidFill>
                  <a:srgbClr val="FFFFFF"/>
                </a:solidFill>
                <a:latin typeface="Calibri"/>
              </a:rPr>
              <a:t>Experience Cloud</a:t>
            </a:r>
          </a:p>
        </p:txBody>
      </p:sp>
      <p:sp>
        <p:nvSpPr>
          <p:cNvPr id="11" name="TextBox 10"/>
          <p:cNvSpPr txBox="1"/>
          <p:nvPr/>
        </p:nvSpPr>
        <p:spPr>
          <a:xfrm>
            <a:off x="8001000" y="2011680"/>
            <a:ext cx="3017520" cy="731520"/>
          </a:xfrm>
          <a:prstGeom prst="rect">
            <a:avLst/>
          </a:prstGeom>
          <a:noFill/>
        </p:spPr>
        <p:txBody>
          <a:bodyPr wrap="square">
            <a:spAutoFit/>
          </a:bodyPr>
          <a:lstStyle/>
          <a:p>
            <a:pPr algn="ctr"/>
            <a:r>
              <a:rPr sz="1100" b="0">
                <a:solidFill>
                  <a:srgbClr val="FFFFFF"/>
                </a:solidFill>
                <a:latin typeface="Calibri"/>
              </a:rPr>
              <a:t>Customer/Partner Portals
SSO, Custom Themes</a:t>
            </a:r>
          </a:p>
        </p:txBody>
      </p:sp>
      <p:sp>
        <p:nvSpPr>
          <p:cNvPr id="12" name="Rectangle 11"/>
          <p:cNvSpPr/>
          <p:nvPr/>
        </p:nvSpPr>
        <p:spPr>
          <a:xfrm>
            <a:off x="731520" y="3017520"/>
            <a:ext cx="3291840" cy="137160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154680"/>
            <a:ext cx="3017520" cy="365760"/>
          </a:xfrm>
          <a:prstGeom prst="rect">
            <a:avLst/>
          </a:prstGeom>
          <a:noFill/>
        </p:spPr>
        <p:txBody>
          <a:bodyPr wrap="square">
            <a:spAutoFit/>
          </a:bodyPr>
          <a:lstStyle/>
          <a:p>
            <a:pPr algn="ctr"/>
            <a:r>
              <a:rPr sz="1500" b="1">
                <a:solidFill>
                  <a:srgbClr val="FFFFFF"/>
                </a:solidFill>
                <a:latin typeface="Calibri"/>
              </a:rPr>
              <a:t>Marketing Cloud</a:t>
            </a:r>
          </a:p>
        </p:txBody>
      </p:sp>
      <p:sp>
        <p:nvSpPr>
          <p:cNvPr id="14" name="TextBox 13"/>
          <p:cNvSpPr txBox="1"/>
          <p:nvPr/>
        </p:nvSpPr>
        <p:spPr>
          <a:xfrm>
            <a:off x="868680" y="3566160"/>
            <a:ext cx="3017520" cy="731520"/>
          </a:xfrm>
          <a:prstGeom prst="rect">
            <a:avLst/>
          </a:prstGeom>
          <a:noFill/>
        </p:spPr>
        <p:txBody>
          <a:bodyPr wrap="square">
            <a:spAutoFit/>
          </a:bodyPr>
          <a:lstStyle/>
          <a:p>
            <a:pPr algn="ctr"/>
            <a:r>
              <a:rPr sz="1100" b="0">
                <a:solidFill>
                  <a:srgbClr val="FFFFFF"/>
                </a:solidFill>
                <a:latin typeface="Calibri"/>
              </a:rPr>
              <a:t>Journey Builder, Email
Audience Segmentation</a:t>
            </a:r>
          </a:p>
        </p:txBody>
      </p:sp>
      <p:sp>
        <p:nvSpPr>
          <p:cNvPr id="15" name="Rectangle 14"/>
          <p:cNvSpPr/>
          <p:nvPr/>
        </p:nvSpPr>
        <p:spPr>
          <a:xfrm>
            <a:off x="4297680" y="3017520"/>
            <a:ext cx="3291840" cy="13716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154680"/>
            <a:ext cx="3017520" cy="365760"/>
          </a:xfrm>
          <a:prstGeom prst="rect">
            <a:avLst/>
          </a:prstGeom>
          <a:noFill/>
        </p:spPr>
        <p:txBody>
          <a:bodyPr wrap="square">
            <a:spAutoFit/>
          </a:bodyPr>
          <a:lstStyle/>
          <a:p>
            <a:pPr algn="ctr"/>
            <a:r>
              <a:rPr sz="1500" b="1">
                <a:solidFill>
                  <a:srgbClr val="FFFFFF"/>
                </a:solidFill>
                <a:latin typeface="Calibri"/>
              </a:rPr>
              <a:t>Data Cloud</a:t>
            </a:r>
          </a:p>
        </p:txBody>
      </p:sp>
      <p:sp>
        <p:nvSpPr>
          <p:cNvPr id="17" name="TextBox 16"/>
          <p:cNvSpPr txBox="1"/>
          <p:nvPr/>
        </p:nvSpPr>
        <p:spPr>
          <a:xfrm>
            <a:off x="4434840" y="3566160"/>
            <a:ext cx="3017520" cy="731520"/>
          </a:xfrm>
          <a:prstGeom prst="rect">
            <a:avLst/>
          </a:prstGeom>
          <a:noFill/>
        </p:spPr>
        <p:txBody>
          <a:bodyPr wrap="square">
            <a:spAutoFit/>
          </a:bodyPr>
          <a:lstStyle/>
          <a:p>
            <a:pPr algn="ctr"/>
            <a:r>
              <a:rPr sz="1100" b="0">
                <a:solidFill>
                  <a:srgbClr val="FFFFFF"/>
                </a:solidFill>
                <a:latin typeface="Calibri"/>
              </a:rPr>
              <a:t>Data Streams, DMOs
Identity Resolution</a:t>
            </a:r>
          </a:p>
        </p:txBody>
      </p:sp>
      <p:sp>
        <p:nvSpPr>
          <p:cNvPr id="18" name="Rectangle 17"/>
          <p:cNvSpPr/>
          <p:nvPr/>
        </p:nvSpPr>
        <p:spPr>
          <a:xfrm>
            <a:off x="7863840" y="3017520"/>
            <a:ext cx="3291840" cy="13716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154680"/>
            <a:ext cx="3017520" cy="365760"/>
          </a:xfrm>
          <a:prstGeom prst="rect">
            <a:avLst/>
          </a:prstGeom>
          <a:noFill/>
        </p:spPr>
        <p:txBody>
          <a:bodyPr wrap="square">
            <a:spAutoFit/>
          </a:bodyPr>
          <a:lstStyle/>
          <a:p>
            <a:pPr algn="ctr"/>
            <a:r>
              <a:rPr sz="1500" b="1">
                <a:solidFill>
                  <a:srgbClr val="FFFFFF"/>
                </a:solidFill>
                <a:latin typeface="Calibri"/>
              </a:rPr>
              <a:t>Revenue Cloud / CPQ</a:t>
            </a:r>
          </a:p>
        </p:txBody>
      </p:sp>
      <p:sp>
        <p:nvSpPr>
          <p:cNvPr id="20" name="TextBox 19"/>
          <p:cNvSpPr txBox="1"/>
          <p:nvPr/>
        </p:nvSpPr>
        <p:spPr>
          <a:xfrm>
            <a:off x="8001000" y="3566160"/>
            <a:ext cx="3017520" cy="731520"/>
          </a:xfrm>
          <a:prstGeom prst="rect">
            <a:avLst/>
          </a:prstGeom>
          <a:noFill/>
        </p:spPr>
        <p:txBody>
          <a:bodyPr wrap="square">
            <a:spAutoFit/>
          </a:bodyPr>
          <a:lstStyle/>
          <a:p>
            <a:pPr algn="ctr"/>
            <a:r>
              <a:rPr sz="1100" b="0">
                <a:solidFill>
                  <a:srgbClr val="FFFFFF"/>
                </a:solidFill>
                <a:latin typeface="Calibri"/>
              </a:rPr>
              <a:t>Quotes, Product Bundles
Pricing, Approvals</a:t>
            </a:r>
          </a:p>
        </p:txBody>
      </p:sp>
      <p:sp>
        <p:nvSpPr>
          <p:cNvPr id="21" name="Rectangle 20"/>
          <p:cNvSpPr/>
          <p:nvPr/>
        </p:nvSpPr>
        <p:spPr>
          <a:xfrm>
            <a:off x="731520" y="4572000"/>
            <a:ext cx="3291840" cy="1371600"/>
          </a:xfrm>
          <a:prstGeom prst="rect">
            <a:avLst/>
          </a:prstGeom>
          <a:solidFill>
            <a:srgbClr val="523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709160"/>
            <a:ext cx="3017520" cy="365760"/>
          </a:xfrm>
          <a:prstGeom prst="rect">
            <a:avLst/>
          </a:prstGeom>
          <a:noFill/>
        </p:spPr>
        <p:txBody>
          <a:bodyPr wrap="square">
            <a:spAutoFit/>
          </a:bodyPr>
          <a:lstStyle/>
          <a:p>
            <a:pPr algn="ctr"/>
            <a:r>
              <a:rPr sz="1500" b="1">
                <a:solidFill>
                  <a:srgbClr val="FFFFFF"/>
                </a:solidFill>
                <a:latin typeface="Calibri"/>
              </a:rPr>
              <a:t>Industries / OmniStudio</a:t>
            </a:r>
          </a:p>
        </p:txBody>
      </p:sp>
      <p:sp>
        <p:nvSpPr>
          <p:cNvPr id="23" name="TextBox 22"/>
          <p:cNvSpPr txBox="1"/>
          <p:nvPr/>
        </p:nvSpPr>
        <p:spPr>
          <a:xfrm>
            <a:off x="868680" y="5120640"/>
            <a:ext cx="3017520" cy="731520"/>
          </a:xfrm>
          <a:prstGeom prst="rect">
            <a:avLst/>
          </a:prstGeom>
          <a:noFill/>
        </p:spPr>
        <p:txBody>
          <a:bodyPr wrap="square">
            <a:spAutoFit/>
          </a:bodyPr>
          <a:lstStyle/>
          <a:p>
            <a:pPr algn="ctr"/>
            <a:r>
              <a:rPr sz="1100" b="0">
                <a:solidFill>
                  <a:srgbClr val="FFFFFF"/>
                </a:solidFill>
                <a:latin typeface="Calibri"/>
              </a:rPr>
              <a:t>OmniScript, FlexCards
DataRaptors, IPs</a:t>
            </a:r>
          </a:p>
        </p:txBody>
      </p:sp>
      <p:sp>
        <p:nvSpPr>
          <p:cNvPr id="24" name="Rectangle 23"/>
          <p:cNvSpPr/>
          <p:nvPr/>
        </p:nvSpPr>
        <p:spPr>
          <a:xfrm>
            <a:off x="4297680" y="4572000"/>
            <a:ext cx="3291840" cy="1371600"/>
          </a:xfrm>
          <a:prstGeom prst="rect">
            <a:avLst/>
          </a:prstGeom>
          <a:solidFill>
            <a:srgbClr val="200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4709160"/>
            <a:ext cx="3017520" cy="365760"/>
          </a:xfrm>
          <a:prstGeom prst="rect">
            <a:avLst/>
          </a:prstGeom>
          <a:noFill/>
        </p:spPr>
        <p:txBody>
          <a:bodyPr wrap="square">
            <a:spAutoFit/>
          </a:bodyPr>
          <a:lstStyle/>
          <a:p>
            <a:pPr algn="ctr"/>
            <a:r>
              <a:rPr sz="1500" b="1">
                <a:solidFill>
                  <a:srgbClr val="FFFFFF"/>
                </a:solidFill>
                <a:latin typeface="Calibri"/>
              </a:rPr>
              <a:t>MuleSoft</a:t>
            </a:r>
          </a:p>
        </p:txBody>
      </p:sp>
      <p:sp>
        <p:nvSpPr>
          <p:cNvPr id="26" name="TextBox 25"/>
          <p:cNvSpPr txBox="1"/>
          <p:nvPr/>
        </p:nvSpPr>
        <p:spPr>
          <a:xfrm>
            <a:off x="4434840" y="5120640"/>
            <a:ext cx="3017520" cy="731520"/>
          </a:xfrm>
          <a:prstGeom prst="rect">
            <a:avLst/>
          </a:prstGeom>
          <a:noFill/>
        </p:spPr>
        <p:txBody>
          <a:bodyPr wrap="square">
            <a:spAutoFit/>
          </a:bodyPr>
          <a:lstStyle/>
          <a:p>
            <a:pPr algn="ctr"/>
            <a:r>
              <a:rPr sz="1100" b="0">
                <a:solidFill>
                  <a:srgbClr val="FFFFFF"/>
                </a:solidFill>
                <a:latin typeface="Calibri"/>
              </a:rPr>
              <a:t>API Management
CloudHub, DataWeave</a:t>
            </a:r>
          </a:p>
        </p:txBody>
      </p:sp>
      <p:sp>
        <p:nvSpPr>
          <p:cNvPr id="27" name="Rectangle 26"/>
          <p:cNvSpPr/>
          <p:nvPr/>
        </p:nvSpPr>
        <p:spPr>
          <a:xfrm>
            <a:off x="7863840" y="4572000"/>
            <a:ext cx="3291840" cy="1371600"/>
          </a:xfrm>
          <a:prstGeom prst="rect">
            <a:avLst/>
          </a:prstGeom>
          <a:solidFill>
            <a:srgbClr val="6E3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4709160"/>
            <a:ext cx="3017520" cy="365760"/>
          </a:xfrm>
          <a:prstGeom prst="rect">
            <a:avLst/>
          </a:prstGeom>
          <a:noFill/>
        </p:spPr>
        <p:txBody>
          <a:bodyPr wrap="square">
            <a:spAutoFit/>
          </a:bodyPr>
          <a:lstStyle/>
          <a:p>
            <a:pPr algn="ctr"/>
            <a:r>
              <a:rPr sz="1500" b="1">
                <a:solidFill>
                  <a:srgbClr val="FFFFFF"/>
                </a:solidFill>
                <a:latin typeface="Calibri"/>
              </a:rPr>
              <a:t>Tableau</a:t>
            </a:r>
          </a:p>
        </p:txBody>
      </p:sp>
      <p:sp>
        <p:nvSpPr>
          <p:cNvPr id="29" name="TextBox 28"/>
          <p:cNvSpPr txBox="1"/>
          <p:nvPr/>
        </p:nvSpPr>
        <p:spPr>
          <a:xfrm>
            <a:off x="8001000" y="5120640"/>
            <a:ext cx="3017520" cy="731520"/>
          </a:xfrm>
          <a:prstGeom prst="rect">
            <a:avLst/>
          </a:prstGeom>
          <a:noFill/>
        </p:spPr>
        <p:txBody>
          <a:bodyPr wrap="square">
            <a:spAutoFit/>
          </a:bodyPr>
          <a:lstStyle/>
          <a:p>
            <a:pPr algn="ctr"/>
            <a:r>
              <a:rPr sz="1100" b="0">
                <a:solidFill>
                  <a:srgbClr val="FFFFFF"/>
                </a:solidFill>
                <a:latin typeface="Calibri"/>
              </a:rPr>
              <a:t>Dashboards, Datasets
Embedded Analytics</a:t>
            </a:r>
          </a:p>
        </p:txBody>
      </p:sp>
      <p:sp>
        <p:nvSpPr>
          <p:cNvPr id="30" name="TextBox 29"/>
          <p:cNvSpPr txBox="1"/>
          <p:nvPr/>
        </p:nvSpPr>
        <p:spPr>
          <a:xfrm>
            <a:off x="731520" y="6217920"/>
            <a:ext cx="10058400" cy="365760"/>
          </a:xfrm>
          <a:prstGeom prst="rect">
            <a:avLst/>
          </a:prstGeom>
          <a:noFill/>
        </p:spPr>
        <p:txBody>
          <a:bodyPr wrap="square">
            <a:spAutoFit/>
          </a:bodyPr>
          <a:lstStyle/>
          <a:p>
            <a:pPr algn="ctr"/>
            <a:r>
              <a:rPr sz="1200" b="0">
                <a:solidFill>
                  <a:srgbClr val="555555"/>
                </a:solidFill>
                <a:latin typeface="Calibri"/>
              </a:rPr>
              <a:t>Each product has targeted interview questions and product-specific scaffolding in the skill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Salesforce Well-Architected Integration</a:t>
            </a:r>
          </a:p>
        </p:txBody>
      </p:sp>
      <p:sp>
        <p:nvSpPr>
          <p:cNvPr id="3" name="Text Placeholder 2"/>
          <p:cNvSpPr>
            <a:spLocks noGrp="1"/>
          </p:cNvSpPr>
          <p:nvPr>
            <p:ph type="body" idx="10" sz="quarter"/>
          </p:nvPr>
        </p:nvSpPr>
        <p:spPr/>
        <p:txBody>
          <a:bodyPr/>
          <a:lstStyle/>
          <a:p>
            <a:r>
              <a:rPr sz="1800" b="1">
                <a:solidFill>
                  <a:srgbClr val="5236AB"/>
                </a:solidFill>
              </a:rPr>
              <a:t>Trusted</a:t>
            </a:r>
          </a:p>
        </p:txBody>
      </p:sp>
      <p:sp>
        <p:nvSpPr>
          <p:cNvPr id="4" name="Content Placeholder 3"/>
          <p:cNvSpPr>
            <a:spLocks noGrp="1"/>
          </p:cNvSpPr>
          <p:nvPr>
            <p:ph idx="20" sz="quarter"/>
          </p:nvPr>
        </p:nvSpPr>
        <p:spPr/>
        <p:txBody>
          <a:bodyPr/>
          <a:lstStyle/>
          <a:p>
            <a:pPr>
              <a:spcAft>
                <a:spcPts val="400"/>
              </a:spcAft>
            </a:pPr>
            <a:r>
              <a:rPr sz="1200" b="0">
                <a:solidFill>
                  <a:srgbClr val="000000"/>
                </a:solidFill>
                <a:latin typeface="Calibri"/>
              </a:rPr>
              <a:t>CRUD/FLS on every query</a:t>
            </a:r>
          </a:p>
          <a:p>
            <a:pPr>
              <a:spcAft>
                <a:spcPts val="400"/>
              </a:spcAft>
            </a:pPr>
            <a:r>
              <a:rPr sz="1200" b="0">
                <a:solidFill>
                  <a:srgbClr val="000000"/>
                </a:solidFill>
                <a:latin typeface="Calibri"/>
              </a:rPr>
              <a:t>Default with sharing</a:t>
            </a:r>
          </a:p>
          <a:p>
            <a:pPr>
              <a:spcAft>
                <a:spcPts val="400"/>
              </a:spcAft>
            </a:pPr>
            <a:r>
              <a:rPr sz="1200" b="0">
                <a:solidFill>
                  <a:srgbClr val="000000"/>
                </a:solidFill>
                <a:latin typeface="Calibri"/>
              </a:rPr>
              <a:t>Named Credentials for secrets</a:t>
            </a:r>
          </a:p>
          <a:p>
            <a:pPr>
              <a:spcAft>
                <a:spcPts val="400"/>
              </a:spcAft>
            </a:pPr>
            <a:r>
              <a:rPr sz="1200" b="0">
                <a:solidFill>
                  <a:srgbClr val="000000"/>
                </a:solidFill>
                <a:latin typeface="Calibri"/>
              </a:rPr>
              <a:t>Data classification</a:t>
            </a:r>
          </a:p>
          <a:p>
            <a:pPr>
              <a:spcAft>
                <a:spcPts val="400"/>
              </a:spcAft>
            </a:pPr>
            <a:r>
              <a:rPr sz="1200" b="0">
                <a:solidFill>
                  <a:srgbClr val="000000"/>
                </a:solidFill>
                <a:latin typeface="Calibri"/>
              </a:rPr>
              <a:t>Platform Encryption for PII</a:t>
            </a:r>
          </a:p>
          <a:p>
            <a:pPr>
              <a:spcAft>
                <a:spcPts val="400"/>
              </a:spcAft>
            </a:pPr>
            <a:r>
              <a:rPr sz="1200" b="0">
                <a:solidFill>
                  <a:srgbClr val="000000"/>
                </a:solidFill>
                <a:latin typeface="Calibri"/>
              </a:rPr>
              <a:t>Least privilege via Permission Sets</a:t>
            </a:r>
          </a:p>
        </p:txBody>
      </p:sp>
      <p:sp>
        <p:nvSpPr>
          <p:cNvPr id="5" name="Text Placeholder 4"/>
          <p:cNvSpPr>
            <a:spLocks noGrp="1"/>
          </p:cNvSpPr>
          <p:nvPr>
            <p:ph type="body" idx="11" sz="quarter"/>
          </p:nvPr>
        </p:nvSpPr>
        <p:spPr/>
        <p:txBody>
          <a:bodyPr/>
          <a:lstStyle/>
          <a:p>
            <a:r>
              <a:rPr sz="1800" b="1">
                <a:solidFill>
                  <a:srgbClr val="5236AB"/>
                </a:solidFill>
              </a:rPr>
              <a:t>Easy</a:t>
            </a:r>
          </a:p>
        </p:txBody>
      </p:sp>
      <p:sp>
        <p:nvSpPr>
          <p:cNvPr id="6" name="Content Placeholder 5"/>
          <p:cNvSpPr>
            <a:spLocks noGrp="1"/>
          </p:cNvSpPr>
          <p:nvPr>
            <p:ph idx="22" sz="quarter"/>
          </p:nvPr>
        </p:nvSpPr>
        <p:spPr/>
        <p:txBody>
          <a:bodyPr/>
          <a:lstStyle/>
          <a:p>
            <a:pPr>
              <a:spcAft>
                <a:spcPts val="400"/>
              </a:spcAft>
            </a:pPr>
            <a:r>
              <a:rPr sz="1200" b="0">
                <a:solidFill>
                  <a:srgbClr val="000000"/>
                </a:solidFill>
                <a:latin typeface="Calibri"/>
              </a:rPr>
              <a:t>Declarative over code</a:t>
            </a:r>
          </a:p>
          <a:p>
            <a:pPr>
              <a:spcAft>
                <a:spcPts val="400"/>
              </a:spcAft>
            </a:pPr>
            <a:r>
              <a:rPr sz="1200" b="0">
                <a:solidFill>
                  <a:srgbClr val="000000"/>
                </a:solidFill>
                <a:latin typeface="Calibri"/>
              </a:rPr>
              <a:t>SLDS for all custom UI</a:t>
            </a:r>
          </a:p>
          <a:p>
            <a:pPr>
              <a:spcAft>
                <a:spcPts val="400"/>
              </a:spcAft>
            </a:pPr>
            <a:r>
              <a:rPr sz="1200" b="0">
                <a:solidFill>
                  <a:srgbClr val="000000"/>
                </a:solidFill>
                <a:latin typeface="Calibri"/>
              </a:rPr>
              <a:t>WCAG 2.1 AA accessibility</a:t>
            </a:r>
          </a:p>
          <a:p>
            <a:pPr>
              <a:spcAft>
                <a:spcPts val="400"/>
              </a:spcAft>
            </a:pPr>
            <a:r>
              <a:rPr sz="1200" b="0">
                <a:solidFill>
                  <a:srgbClr val="000000"/>
                </a:solidFill>
                <a:latin typeface="Calibri"/>
              </a:rPr>
              <a:t>Self-documenting code</a:t>
            </a:r>
          </a:p>
          <a:p>
            <a:pPr>
              <a:spcAft>
                <a:spcPts val="400"/>
              </a:spcAft>
            </a:pPr>
            <a:r>
              <a:rPr sz="1200" b="0">
                <a:solidFill>
                  <a:srgbClr val="000000"/>
                </a:solidFill>
                <a:latin typeface="Calibri"/>
              </a:rPr>
              <a:t>Admin-maintainable config</a:t>
            </a:r>
          </a:p>
          <a:p>
            <a:pPr>
              <a:spcAft>
                <a:spcPts val="400"/>
              </a:spcAft>
            </a:pPr>
            <a:r>
              <a:rPr sz="1200" b="0">
                <a:solidFill>
                  <a:srgbClr val="000000"/>
                </a:solidFill>
                <a:latin typeface="Calibri"/>
              </a:rPr>
              <a:t>Consolidated automation</a:t>
            </a:r>
          </a:p>
        </p:txBody>
      </p:sp>
      <p:sp>
        <p:nvSpPr>
          <p:cNvPr id="7" name="Text Placeholder 6"/>
          <p:cNvSpPr>
            <a:spLocks noGrp="1"/>
          </p:cNvSpPr>
          <p:nvPr>
            <p:ph type="body" idx="12" sz="quarter"/>
          </p:nvPr>
        </p:nvSpPr>
        <p:spPr/>
        <p:txBody>
          <a:bodyPr/>
          <a:lstStyle/>
          <a:p>
            <a:r>
              <a:rPr sz="1800" b="1">
                <a:solidFill>
                  <a:srgbClr val="5236AB"/>
                </a:solidFill>
              </a:rPr>
              <a:t>Adaptable</a:t>
            </a:r>
          </a:p>
        </p:txBody>
      </p:sp>
      <p:sp>
        <p:nvSpPr>
          <p:cNvPr id="8" name="Content Placeholder 7"/>
          <p:cNvSpPr>
            <a:spLocks noGrp="1"/>
          </p:cNvSpPr>
          <p:nvPr>
            <p:ph idx="23" sz="quarter"/>
          </p:nvPr>
        </p:nvSpPr>
        <p:spPr/>
        <p:txBody>
          <a:bodyPr/>
          <a:lstStyle/>
          <a:p>
            <a:pPr>
              <a:spcAft>
                <a:spcPts val="400"/>
              </a:spcAft>
            </a:pPr>
            <a:r>
              <a:rPr sz="1200" b="0">
                <a:solidFill>
                  <a:srgbClr val="000000"/>
                </a:solidFill>
                <a:latin typeface="Calibri"/>
              </a:rPr>
              <a:t>Bulk design from day one</a:t>
            </a:r>
          </a:p>
          <a:p>
            <a:pPr>
              <a:spcAft>
                <a:spcPts val="400"/>
              </a:spcAft>
            </a:pPr>
            <a:r>
              <a:rPr sz="1200" b="0">
                <a:solidFill>
                  <a:srgbClr val="000000"/>
                </a:solidFill>
                <a:latin typeface="Calibri"/>
              </a:rPr>
              <a:t>Governor limits by design</a:t>
            </a:r>
          </a:p>
          <a:p>
            <a:pPr>
              <a:spcAft>
                <a:spcPts val="400"/>
              </a:spcAft>
            </a:pPr>
            <a:r>
              <a:rPr sz="1200" b="0">
                <a:solidFill>
                  <a:srgbClr val="000000"/>
                </a:solidFill>
                <a:latin typeface="Calibri"/>
              </a:rPr>
              <a:t>Modular architecture</a:t>
            </a:r>
          </a:p>
          <a:p>
            <a:pPr>
              <a:spcAft>
                <a:spcPts val="400"/>
              </a:spcAft>
            </a:pPr>
            <a:r>
              <a:rPr sz="1200" b="0">
                <a:solidFill>
                  <a:srgbClr val="000000"/>
                </a:solidFill>
                <a:latin typeface="Calibri"/>
              </a:rPr>
              <a:t>Custom Metadata config</a:t>
            </a:r>
          </a:p>
          <a:p>
            <a:pPr>
              <a:spcAft>
                <a:spcPts val="400"/>
              </a:spcAft>
            </a:pPr>
            <a:r>
              <a:rPr sz="1200" b="0">
                <a:solidFill>
                  <a:srgbClr val="000000"/>
                </a:solidFill>
                <a:latin typeface="Calibri"/>
              </a:rPr>
              <a:t>API versioning</a:t>
            </a:r>
          </a:p>
          <a:p>
            <a:pPr>
              <a:spcAft>
                <a:spcPts val="400"/>
              </a:spcAft>
            </a:pPr>
            <a:r>
              <a:rPr sz="1200" b="0">
                <a:solidFill>
                  <a:srgbClr val="000000"/>
                </a:solidFill>
                <a:latin typeface="Calibri"/>
              </a:rPr>
              <a:t>Async processing patterns</a:t>
            </a:r>
          </a:p>
        </p:txBody>
      </p:sp>
      <p:sp>
        <p:nvSpPr>
          <p:cNvPr id="9" name="TextBox 8"/>
          <p:cNvSpPr txBox="1"/>
          <p:nvPr/>
        </p:nvSpPr>
        <p:spPr>
          <a:xfrm>
            <a:off x="731520" y="5852160"/>
            <a:ext cx="10058400" cy="457200"/>
          </a:xfrm>
          <a:prstGeom prst="rect">
            <a:avLst/>
          </a:prstGeom>
          <a:noFill/>
        </p:spPr>
        <p:txBody>
          <a:bodyPr wrap="square">
            <a:spAutoFit/>
          </a:bodyPr>
          <a:lstStyle/>
          <a:p>
            <a:pPr algn="ctr"/>
            <a:r>
              <a:rPr sz="1300" b="0">
                <a:solidFill>
                  <a:srgbClr val="555555"/>
                </a:solidFill>
                <a:latin typeface="Calibri"/>
              </a:rPr>
              <a:t>Context7 MCP provides live documentation lookup for current Apex, LWC, and SFDX CLI patterns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a:t>
            </a:r>
          </a:p>
        </p:txBody>
      </p:sp>
      <p:sp>
        <p:nvSpPr>
          <p:cNvPr id="3" name="Content Placeholder 2"/>
          <p:cNvSpPr>
            <a:spLocks noGrp="1"/>
          </p:cNvSpPr>
          <p:nvPr>
            <p:ph idx="17" sz="quarter"/>
          </p:nvPr>
        </p:nvSpPr>
        <p:spPr/>
        <p:txBody>
          <a:bodyPr/>
          <a:lstStyle/>
          <a:p>
            <a:r>
              <a:rPr sz="1500" b="1">
                <a:solidFill>
                  <a:srgbClr val="000000"/>
                </a:solidFill>
              </a:rPr>
              <a:t>Step 1 — Clone the repository:</a:t>
            </a:r>
          </a:p>
          <a:p>
            <a:r>
              <a:rPr sz="1300" b="1">
                <a:solidFill>
                  <a:srgbClr val="5236AB"/>
                </a:solidFill>
                <a:latin typeface="Consolas"/>
              </a:rPr>
              <a:t>    git clone https://github.com/mrihmrihm/sf-consulting-framework.git</a:t>
            </a:r>
          </a:p>
          <a:p>
            <a:r>
              <a:rPr sz="1300">
                <a:solidFill>
                  <a:srgbClr val="555555"/>
                </a:solidFill>
              </a:rPr>
              <a:t/>
            </a:r>
          </a:p>
          <a:p>
            <a:r>
              <a:rPr sz="1500" b="1">
                <a:solidFill>
                  <a:srgbClr val="000000"/>
                </a:solidFill>
              </a:rPr>
              <a:t>Step 2 — Copy the skill to your Claude Code skills directory:</a:t>
            </a:r>
          </a:p>
          <a:p>
            <a:r>
              <a:rPr sz="1300" b="1">
                <a:solidFill>
                  <a:srgbClr val="5236AB"/>
                </a:solidFill>
                <a:latin typeface="Consolas"/>
              </a:rPr>
              <a:t>    cp -r sf-consulting-framework/skill/ ~/.claude/skills/sf-project-init/</a:t>
            </a:r>
          </a:p>
          <a:p>
            <a:r>
              <a:rPr sz="1300">
                <a:solidFill>
                  <a:srgbClr val="555555"/>
                </a:solidFill>
              </a:rPr>
              <a:t/>
            </a:r>
          </a:p>
          <a:p>
            <a:r>
              <a:rPr sz="1500" b="1">
                <a:solidFill>
                  <a:srgbClr val="000000"/>
                </a:solidFill>
              </a:rPr>
              <a:t>Step 3 — Invoke the skill in Claude Code:</a:t>
            </a:r>
          </a:p>
          <a:p>
            <a:r>
              <a:rPr sz="1300" b="1">
                <a:solidFill>
                  <a:srgbClr val="5236AB"/>
                </a:solidFill>
                <a:latin typeface="Consolas"/>
              </a:rPr>
              <a:t>    /sf-project-init</a:t>
            </a:r>
          </a:p>
          <a:p>
            <a:r>
              <a:rPr sz="1300">
                <a:solidFill>
                  <a:srgbClr val="555555"/>
                </a:solidFill>
              </a:rPr>
              <a:t/>
            </a:r>
          </a:p>
          <a:p>
            <a:r>
              <a:rPr sz="1300">
                <a:solidFill>
                  <a:srgbClr val="555555"/>
                </a:solidFill>
              </a:rPr>
              <a:t>The skill will walk you through a structured interview, then scaffold project documentation,</a:t>
            </a:r>
          </a:p>
          <a:p>
            <a:r>
              <a:rPr sz="1300">
                <a:solidFill>
                  <a:srgbClr val="555555"/>
                </a:solidFill>
              </a:rPr>
              <a:t>naming conventions, CI/CD templates, and more — all tailored to the engagement.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Salesforce Consulting Framework</a:t>
            </a:r>
          </a:p>
        </p:txBody>
      </p:sp>
      <p:sp>
        <p:nvSpPr>
          <p:cNvPr id="3" name="TextBox 2"/>
          <p:cNvSpPr txBox="1"/>
          <p:nvPr/>
        </p:nvSpPr>
        <p:spPr>
          <a:xfrm>
            <a:off x="1371600" y="2743200"/>
            <a:ext cx="9144000" cy="3200400"/>
          </a:xfrm>
          <a:prstGeom prst="rect">
            <a:avLst/>
          </a:prstGeom>
          <a:noFill/>
        </p:spPr>
        <p:txBody>
          <a:bodyPr wrap="square">
            <a:spAutoFit/>
          </a:bodyPr>
          <a:lstStyle/>
          <a:p>
            <a:pPr algn="ctr"/>
            <a:r>
              <a:rPr sz="1600" b="0">
                <a:solidFill>
                  <a:srgbClr val="FFFFFF"/>
                </a:solidFill>
                <a:latin typeface="Calibri"/>
              </a:rPr>
              <a:t>Repeatable methodology  •  AI-powered scaffolding  •  Professional deliverables
From discovery to delivery, every engagement starts right.
Next Steps:
1. Install the sf-project-init skill
2. Run /sf-project-init to scaffold your next engagement
3. Share the framework with your practice team</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test" id="{DF41D827-8B6D-0940-A68C-6917A6F85D17}" vid="{539E53E0-8FFD-8044-A077-EE3615A93136}"/>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lcf76f155ced4ddcb4097134ff3c332f xmlns="8b7b9f5f-1e78-43ca-b9fa-4bc4e726914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9B06A1291EAB478CEE040D9CD88093" ma:contentTypeVersion="14" ma:contentTypeDescription="Crée un document." ma:contentTypeScope="" ma:versionID="08fd30cd813519bf3b2485020f27dde8">
  <xsd:schema xmlns:xsd="http://www.w3.org/2001/XMLSchema" xmlns:xs="http://www.w3.org/2001/XMLSchema" xmlns:p="http://schemas.microsoft.com/office/2006/metadata/properties" xmlns:ns2="8b7b9f5f-1e78-43ca-b9fa-4bc4e7269145" xmlns:ns3="d541d1f1-f719-45a6-b9ee-ab70819fd129" targetNamespace="http://schemas.microsoft.com/office/2006/metadata/properties" ma:root="true" ma:fieldsID="eb1442eaa23239aa2b94dfa8faa5018e" ns2:_="" ns3:_="">
    <xsd:import namespace="8b7b9f5f-1e78-43ca-b9fa-4bc4e7269145"/>
    <xsd:import namespace="d541d1f1-f719-45a6-b9ee-ab70819fd12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SearchPropertie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b9f5f-1e78-43ca-b9fa-4bc4e7269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b8b33ce-f9d1-42dd-af72-61acb746de3d"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41d1f1-f719-45a6-b9ee-ab70819fd12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2F4C4F6A-F6A5-45C8-BAAA-52FB70E387C7}">
  <ds:schemaRefs>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8b7b9f5f-1e78-43ca-b9fa-4bc4e7269145"/>
    <ds:schemaRef ds:uri="http://schemas.microsoft.com/office/2006/metadata/properties"/>
    <ds:schemaRef ds:uri="http://schemas.openxmlformats.org/package/2006/metadata/core-properties"/>
    <ds:schemaRef ds:uri="d541d1f1-f719-45a6-b9ee-ab70819fd129"/>
    <ds:schemaRef ds:uri="http://purl.org/dc/dcmitype/"/>
  </ds:schemaRefs>
</ds:datastoreItem>
</file>

<file path=customXml/itemProps3.xml><?xml version="1.0" encoding="utf-8"?>
<ds:datastoreItem xmlns:ds="http://schemas.openxmlformats.org/officeDocument/2006/customXml" ds:itemID="{17F270CB-DEA5-40C0-9B7F-AB596A4DF1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7b9f5f-1e78-43ca-b9fa-4bc4e7269145"/>
    <ds:schemaRef ds:uri="d541d1f1-f719-45a6-b9ee-ab70819fd1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
  <TotalTime>1</TotalTime>
  <Words>3802</Words>
  <Application>Microsoft Macintosh PowerPoint</Application>
  <PresentationFormat>Grand écran</PresentationFormat>
  <Paragraphs>630</Paragraphs>
  <Slides>49</Slides>
  <Notes>14</Notes>
  <HiddenSlides>7</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49</vt:i4>
      </vt:variant>
    </vt:vector>
  </HeadingPairs>
  <TitlesOfParts>
    <vt:vector size="57" baseType="lpstr">
      <vt:lpstr>.Hiragino Kaku Gothic Interface W3</vt:lpstr>
      <vt:lpstr>Arial</vt:lpstr>
      <vt:lpstr>Calibri</vt:lpstr>
      <vt:lpstr>Courier New</vt:lpstr>
      <vt:lpstr>Segoe UI</vt:lpstr>
      <vt:lpstr>Verdana</vt:lpstr>
      <vt:lpstr>Wingdings</vt:lpstr>
      <vt:lpstr>CGI Slide Master</vt:lpstr>
      <vt:lpstr>Standard Presentation Template</vt:lpstr>
      <vt:lpstr>Brand Source is your single source for everything related to the brand and branded PowerPoints!</vt:lpstr>
      <vt:lpstr>You can now access our templates directly from PowerPoint</vt:lpstr>
      <vt:lpstr>Advancing accessibility</vt:lpstr>
      <vt:lpstr>CGI colors</vt:lpstr>
      <vt:lpstr>CGI colors in PowerPoint</vt:lpstr>
      <vt:lpstr>Ready-to-use graphic components</vt:lpstr>
      <vt:lpstr>Buttons</vt:lpstr>
      <vt:lpstr>Cover title slide with gradient A</vt:lpstr>
      <vt:lpstr>Cover title slide with cornerstone A</vt:lpstr>
      <vt:lpstr>Cover title slide with cornerstone B</vt:lpstr>
      <vt:lpstr>Cover title slide with cornerstone C</vt:lpstr>
      <vt:lpstr>Cover title slide with cornerstone D</vt:lpstr>
      <vt:lpstr>Cover title slide with cornerstone E</vt:lpstr>
      <vt:lpstr>Cover title slide with original image</vt:lpstr>
      <vt:lpstr>Agenda slide layout 1</vt:lpstr>
      <vt:lpstr>Agenda slide layout 4</vt:lpstr>
      <vt:lpstr>Standard content slide</vt:lpstr>
      <vt:lpstr>Content slide + preset graphic device</vt:lpstr>
      <vt:lpstr>Content slide with two content columns</vt:lpstr>
      <vt:lpstr>Content slide with editable laptop screen</vt:lpstr>
      <vt:lpstr>Slide title</vt:lpstr>
      <vt:lpstr>Slide title 2</vt:lpstr>
      <vt:lpstr>Slide title 3</vt:lpstr>
      <vt:lpstr>Slide title 4</vt:lpstr>
      <vt:lpstr>Title only slide (donut chart + text example) </vt:lpstr>
      <vt:lpstr>Title only slide (stacked columns chart example)</vt:lpstr>
      <vt:lpstr>Title only slide (clustered column chart + text example)</vt:lpstr>
      <vt:lpstr>Title only slide (flow chart example)</vt:lpstr>
      <vt:lpstr>Title + lower subtitle slide (financial table example)</vt:lpstr>
      <vt:lpstr>New section title 1</vt:lpstr>
      <vt:lpstr>New section title 2</vt:lpstr>
      <vt:lpstr>New section title 3</vt:lpstr>
      <vt:lpstr>New section title 4</vt:lpstr>
      <vt:lpstr>New section title 5</vt:lpstr>
      <vt:lpstr>Slide title 6</vt:lpstr>
      <vt:lpstr>Placeholder text which  should go on 2 lines.</vt:lpstr>
      <vt:lpstr>Content highlight or quote slide (gradient A)</vt:lpstr>
      <vt:lpstr>Content highlight or quote 2x slide (gradient B)</vt:lpstr>
      <vt:lpstr>CV/Resume slide – Layout 1</vt:lpstr>
      <vt:lpstr>First and Last name</vt:lpstr>
      <vt:lpstr>First and Last name continued</vt:lpstr>
      <vt:lpstr>Team slide with 2 individuals (layout B)</vt:lpstr>
      <vt:lpstr>Team slide with 3 individuals (layout B)</vt:lpstr>
      <vt:lpstr>Team slide with 4 individuals (layout B)</vt:lpstr>
      <vt:lpstr>Team slide with 5 individuals (layout B)</vt:lpstr>
      <vt:lpstr>Team slide with 10 individuals (layout B)</vt:lpstr>
      <vt:lpstr>Closing contact us slide (gradient A)</vt:lpstr>
      <vt:lpstr>Insights you can act on  Founded in 1976, CGI is among the largest IT and business consulting services firms in the world.  We are insights-driven and outcomes-focused to help accelerate returns on your investments. Across hundreds of locations worldwide, we provide comprehensive, scalable and sustainable  IT and business consulting services that are informed globally  and delivered locally.</vt:lpstr>
    </vt:vector>
  </TitlesOfParts>
  <Manager>cgi.brand.crp@cgi.com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Leroy, Sandra</dc:creator>
  <cp:keywords>CGI, PowerPoint, template, brand, CGI</cp:keywords>
  <dc:description/>
  <cp:lastModifiedBy>Leroy, Sandra</cp:lastModifiedBy>
  <cp:revision>1</cp:revision>
  <dcterms:created xsi:type="dcterms:W3CDTF">2026-01-05T18:44:42Z</dcterms:created>
  <dcterms:modified xsi:type="dcterms:W3CDTF">2026-01-05T18:47:54Z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0x0101003A9B06A1291EAB478CEE040D9CD88093</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