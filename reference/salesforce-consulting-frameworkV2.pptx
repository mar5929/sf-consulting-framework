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0" r:id="rId14"/>
    <p:sldId id="291" r:id="rId15"/>
    <p:sldId id="292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5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0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2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113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7.xml.rels><?xml version="1.0" encoding="UTF-8"?>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4864"/>
            <a:ext cx="54864" cy="50337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Consulting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Engagement Lifecycle Management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Claude Code Skills  |  16 Golden Rules  |  8 Interview Rounds  |  4 Entry Points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framework that pairs Claude Code AI skills with Salesforce best practices to deliver consistent, high-quality consulting engagements from discovery through hypercare.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344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1031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AI Skills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sf-develop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060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060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2918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0312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432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Golden Rules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7432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Apex, LWC, security,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docs standards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634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6634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3492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21031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006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Interview Rounds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8006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discovery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dimensions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7208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7208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74066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210312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Entry Points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8580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Greenfield, Build,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 Rescue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18872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1298448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1051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Delivery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57600" y="10515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consultant starts from scratch — different naming, different docs, different quality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" y="201168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77240" y="214884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2258568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54480" y="20116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Silos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57600" y="20116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locked in individuals; no reusable playbooks or patterns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297180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48640" y="297180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77240" y="310896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3218688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54480" y="2971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Debt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657600" y="29718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standards, missing tests, undocumented decisions compound across engagements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48640" y="393192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548640" y="393192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777240" y="406908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4178808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554480" y="3931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Ramp-Up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3657600" y="3931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members take weeks to understand project context, conventions, and decisions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1645920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Skills Layer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7744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7744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8716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9580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9580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0552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sf-develop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1416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61416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2388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References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331720"/>
            <a:ext cx="1645920" cy="10058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233172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 Layer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7744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37744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48716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8-Round Interview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9580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49580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0552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Entry Points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1416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61416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2388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6-Phase Lifecycle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566160"/>
            <a:ext cx="1645920" cy="10058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356616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Layer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7744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37744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8716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 Project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96621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96621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07593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Docs (8)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55498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55498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6470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14375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14375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5347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Manifest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Deliverables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Skills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sf-develop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Metadata Ref Templates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51560"/>
            <a:ext cx="19202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Docs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1634025"/>
            <a:ext cx="20116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TECHNICAL_SPEC.md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DATA_MODEL.md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CODE_ATLAS.md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COMPONENT_REGISTRY.md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COMPONENT_MANIFEST.yaml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docs/domains/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6344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62213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Overview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Loop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Flow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Flows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Mapping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920240" cy="502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6656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Scaffold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164146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 project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structure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dirs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sf-project-init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and scaffold a Salesforce consulting engagement with a structured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8-round expert interview, tailored configuration, and auto-generated project artifacts.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" y="2011680"/>
            <a:ext cx="1417320" cy="109728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Rounds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9738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71700" y="2011680"/>
            <a:ext cx="1417320" cy="109728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7170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902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63340" y="2011680"/>
            <a:ext cx="1417320" cy="109728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6334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8066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54980" y="2011680"/>
            <a:ext cx="1417320" cy="109728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5498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7230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6620" y="2011680"/>
            <a:ext cx="1417320" cy="1097280"/>
          </a:xfrm>
          <a:prstGeom prst="rect">
            <a:avLst/>
          </a:prstGeom>
          <a:solidFill>
            <a:srgbClr val="D9770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4662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Post-Creation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Generates: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 |  SFDX project  |  8 living docs  |  CI/CD pipelines  |  Linear project + milestones + issues  |  Wiki structure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Entry Points: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Greenfield/Discovery  |  Build Phase  |  Managed Services  |  Rescue/Takeover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Interview Rounds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343814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Round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Key Topics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Client, project, role, team, entry 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&amp;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type, environments, scratch org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&amp;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 clouds, AppExchange, integrations, migration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Entry-Point Deep Dive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questions based on entry 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 &amp; Docs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Deliverables, Linear setup, living documents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Standards &amp;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Branching, pipelines, code review, 16 Golden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classification, HIPAA/SOX/PCI/GDPR, Shield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Conventions &amp; Prefs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Naming, communication style, MCP 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Entry Points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7492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7492" y="1097280"/>
            <a:ext cx="1874520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07592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7492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Greenfield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4652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Brand-new implementation.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lifecycle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2324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592324" y="1097280"/>
            <a:ext cx="1874520" cy="11887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00984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3392424" y="132588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92324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729484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exist.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development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existing specs.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677156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77156" y="1097280"/>
            <a:ext cx="1874520" cy="11887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385816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biLevel thresh="25000"/>
          </a:blip>
          <a:stretch>
            <a:fillRect/>
          </a:stretch>
        </p:blipFill>
        <p:spPr>
          <a:xfrm>
            <a:off x="5477256" y="132588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677156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814316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support.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Ticket-driven, SLA-based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enhancements.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1988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761988" y="1097280"/>
            <a:ext cx="1874520" cy="1188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7470648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biLevel thresh="25000"/>
          </a:blip>
          <a:stretch>
            <a:fillRect/>
          </a:stretch>
        </p:blipFill>
        <p:spPr>
          <a:xfrm>
            <a:off x="7562088" y="132588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61988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Rescue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Takeover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899148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project recovery.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Assess, stabilize,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remediate, rebuild.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 Adaptations by Entry Point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200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Greenfield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Build Phase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Managed Services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Rescue/Takeover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4 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workshops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mapping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planning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triage setup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&amp; assessment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identification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Deliverables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BRD, SDD,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SDD,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Plan, Sprint Backlog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Assessment,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Docs, Support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Rescue Assessment,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Milestones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→ Design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→ Test → Deploy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→ Build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→ Deploy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Stabilize → Support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 Remediate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Stabilize → 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12-26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8-20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12-30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Golden Rules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Bulkification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SLDS Compliance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49047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1490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14904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SOQL/DML in Loops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49047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490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14904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192938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Handler Pattern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938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192938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Before Modifying Objects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368296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23682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" y="236829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Governor Limit Awareness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0" y="236829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Time Budget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2807208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28072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5840" y="28072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CRUD/FLS Enforcement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2807208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28072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20640" y="28072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324612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5840" y="3246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With/Without Sharing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3440" y="3246120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6344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20640" y="3246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Document Sync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368503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48640" y="3685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05840" y="3685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85%+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20640" y="3685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 Updates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8640" y="412394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48640" y="4123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05840" y="41239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Metadata-First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663440" y="4123944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663440" y="4123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120640" y="41239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Testing with Playwright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046720" y="3246120"/>
            <a:ext cx="548640" cy="2286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sf-architect-solutioning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"No code without a plan. No plan without clear requirements."  |  Declarative Design: Layer 1 → 2 →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Pre-Implementation Gate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 / Requirements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9456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19456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0428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4048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5020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9612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4204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Design (L1-L2-L3)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Exist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574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860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2860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8862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8862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2578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580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0866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0866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Build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(sf-develop)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Scaffolded Project Output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06908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6908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project-root/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8348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sfdx-project.json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COMPONENT_MANIFEST.yaml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28316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28316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19756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TECHNICAL_SPEC.md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DATA_MODEL.md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CODE_ATLAS.md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COMPONENT_REGISTRY.md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domains/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49724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49724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force-app/main/default/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41164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lwc/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permissionsets/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71132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71132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wiki/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62572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organization-overview.md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ways-of-working/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applications/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Also generated: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.github/workflows/  |  deliverables/  |  config/  |  scripts/  |  archive/  |  .forceignore  |  .gitignore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Manifest &amp; Domain Retrieval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tep1"/>
          <p:cNvSpPr/>
          <p:nvPr/>
        </p:nvSpPr>
        <p:spPr>
          <a:xfrm>
            <a:off x="457200" y="1005840"/>
            <a:ext cx="1463040" cy="548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 wrap="square" lIns="45720" rIns="4572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1. Read Manifest Index</a:t>
            </a:r>
          </a:p>
        </p:txBody>
      </p:sp>
      <p:sp>
        <p:nvSpPr>
          <p:cNvPr id="7" name="Arrow1"/>
          <p:cNvSpPr/>
          <p:nvPr/>
        </p:nvSpPr>
        <p:spPr>
          <a:xfrm>
            <a:off x="1965960" y="1188720"/>
            <a:ext cx="182880" cy="182880"/>
          </a:xfrm>
          <a:prstGeom prst="rightArrow">
            <a:avLst/>
          </a:prstGeom>
          <a:solidFill>
            <a:srgbClr val="065A8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Step2"/>
          <p:cNvSpPr/>
          <p:nvPr/>
        </p:nvSpPr>
        <p:spPr>
          <a:xfrm>
            <a:off x="2194560" y="1005840"/>
            <a:ext cx="1463040" cy="54864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txBody>
          <a:bodyPr wrap="square" lIns="45720" rIns="4572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2. Identify Relevant Domains</a:t>
            </a:r>
          </a:p>
        </p:txBody>
      </p:sp>
      <p:sp>
        <p:nvSpPr>
          <p:cNvPr id="9" name="Arrow2"/>
          <p:cNvSpPr/>
          <p:nvPr/>
        </p:nvSpPr>
        <p:spPr>
          <a:xfrm>
            <a:off x="3703320" y="1188720"/>
            <a:ext cx="182880" cy="182880"/>
          </a:xfrm>
          <a:prstGeom prst="rightArrow">
            <a:avLst/>
          </a:prstGeom>
          <a:solidFill>
            <a:srgbClr val="065A8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Step3"/>
          <p:cNvSpPr/>
          <p:nvPr/>
        </p:nvSpPr>
        <p:spPr>
          <a:xfrm>
            <a:off x="3931920" y="1005840"/>
            <a:ext cx="1463040" cy="54864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txBody>
          <a:bodyPr wrap="square" lIns="45720" rIns="4572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3. Load Domain Context</a:t>
            </a:r>
          </a:p>
        </p:txBody>
      </p:sp>
      <p:sp>
        <p:nvSpPr>
          <p:cNvPr id="11" name="Arrow3"/>
          <p:cNvSpPr/>
          <p:nvPr/>
        </p:nvSpPr>
        <p:spPr>
          <a:xfrm>
            <a:off x="5440680" y="1188720"/>
            <a:ext cx="182880" cy="182880"/>
          </a:xfrm>
          <a:prstGeom prst="rightArrow">
            <a:avLst/>
          </a:prstGeom>
          <a:solidFill>
            <a:srgbClr val="065A8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Step4"/>
          <p:cNvSpPr/>
          <p:nvPr/>
        </p:nvSpPr>
        <p:spPr>
          <a:xfrm>
            <a:off x="5669280" y="1005840"/>
            <a:ext cx="1463040" cy="548640"/>
          </a:xfrm>
          <a:prstGeom prst="rect">
            <a:avLst/>
          </a:prstGeom>
          <a:solidFill>
            <a:srgbClr val="21295C"/>
          </a:solidFill>
          <a:ln w="0">
            <a:noFill/>
          </a:ln>
        </p:spPr>
        <p:txBody>
          <a:bodyPr wrap="square" lIns="45720" rIns="4572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4. Grep for Components</a:t>
            </a:r>
          </a:p>
        </p:txBody>
      </p:sp>
      <p:sp>
        <p:nvSpPr>
          <p:cNvPr id="13" name="Arrow4"/>
          <p:cNvSpPr/>
          <p:nvPr/>
        </p:nvSpPr>
        <p:spPr>
          <a:xfrm>
            <a:off x="7178040" y="1188720"/>
            <a:ext cx="182880" cy="182880"/>
          </a:xfrm>
          <a:prstGeom prst="rightArrow">
            <a:avLst/>
          </a:prstGeom>
          <a:solidFill>
            <a:srgbClr val="065A8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Step5"/>
          <p:cNvSpPr/>
          <p:nvPr/>
        </p:nvSpPr>
        <p:spPr>
          <a:xfrm>
            <a:off x="7406640" y="1005840"/>
            <a:ext cx="1463040" cy="54864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 wrap="square" lIns="45720" rIns="4572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5. Build Targeted Context</a:t>
            </a:r>
          </a:p>
        </p:txBody>
      </p:sp>
      <p:sp>
        <p:nvSpPr>
          <p:cNvPr id="15" name="ScaleBenefit"/>
          <p:cNvSpPr/>
          <p:nvPr/>
        </p:nvSpPr>
        <p:spPr>
          <a:xfrm>
            <a:off x="457200" y="1737360"/>
            <a:ext cx="4114800" cy="7315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</a:rPr>
              <a:t>200-500 lines loaded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vs. 3,000-6,000 lines (old approach)</a:t>
            </a:r>
          </a:p>
        </p:txBody>
      </p:sp>
      <p:sp>
        <p:nvSpPr>
          <p:cNvPr id="16" name="ManifestStructure"/>
          <p:cNvSpPr/>
          <p:nvPr/>
        </p:nvSpPr>
        <p:spPr>
          <a:xfrm>
            <a:off x="4800600" y="1737360"/>
            <a:ext cx="3886200" cy="7315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</a:rPr>
              <a:t>Manifest Structure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</a:rPr>
              <a:t>Domains index | Component entries with domain tags</a:t>
            </a:r>
          </a:p>
        </p:txBody>
      </p:sp>
      <p:sp>
        <p:nvSpPr>
          <p:cNvPr id="17" name="FunnelLabel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</a:rPr>
              <a:t>Progressive Narrowing: Full Codebase → Domains → Components → Targeted Context</a:t>
            </a:r>
          </a:p>
        </p:txBody>
      </p:sp>
      <p:sp>
        <p:nvSpPr>
          <p:cNvPr id="18" name="Funnel1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solidFill>
            <a:srgbClr val="0D9488">
              <a:alpha val="20000"/>
            </a:srgbClr>
          </a:solidFill>
          <a:ln w="0">
            <a:noFill/>
          </a:ln>
        </p:spPr>
        <p:txBody>
          <a:bodyPr wrap="square" lIns="9144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</a:rPr>
              <a:t>Full Project: 3,000-6,000 lines across all files</a:t>
            </a:r>
          </a:p>
        </p:txBody>
      </p:sp>
      <p:sp>
        <p:nvSpPr>
          <p:cNvPr id="19" name="Funnel2"/>
          <p:cNvSpPr/>
          <p:nvPr/>
        </p:nvSpPr>
        <p:spPr>
          <a:xfrm>
            <a:off x="1143000" y="3337560"/>
            <a:ext cx="6858000" cy="274320"/>
          </a:xfrm>
          <a:prstGeom prst="rect">
            <a:avLst/>
          </a:prstGeom>
          <a:solidFill>
            <a:srgbClr val="1C7293">
              <a:alpha val="30000"/>
            </a:srgbClr>
          </a:solidFill>
          <a:ln w="0">
            <a:noFill/>
          </a:ln>
        </p:spPr>
        <p:txBody>
          <a:bodyPr wrap="square" lIns="9144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</a:rPr>
              <a:t>Domain Files: 500-1,500 lines per domain</a:t>
            </a:r>
          </a:p>
        </p:txBody>
      </p:sp>
      <p:sp>
        <p:nvSpPr>
          <p:cNvPr id="20" name="Funnel3"/>
          <p:cNvSpPr/>
          <p:nvPr/>
        </p:nvSpPr>
        <p:spPr>
          <a:xfrm>
            <a:off x="1828800" y="3657600"/>
            <a:ext cx="5486400" cy="274320"/>
          </a:xfrm>
          <a:prstGeom prst="rect">
            <a:avLst/>
          </a:prstGeom>
          <a:solidFill>
            <a:srgbClr val="065A82">
              <a:alpha val="40000"/>
            </a:srgbClr>
          </a:solidFill>
          <a:ln w="0">
            <a:noFill/>
          </a:ln>
        </p:spPr>
        <p:txBody>
          <a:bodyPr wrap="square" lIns="9144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</a:rPr>
              <a:t>Component Match: Grep narrows to relevant entries</a:t>
            </a:r>
          </a:p>
        </p:txBody>
      </p:sp>
      <p:sp>
        <p:nvSpPr>
          <p:cNvPr id="21" name="Funnel4"/>
          <p:cNvSpPr/>
          <p:nvPr/>
        </p:nvSpPr>
        <p:spPr>
          <a:xfrm>
            <a:off x="2514600" y="3977640"/>
            <a:ext cx="4114800" cy="274320"/>
          </a:xfrm>
          <a:prstGeom prst="rect">
            <a:avLst/>
          </a:prstGeom>
          <a:solidFill>
            <a:srgbClr val="0D9488">
              <a:alpha val="60000"/>
            </a:srgbClr>
          </a:solidFill>
          <a:ln w="0">
            <a:noFill/>
          </a:ln>
        </p:spPr>
        <p:txBody>
          <a:bodyPr wrap="square" lIns="9144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Targeted Context: 200-500 lines — exactly what AI needs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Declarative Metadata Configuration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ubtitle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</a:rPr>
              <a:t>Design-before-code: 3-layer approval workflow for declarative Salesforce configuration</a:t>
            </a:r>
          </a:p>
        </p:txBody>
      </p:sp>
      <p:sp>
        <p:nvSpPr>
          <p:cNvPr id="7" name="Layer1"/>
          <p:cNvSpPr/>
          <p:nvPr/>
        </p:nvSpPr>
        <p:spPr>
          <a:xfrm>
            <a:off x="457200" y="1234440"/>
            <a:ext cx="5029200" cy="9144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 wrap="square" lIns="91440" r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</a:rPr>
              <a:t>Layer 1: When to Use Decision Criteria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Decision criteria for each metadata type: when to use, limitations, scalability, and governor limits</a:t>
            </a:r>
          </a:p>
        </p:txBody>
      </p:sp>
      <p:sp>
        <p:nvSpPr>
          <p:cNvPr id="10" name="ArrowDown1"/>
          <p:cNvSpPr/>
          <p:nvPr/>
        </p:nvSpPr>
        <p:spPr>
          <a:xfrm>
            <a:off x="2743200" y="2148840"/>
            <a:ext cx="182880" cy="91440"/>
          </a:xfrm>
          <a:prstGeom prst="downArrow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Layer2"/>
          <p:cNvSpPr/>
          <p:nvPr/>
        </p:nvSpPr>
        <p:spPr>
          <a:xfrm>
            <a:off x="457200" y="2240280"/>
            <a:ext cx="5029200" cy="91440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txBody>
          <a:bodyPr wrap="square" lIns="91440" r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</a:rPr>
              <a:t>Layer 2: Design Templates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Structured design documents for human review before any XML generation</a:t>
            </a:r>
          </a:p>
        </p:txBody>
      </p:sp>
      <p:sp>
        <p:nvSpPr>
          <p:cNvPr id="11" name="ArrowDown2"/>
          <p:cNvSpPr/>
          <p:nvPr/>
        </p:nvSpPr>
        <p:spPr>
          <a:xfrm>
            <a:off x="2743200" y="3154680"/>
            <a:ext cx="182880" cy="91440"/>
          </a:xfrm>
          <a:prstGeom prst="downArrow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Layer3"/>
          <p:cNvSpPr/>
          <p:nvPr/>
        </p:nvSpPr>
        <p:spPr>
          <a:xfrm>
            <a:off x="457200" y="3246120"/>
            <a:ext cx="5029200" cy="91440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txBody>
          <a:bodyPr wrap="square" lIns="91440" r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</a:rPr>
              <a:t>Layer 3: SFDX XML Generation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Only after approval: generate production-ready SFDX metadata XML</a:t>
            </a:r>
          </a:p>
        </p:txBody>
      </p:sp>
      <p:sp>
        <p:nvSpPr>
          <p:cNvPr id="12" name="MetaTitle"/>
          <p:cNvSpPr/>
          <p:nvPr/>
        </p:nvSpPr>
        <p:spPr>
          <a:xfrm>
            <a:off x="5715000" y="1234440"/>
            <a:ext cx="2971800" cy="365760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</a:rPr>
              <a:t>8 Metadata Types</a:t>
            </a:r>
          </a:p>
        </p:txBody>
      </p:sp>
      <p:sp>
        <p:nvSpPr>
          <p:cNvPr id="13" name="Meta1"/>
          <p:cNvSpPr/>
          <p:nvPr/>
        </p:nvSpPr>
        <p:spPr>
          <a:xfrm>
            <a:off x="5715000" y="1645920"/>
            <a:ext cx="137160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Flows</a:t>
            </a:r>
          </a:p>
        </p:txBody>
      </p:sp>
      <p:sp>
        <p:nvSpPr>
          <p:cNvPr id="14" name="Meta2"/>
          <p:cNvSpPr/>
          <p:nvPr/>
        </p:nvSpPr>
        <p:spPr>
          <a:xfrm>
            <a:off x="7178040" y="1645920"/>
            <a:ext cx="150876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Custom Objects</a:t>
            </a:r>
          </a:p>
        </p:txBody>
      </p:sp>
      <p:sp>
        <p:nvSpPr>
          <p:cNvPr id="15" name="Meta3"/>
          <p:cNvSpPr/>
          <p:nvPr/>
        </p:nvSpPr>
        <p:spPr>
          <a:xfrm>
            <a:off x="5715000" y="2103120"/>
            <a:ext cx="137160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Permission Sets</a:t>
            </a:r>
          </a:p>
        </p:txBody>
      </p:sp>
      <p:sp>
        <p:nvSpPr>
          <p:cNvPr id="16" name="Meta4"/>
          <p:cNvSpPr/>
          <p:nvPr/>
        </p:nvSpPr>
        <p:spPr>
          <a:xfrm>
            <a:off x="7178040" y="2103120"/>
            <a:ext cx="150876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Page Layouts</a:t>
            </a:r>
          </a:p>
        </p:txBody>
      </p:sp>
      <p:sp>
        <p:nvSpPr>
          <p:cNvPr id="17" name="Meta5"/>
          <p:cNvSpPr/>
          <p:nvPr/>
        </p:nvSpPr>
        <p:spPr>
          <a:xfrm>
            <a:off x="5715000" y="2560320"/>
            <a:ext cx="137160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Validation Rules</a:t>
            </a:r>
          </a:p>
        </p:txBody>
      </p:sp>
      <p:sp>
        <p:nvSpPr>
          <p:cNvPr id="18" name="Meta6"/>
          <p:cNvSpPr/>
          <p:nvPr/>
        </p:nvSpPr>
        <p:spPr>
          <a:xfrm>
            <a:off x="7178040" y="2560320"/>
            <a:ext cx="150876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Record Types</a:t>
            </a:r>
          </a:p>
        </p:txBody>
      </p:sp>
      <p:sp>
        <p:nvSpPr>
          <p:cNvPr id="19" name="Meta7"/>
          <p:cNvSpPr/>
          <p:nvPr/>
        </p:nvSpPr>
        <p:spPr>
          <a:xfrm>
            <a:off x="5715000" y="3017520"/>
            <a:ext cx="137160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Custom Labels</a:t>
            </a:r>
          </a:p>
        </p:txBody>
      </p:sp>
      <p:sp>
        <p:nvSpPr>
          <p:cNvPr id="20" name="Meta8"/>
          <p:cNvSpPr/>
          <p:nvPr/>
        </p:nvSpPr>
        <p:spPr>
          <a:xfrm>
            <a:off x="7178040" y="3017520"/>
            <a:ext cx="1508760" cy="36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4572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Approval Processes</a:t>
            </a:r>
          </a:p>
        </p:txBody>
      </p:sp>
      <p:sp>
        <p:nvSpPr>
          <p:cNvPr id="21" name="ApprovalNote"/>
          <p:cNvSpPr/>
          <p:nvPr/>
        </p:nvSpPr>
        <p:spPr>
          <a:xfrm>
            <a:off x="5715000" y="3520440"/>
            <a:ext cx="2971800" cy="640080"/>
          </a:xfrm>
          <a:prstGeom prst="rect">
            <a:avLst/>
          </a:prstGeom>
          <a:solidFill>
            <a:srgbClr val="D97706">
              <a:alpha val="15000"/>
            </a:srgbClr>
          </a:solidFill>
          <a:ln w="0">
            <a:noFill/>
          </a:ln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</a:rPr>
              <a:t>Approval Required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Design document must be reviewed and approved before XML generation proceeds</a:t>
            </a:r>
          </a:p>
        </p:txBody>
      </p:sp>
      <p:sp>
        <p:nvSpPr>
          <p:cNvPr id="22" name="FlowLabel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</a:rPr>
              <a:t>Workflow:  Decide → Design → Review → Approve → Generate XML →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Connected Systems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ManifestBox"/>
          <p:cNvSpPr/>
          <p:nvPr/>
        </p:nvSpPr>
        <p:spPr>
          <a:xfrm>
            <a:off x="457200" y="1097280"/>
            <a:ext cx="2514600" cy="274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</a:rPr>
              <a:t>COMPONENT_MANIFEST.yaml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</a:rPr>
              <a:t>declarative_design status: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 </a:t>
            </a:r>
          </a:p>
          <a:p>
            <a:pPr marL="0" indent="0" algn="ctr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</a:rPr>
              <a:t>pending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n-US" sz="1000" b="1" dirty="0">
                <a:solidFill>
                  <a:srgbClr val="1C7293"/>
                </a:solidFill>
                <a:latin typeface="Calibri" pitchFamily="34" charset="0"/>
              </a:rPr>
              <a:t>designed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n-US" sz="1000" b="1" dirty="0">
                <a:solidFill>
                  <a:srgbClr val="0D9488"/>
                </a:solidFill>
                <a:latin typeface="Calibri" pitchFamily="34" charset="0"/>
              </a:rPr>
              <a:t>approved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</a:rPr>
              <a:t>Tracks: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Component domain mapping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Metadata type references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Design approval status</a:t>
            </a:r>
          </a:p>
        </p:txBody>
      </p:sp>
      <p:sp>
        <p:nvSpPr>
          <p:cNvPr id="7" name="ConnArrow1"/>
          <p:cNvSpPr/>
          <p:nvPr/>
        </p:nvSpPr>
        <p:spPr>
          <a:xfrm>
            <a:off x="3063240" y="2331720"/>
            <a:ext cx="457200" cy="182880"/>
          </a:xfrm>
          <a:prstGeom prst="leftRightArrow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DomainBox"/>
          <p:cNvSpPr/>
          <p:nvPr/>
        </p:nvSpPr>
        <p:spPr>
          <a:xfrm>
            <a:off x="3611880" y="1097280"/>
            <a:ext cx="2514600" cy="274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Georgia" pitchFamily="34" charset="0"/>
              </a:rPr>
              <a:t>docs/domains/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</a:rPr>
              <a:t>Domain context files: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 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Which automation exists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Object relationships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Business logic boundaries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Integration touchpoints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Security considerations</a:t>
            </a:r>
          </a:p>
        </p:txBody>
      </p:sp>
      <p:sp>
        <p:nvSpPr>
          <p:cNvPr id="9" name="ConnArrow2"/>
          <p:cNvSpPr/>
          <p:nvPr/>
        </p:nvSpPr>
        <p:spPr>
          <a:xfrm>
            <a:off x="6217920" y="2331720"/>
            <a:ext cx="457200" cy="182880"/>
          </a:xfrm>
          <a:prstGeom prst="leftRightArrow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MetaRefBox"/>
          <p:cNvSpPr/>
          <p:nvPr/>
        </p:nvSpPr>
        <p:spPr>
          <a:xfrm>
            <a:off x="6766560" y="1097280"/>
            <a:ext cx="2011680" cy="274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itchFamily="34" charset="0"/>
              </a:rPr>
              <a:t>Metadata References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 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Flow definitions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Object schemas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Permission models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Layout configs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Validation rules</a:t>
            </a:r>
          </a:p>
          <a:p>
            <a:pPr marL="228600" indent="-2286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</a:rPr>
              <a:t>Approval processes</a:t>
            </a:r>
          </a:p>
        </p:txBody>
      </p:sp>
      <p:sp>
        <p:nvSpPr>
          <p:cNvPr id="11" name="SummaryBar"/>
          <p:cNvSpPr/>
          <p:nvPr/>
        </p:nvSpPr>
        <p:spPr>
          <a:xfrm>
            <a:off x="457200" y="4023360"/>
            <a:ext cx="8321040" cy="548640"/>
          </a:xfrm>
          <a:prstGeom prst="rect">
            <a:avLst/>
          </a:prstGeom>
          <a:solidFill>
            <a:srgbClr val="065A82">
              <a:alpha val="10000"/>
            </a:srgbClr>
          </a:solidFill>
          <a:ln w="0">
            <a:noFill/>
          </a:ln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</a:rPr>
              <a:t>Manifest tracks status  |  Domains provide context  |  References define metadata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All three systems stay synchronized as components move through the design-approve-generate lifecycle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Integration Ecosystem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74720" y="2103120"/>
            <a:ext cx="2194560" cy="1097280"/>
          </a:xfrm>
          <a:prstGeom prst="line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63208" y="1920240"/>
            <a:ext cx="2194560" cy="1097280"/>
          </a:xfrm>
          <a:prstGeom prst="rect">
            <a:avLst/>
          </a:prstGeom>
          <a:solidFill>
            <a:srgbClr val="7030A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+ 3 Skills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1097280"/>
            <a:ext cx="1645920" cy="82296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10972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CLI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0" y="1097280"/>
            <a:ext cx="164592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10972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291840"/>
            <a:ext cx="1645920" cy="82296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Context7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291840"/>
            <a:ext cx="1645920" cy="82296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32918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37528" y="3474720"/>
            <a:ext cx="1645920" cy="822960"/>
          </a:xfrm>
          <a:prstGeom prst="rect">
            <a:avLst/>
          </a:prstGeom>
          <a:solidFill>
            <a:srgbClr val="0E7490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37528" y="3474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tsmztech/mcp-server-salesforce  |  jaganpro/sf-skills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463040" cy="91440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48840" y="1188720"/>
            <a:ext cx="1463040" cy="91440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4884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tests 85%+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1188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0480" y="1188720"/>
            <a:ext cx="1463040" cy="91440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Sandbox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32120" y="1188720"/>
            <a:ext cx="1463040" cy="91440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UAT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223760" y="1188720"/>
            <a:ext cx="1463040" cy="914400"/>
          </a:xfrm>
          <a:prstGeom prst="rect">
            <a:avLst/>
          </a:prstGeom>
          <a:solidFill>
            <a:srgbClr val="D9770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2376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2376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Production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GitFlow Branching Strategy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 ←  release/*  ←  develop  ←  feature/RIH-*  |  hotfix/* → main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4864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580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580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test + coverage check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8328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38328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52044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2044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sandbox/production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21792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5508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linear-sync.yml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508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Linear → BACKLOG.md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Interactive Reference Diagrams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4672" y="135331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Overview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344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3-lane swim-lane flow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phases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060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060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7889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862072" y="135331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918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Lifecycle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2918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through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phases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6634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634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8463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919472" y="1353312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3492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 Loop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3492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sprint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cycle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7208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7208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9037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76872" y="135331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066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Pipeline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74066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flow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486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5486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315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4672" y="304495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344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Flow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12344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patterns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26060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26060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27889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862072" y="3044952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32918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Flows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32918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Entry-point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46634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5"/>
          <p:cNvSpPr/>
          <p:nvPr/>
        </p:nvSpPr>
        <p:spPr>
          <a:xfrm>
            <a:off x="46634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48463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919472" y="304495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53492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53492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component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900" dirty="0"/>
          </a:p>
        </p:txBody>
      </p:sp>
      <p:sp>
        <p:nvSpPr>
          <p:cNvPr id="48" name="Shape 39"/>
          <p:cNvSpPr/>
          <p:nvPr/>
        </p:nvSpPr>
        <p:spPr>
          <a:xfrm>
            <a:off x="67208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0"/>
          <p:cNvSpPr/>
          <p:nvPr/>
        </p:nvSpPr>
        <p:spPr>
          <a:xfrm>
            <a:off x="67208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1"/>
          <p:cNvSpPr/>
          <p:nvPr/>
        </p:nvSpPr>
        <p:spPr>
          <a:xfrm>
            <a:off x="69037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1">
                <a:lumMod val="5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76872" y="3044952"/>
            <a:ext cx="274320" cy="274320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74066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Mapping</a:t>
            </a:r>
            <a:endParaRPr lang="en-US" sz="1100" dirty="0"/>
          </a:p>
        </p:txBody>
      </p:sp>
      <p:sp>
        <p:nvSpPr>
          <p:cNvPr id="53" name="Text 43"/>
          <p:cNvSpPr/>
          <p:nvPr/>
        </p:nvSpPr>
        <p:spPr>
          <a:xfrm>
            <a:off x="74066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mapped 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phases</a:t>
            </a:r>
            <a:endParaRPr lang="en-US" sz="900" dirty="0"/>
          </a:p>
        </p:txBody>
      </p:sp>
      <p:sp>
        <p:nvSpPr>
          <p:cNvPr id="54" name="Text 44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 are interactive HTML files — open in browser for full exploration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Lifecycle Phases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2356" y="1188720"/>
            <a:ext cx="105156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2356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2356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stakeholder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13916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723644" y="1188720"/>
            <a:ext cx="1051560" cy="640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723644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23644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2-3w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23644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75204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84932" y="1188720"/>
            <a:ext cx="1051560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884932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4932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4-12w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84932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dev via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sf-develop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&amp; custom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936492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46220" y="1188720"/>
            <a:ext cx="1051560" cy="6400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046220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46220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46220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UAT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97780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07508" y="1188720"/>
            <a:ext cx="1051560" cy="640080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07508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07508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207508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migration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59068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68796" y="1188720"/>
            <a:ext cx="1051560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68796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68796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68796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20356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30084" y="1188720"/>
            <a:ext cx="105156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530084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30084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30084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adapts per entry point — Greenfield runs full lifecycle; Build Phase and Rescue skip/compress early phases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Project Auto-Creation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 automatically creates a fully-structured Linear project with milestones, cycles, and starter issues.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94360" y="1645920"/>
            <a:ext cx="64008" cy="2560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&amp; Milestones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with description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Phase-based milestones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dates per phase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labels created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37560" y="1645920"/>
            <a:ext cx="64008" cy="2560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Cycles (Sprints)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sprint cycles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Auto-numbered naming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milestones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tracking ready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1645920"/>
            <a:ext cx="64008" cy="2560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 Issues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Epic-level tickets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breakdowns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Story-level tasks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&amp; assignee set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Product Coverage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294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294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582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Cloud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582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opportunities, forecasting, CPQ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470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9758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Cloud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9758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Cases, SLAs, Omni-Channel, Knowledge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6646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6646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4934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Experience Cloud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4934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Portals, communities, custom themes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294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294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58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Cloud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58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Journeys, email, segmentation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470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1470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9758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975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Ingestion, unified profiles, activation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6646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96646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4934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/ CPQ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4934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Quotes, pricing, subscriptions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6294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582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582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OmniStudio, FlexCards, DataRaptors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31470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31470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9758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MuleSoft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9758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management, integrations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6646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96646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14934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4934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CRM Analytics, predictions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Well-Architected Integration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715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1500" y="1097280"/>
            <a:ext cx="251460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73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" y="12801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15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543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CRUD/FLS enforcement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encryption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workflows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(HIPAA, SOX, PCI, GDPR)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47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314700" y="1097280"/>
            <a:ext cx="251460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3205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1280160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147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4975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Metadata-first approach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SLDS compliance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documentation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scaffolding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579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057900" y="1097280"/>
            <a:ext cx="2514600" cy="7315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0637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5180" y="128016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0579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Adaptable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2407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entry points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development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engagement types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Engagement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Cloud — Greenfield Walkthrough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Client: Apex Financial Group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64008" cy="11887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Apex Financial Group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15087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wealth management firm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advisors across 15 offices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CRM → FSC greenfield migration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051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Goals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advisor desktop with 360° client view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client onboarding workflows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 for regulatory reporting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performance reporting &amp; analytics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Products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Cloud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30552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130552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Cloud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4760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794760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Cloud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58968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58968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23176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23176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Requirements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722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Protection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2890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2890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4058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4058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Regulations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5226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5226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Consulting Team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548640" cy="548640"/>
          </a:xfrm>
          <a:prstGeom prst="lin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45820" y="1216152"/>
            <a:ext cx="320040" cy="320040"/>
          </a:xfrm>
          <a:prstGeom prst="rect">
            <a:avLst/>
          </a:prstGeom>
          <a:noFill/>
        </p:spPr>
      </p:pic>
      <p:sp>
        <p:nvSpPr>
          <p:cNvPr id="8" name="Text 5"/>
          <p:cNvSpPr/>
          <p:nvPr/>
        </p:nvSpPr>
        <p:spPr>
          <a:xfrm>
            <a:off x="45720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management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920240" y="1097280"/>
            <a:ext cx="548640" cy="548640"/>
          </a:xfrm>
          <a:prstGeom prst="lin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034540" y="1216152"/>
            <a:ext cx="320040" cy="320040"/>
          </a:xfrm>
          <a:prstGeom prst="rect">
            <a:avLst/>
          </a:prstGeom>
          <a:noFill/>
        </p:spPr>
      </p:pic>
      <p:sp>
        <p:nvSpPr>
          <p:cNvPr id="12" name="Text 8"/>
          <p:cNvSpPr/>
          <p:nvPr/>
        </p:nvSpPr>
        <p:spPr>
          <a:xfrm>
            <a:off x="164592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64592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design,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integrations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108960" y="1097280"/>
            <a:ext cx="548640" cy="54864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223260" y="1216152"/>
            <a:ext cx="320040" cy="320040"/>
          </a:xfrm>
          <a:prstGeom prst="rect">
            <a:avLst/>
          </a:prstGeom>
          <a:noFill/>
        </p:spPr>
      </p:pic>
      <p:sp>
        <p:nvSpPr>
          <p:cNvPr id="16" name="Text 11"/>
          <p:cNvSpPr/>
          <p:nvPr/>
        </p:nvSpPr>
        <p:spPr>
          <a:xfrm>
            <a:off x="283464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83464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onboarding,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297680" y="1097280"/>
            <a:ext cx="548640" cy="54864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411980" y="1216152"/>
            <a:ext cx="320040" cy="320040"/>
          </a:xfrm>
          <a:prstGeom prst="rect">
            <a:avLst/>
          </a:prstGeom>
          <a:noFill/>
        </p:spPr>
      </p:pic>
      <p:sp>
        <p:nvSpPr>
          <p:cNvPr id="20" name="Text 14"/>
          <p:cNvSpPr/>
          <p:nvPr/>
        </p:nvSpPr>
        <p:spPr>
          <a:xfrm>
            <a:off x="402336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02336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portal LWC,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dashboards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5486400" y="1097280"/>
            <a:ext cx="548640" cy="548640"/>
          </a:xfrm>
          <a:prstGeom prst="lin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5600700" y="1216152"/>
            <a:ext cx="320040" cy="320040"/>
          </a:xfrm>
          <a:prstGeom prst="rect">
            <a:avLst/>
          </a:prstGeom>
          <a:noFill/>
        </p:spPr>
      </p:pic>
      <p:sp>
        <p:nvSpPr>
          <p:cNvPr id="24" name="Text 17"/>
          <p:cNvSpPr/>
          <p:nvPr/>
        </p:nvSpPr>
        <p:spPr>
          <a:xfrm>
            <a:off x="521208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521208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Flows, permissions,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layouts, security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6675120" y="109728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789420" y="1216152"/>
            <a:ext cx="320040" cy="320040"/>
          </a:xfrm>
          <a:prstGeom prst="rect">
            <a:avLst/>
          </a:prstGeom>
          <a:noFill/>
        </p:spPr>
      </p:pic>
      <p:sp>
        <p:nvSpPr>
          <p:cNvPr id="28" name="Text 20"/>
          <p:cNvSpPr/>
          <p:nvPr/>
        </p:nvSpPr>
        <p:spPr>
          <a:xfrm>
            <a:off x="640080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Analyst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UAT,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materials</a:t>
            </a:r>
            <a:endParaRPr lang="en-US" sz="900" dirty="0"/>
          </a:p>
        </p:txBody>
      </p:sp>
      <p:sp>
        <p:nvSpPr>
          <p:cNvPr id="30" name="Shape 22"/>
          <p:cNvSpPr/>
          <p:nvPr/>
        </p:nvSpPr>
        <p:spPr>
          <a:xfrm>
            <a:off x="7863840" y="1097280"/>
            <a:ext cx="548640" cy="548640"/>
          </a:xfrm>
          <a:prstGeom prst="lin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7978140" y="1216152"/>
            <a:ext cx="320040" cy="320040"/>
          </a:xfrm>
          <a:prstGeom prst="rect">
            <a:avLst/>
          </a:prstGeom>
          <a:noFill/>
        </p:spPr>
      </p:pic>
      <p:sp>
        <p:nvSpPr>
          <p:cNvPr id="32" name="Text 23"/>
          <p:cNvSpPr/>
          <p:nvPr/>
        </p:nvSpPr>
        <p:spPr>
          <a:xfrm>
            <a:off x="758952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</a:t>
            </a:r>
            <a:endParaRPr lang="en-US" sz="1050" dirty="0"/>
          </a:p>
        </p:txBody>
      </p:sp>
      <p:sp>
        <p:nvSpPr>
          <p:cNvPr id="33" name="Text 24"/>
          <p:cNvSpPr/>
          <p:nvPr/>
        </p:nvSpPr>
        <p:spPr>
          <a:xfrm>
            <a:off x="758952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scripts, Playwright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coverage gaps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team members use Claude Code with the framework skills — AI augments every role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Setup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framework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1168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9456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4320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9456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 +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 +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sf-develop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38912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8912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4048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CLI, Linear,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Context7, Playwright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603504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Repo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repo with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 branches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4944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13232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68096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768096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713232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 Org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to scratch org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sandbox chain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setup time: ~30 minutes from zero to fully-configured project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/sf-project-init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interview highlights for the Apex Financial Group engagement: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/ Discovery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19202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+ Experience Cloud + Data Cloud + Shield + Tableau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3774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377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Size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3774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consultants across 5 roles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8346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2834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PII, PCI DSS, SEC, SOX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32918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suite: BRD, SDD, Data Migration, Test Plans, Training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749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60320" y="37490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 + sf-validate + sf-deploy + linear-sync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Artifacts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 •  SFDX project  •  8 living docs  •  3 CI/CD workflows  •  Linear project with 7 milestones  •  Wiki  •  Deliverable directories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AI-Assisted Discovery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helps produce comprehensive discovery artifacts: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8348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98348" y="1463040"/>
            <a:ext cx="192024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Requirements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(BRD)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9788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portal requirements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onboarding flows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workflow rules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requirements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74036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74036" y="1463040"/>
            <a:ext cx="1920240" cy="7315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74036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Design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(SDD)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65476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data model design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Accounts setup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architecture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model 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49724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49724" y="1463040"/>
            <a:ext cx="192024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9724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41164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 diagram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 integration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mappings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topology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5412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25412" y="1463040"/>
            <a:ext cx="1920240" cy="7315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25412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16852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field mappings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cleansing rules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sequence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strategy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Discovery to Development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from planning to parallel execution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Backlog Creation &amp; Ticketing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 auto-created with epic hierarchy imported from BRD/SDD: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Account setup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workflow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collection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automation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21408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21408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Advisor Portal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21408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12848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client view LWC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21408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12848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dashboard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21408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212848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timeline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21408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12848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85616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785616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Engine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85616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77056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reporting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85616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877056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config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85616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877056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785616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877056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encryption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9824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49824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49824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41264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field mapping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49824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541264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cleansing jobs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9824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541264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rules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9824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541264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strategy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114032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14032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114032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205472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dashboards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114032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205472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Analytics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14032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205472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scorecards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14032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205472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reports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 Epic  →  Feature  →  Story  →  Sub-task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46304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Scratch Orgs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features enabled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Disposable, 30-day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4884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148840" y="1280160"/>
            <a:ext cx="1463040" cy="640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4884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 Sandbox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development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refresh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1188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40480" y="1280160"/>
            <a:ext cx="1463040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4048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Sandbox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testing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environment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0352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3212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532120" y="1280160"/>
            <a:ext cx="1463040" cy="6400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3212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Sandbox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2356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Production-like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access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9516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2376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223760" y="1280160"/>
            <a:ext cx="1463040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22376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environment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sets via 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24/7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path enforced by CI/CD — no manual deployments to QA, UAT, or Production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Branching &amp; CI/CD in Action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645920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1371600"/>
            <a:ext cx="59436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645920" cy="3657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737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release/*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0" y="1920240"/>
            <a:ext cx="5943600" cy="0"/>
          </a:xfrm>
          <a:prstGeom prst="line">
            <a:avLst/>
          </a:prstGeom>
          <a:noFill/>
          <a:ln w="254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64592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0" y="2468880"/>
            <a:ext cx="594360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feature/RIH-*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3017520"/>
            <a:ext cx="5943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77440" y="25603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merge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merge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0" y="14630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release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 Pipeline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4360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Created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28800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938528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72968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82696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82696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Tests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17136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26864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26864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 Coverage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61304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71032" y="3749040"/>
            <a:ext cx="123444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71032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5472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15200" y="3749040"/>
            <a:ext cx="123444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1520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Developers Working in Parallel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64008" cy="3383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A: Client Onboarding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scratch org with FSC + Person Accounts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/sf-architect-solutioning → solution plan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/sf-develop → build metadata, Apex, tests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KYC Flow + Apex trigger handler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 test coverage on scratch org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sf-validate → code review → merge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docs auto-updated on commit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64008" cy="33832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B: Advisor Portal LWC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scratch org with FSC + Experience Cloud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/sf-architect-solutioning → component plan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/sf-develop → build LWC, Apex, tests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360° client view LWC + dashboard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screenshot loop for UI QA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sf-validate → code review → merge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 updated automatically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&amp; BA Leveraging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64008" cy="33832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Analyst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BRD/requirements with Claude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gaps and edge cases in specs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refines Linear tickets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acceptance criteria from BRD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UAT scripts and training materials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REQUIREMENTS.md in sync with changes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64008" cy="33832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Engineer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 scripts from requirements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Playwright browser test suites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coverage gaps across features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regression tests via CI pipeline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defects with screenshots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fixes against original specs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Complete Dev Loop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120140" y="1188720"/>
            <a:ext cx="1234440" cy="7315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2014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5458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7460" y="118872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3746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Manifest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7190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4780" y="1188720"/>
            <a:ext cx="123444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5478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(sf-develop)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8922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72100" y="1188720"/>
            <a:ext cx="1234440" cy="73152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7210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0654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89420" y="1188720"/>
            <a:ext cx="1234440" cy="731520"/>
          </a:xfrm>
          <a:prstGeom prst="rect">
            <a:avLst/>
          </a:prstGeom>
          <a:solidFill>
            <a:srgbClr val="0E7490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8942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(UI)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69480" y="19659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C7293"/>
                </a:solidFill>
              </a:rPr>
              <a:t>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11480" y="237744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4592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28800" y="2377440"/>
            <a:ext cx="1234440" cy="73152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82880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6324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46120" y="2377440"/>
            <a:ext cx="1234440" cy="73152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4612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8056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2377440"/>
            <a:ext cx="123444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6344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80760" y="2377440"/>
            <a:ext cx="1234440" cy="7315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8076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0" y="237744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49808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74320" y="19659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C7293"/>
                </a:solidFill>
              </a:rPr>
              <a:t>▲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cycle — every ticket follows this loop. AI assists at every step.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98348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8348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5508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74036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574036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711196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Updated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11196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649724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649724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86884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Verified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786884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loop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25412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725412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862572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62572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peer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051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Claude Code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-g @anthropic-ai/claude-code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69164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1645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 the Framework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&lt;framework-repo-url&gt;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240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Skills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22402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sf-project-init, sf-architect-solutioning, and sf-develop to your Claude Code skills directory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28346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 MCP Servers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28346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Salesforce CLI MCP, Linear MCP, Context7 MCP, and Playwright MCP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/sf-project-init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83280" y="34290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8-round interview to scaffold your engagement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4023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Development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83280" y="40233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/sf-architect-solutioning to plan, then /sf-develop to build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4864"/>
            <a:ext cx="54864" cy="50337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Consulting.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 Quality.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Engagement.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framework repository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all 3 skills and configure MCP servers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/sf-project-init on your next engagement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2647</Words>
  <Application>Microsoft Office PowerPoint</Application>
  <PresentationFormat>On-screen Show (16:9)</PresentationFormat>
  <Paragraphs>860</Paragraphs>
  <Slides>37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Consulting Framework</dc:title>
  <dc:subject>PptxGenJS Presentation</dc:subject>
  <dc:creator>Michael Rihm</dc:creator>
  <cp:lastModifiedBy>Michael Rihm</cp:lastModifiedBy>
  <cp:revision>6</cp:revision>
  <dcterms:created xsi:type="dcterms:W3CDTF">2026-03-13T19:48:48Z</dcterms:created>
  <dcterms:modified xsi:type="dcterms:W3CDTF">2026-03-14T21:25:33Z</dcterms:modified>
</cp:coreProperties>
</file>