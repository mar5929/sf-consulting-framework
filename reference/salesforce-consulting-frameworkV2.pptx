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65A8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980" autoAdjust="0"/>
    <p:restoredTop sz="94610"/>
  </p:normalViewPr>
  <p:slideViewPr>
    <p:cSldViewPr snapToGrid="0" snapToObjects="1">
      <p:cViewPr varScale="1">
        <p:scale>
          <a:sx n="129" d="100"/>
          <a:sy n="129" d="100"/>
        </p:scale>
        <p:origin x="132" y="4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111333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3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6.png"/><Relationship Id="rId10" Type="http://schemas.openxmlformats.org/officeDocument/2006/relationships/image" Target="../media/image18.png"/><Relationship Id="rId4" Type="http://schemas.openxmlformats.org/officeDocument/2006/relationships/image" Target="../media/image14.png"/><Relationship Id="rId9" Type="http://schemas.openxmlformats.org/officeDocument/2006/relationships/image" Target="../media/image4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65A8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54864"/>
            <a:ext cx="54864" cy="5033772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31520" y="914400"/>
            <a:ext cx="768096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Salesforce Consulting</a:t>
            </a:r>
            <a:endParaRPr lang="en-US" sz="4400" dirty="0"/>
          </a:p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Framework</a:t>
            </a:r>
            <a:endParaRPr lang="en-US" sz="4400" dirty="0"/>
          </a:p>
        </p:txBody>
      </p:sp>
      <p:sp>
        <p:nvSpPr>
          <p:cNvPr id="6" name="Shape 4"/>
          <p:cNvSpPr/>
          <p:nvPr/>
        </p:nvSpPr>
        <p:spPr>
          <a:xfrm>
            <a:off x="731520" y="3017520"/>
            <a:ext cx="1828800" cy="54864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 Engagement Lifecycle Management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731520" y="384048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Claude Code Skills  |  16 Golden Rules  |  8 Interview Rounds  |  4 Entry Points</a:t>
            </a:r>
            <a:endParaRPr lang="en-US" sz="140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0"/>
            <a:ext cx="8046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Executive Summary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2129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4800600"/>
            <a:ext cx="8229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Salesforce Consulting Framework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48640" y="10058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comprehensive framework that pairs Claude Code AI skills with Salesforce best practices to deliver consistent, high-quality consulting engagements from discovery through hypercare.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1828800"/>
            <a:ext cx="1874520" cy="23774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548640" y="1828800"/>
            <a:ext cx="64008" cy="237744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1234440" y="2011680"/>
            <a:ext cx="502920" cy="502920"/>
          </a:xfrm>
          <a:prstGeom prst="lin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5880" y="2103120"/>
            <a:ext cx="320040" cy="32004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685800" y="2651760"/>
            <a:ext cx="1600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 AI Skills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685800" y="3017520"/>
            <a:ext cx="16002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sf-project-init &amp;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sf-architect-solutioning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2606040" y="1828800"/>
            <a:ext cx="1874520" cy="23774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1"/>
          <p:cNvSpPr/>
          <p:nvPr/>
        </p:nvSpPr>
        <p:spPr>
          <a:xfrm>
            <a:off x="2606040" y="1828800"/>
            <a:ext cx="64008" cy="237744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Shape 12"/>
          <p:cNvSpPr/>
          <p:nvPr/>
        </p:nvSpPr>
        <p:spPr>
          <a:xfrm>
            <a:off x="3291840" y="2011680"/>
            <a:ext cx="502920" cy="502920"/>
          </a:xfrm>
          <a:prstGeom prst="lin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83280" y="2103120"/>
            <a:ext cx="320040" cy="320040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2743200" y="2651760"/>
            <a:ext cx="1600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 Golden Rules</a:t>
            </a:r>
            <a:endParaRPr lang="en-US" sz="1400" dirty="0"/>
          </a:p>
        </p:txBody>
      </p:sp>
      <p:sp>
        <p:nvSpPr>
          <p:cNvPr id="18" name="Text 14"/>
          <p:cNvSpPr/>
          <p:nvPr/>
        </p:nvSpPr>
        <p:spPr>
          <a:xfrm>
            <a:off x="2743200" y="3017520"/>
            <a:ext cx="16002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Apex, LWC, security,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&amp; docs standards</a:t>
            </a:r>
            <a:endParaRPr 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4663440" y="1828800"/>
            <a:ext cx="1874520" cy="23774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6"/>
          <p:cNvSpPr/>
          <p:nvPr/>
        </p:nvSpPr>
        <p:spPr>
          <a:xfrm>
            <a:off x="4663440" y="1828800"/>
            <a:ext cx="64008" cy="237744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Shape 17"/>
          <p:cNvSpPr/>
          <p:nvPr/>
        </p:nvSpPr>
        <p:spPr>
          <a:xfrm>
            <a:off x="5349240" y="2011680"/>
            <a:ext cx="502920" cy="502920"/>
          </a:xfrm>
          <a:prstGeom prst="lin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40680" y="2103120"/>
            <a:ext cx="320040" cy="320040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4800600" y="2651760"/>
            <a:ext cx="1600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 Interview Rounds</a:t>
            </a:r>
            <a:endParaRPr lang="en-US" sz="1400" dirty="0"/>
          </a:p>
        </p:txBody>
      </p:sp>
      <p:sp>
        <p:nvSpPr>
          <p:cNvPr id="24" name="Text 19"/>
          <p:cNvSpPr/>
          <p:nvPr/>
        </p:nvSpPr>
        <p:spPr>
          <a:xfrm>
            <a:off x="4800600" y="3017520"/>
            <a:ext cx="16002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discovery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all dimensions</a:t>
            </a:r>
            <a:endParaRPr lang="en-US" sz="1100" dirty="0"/>
          </a:p>
        </p:txBody>
      </p:sp>
      <p:sp>
        <p:nvSpPr>
          <p:cNvPr id="25" name="Shape 20"/>
          <p:cNvSpPr/>
          <p:nvPr/>
        </p:nvSpPr>
        <p:spPr>
          <a:xfrm>
            <a:off x="6720840" y="1828800"/>
            <a:ext cx="1874520" cy="23774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6" name="Shape 21"/>
          <p:cNvSpPr/>
          <p:nvPr/>
        </p:nvSpPr>
        <p:spPr>
          <a:xfrm>
            <a:off x="6720840" y="1828800"/>
            <a:ext cx="64008" cy="237744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Shape 22"/>
          <p:cNvSpPr/>
          <p:nvPr/>
        </p:nvSpPr>
        <p:spPr>
          <a:xfrm>
            <a:off x="7406640" y="2011680"/>
            <a:ext cx="502920" cy="502920"/>
          </a:xfrm>
          <a:prstGeom prst="lin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98080" y="2103120"/>
            <a:ext cx="320040" cy="320040"/>
          </a:xfrm>
          <a:prstGeom prst="rect">
            <a:avLst/>
          </a:prstGeom>
        </p:spPr>
      </p:pic>
      <p:sp>
        <p:nvSpPr>
          <p:cNvPr id="29" name="Text 23"/>
          <p:cNvSpPr/>
          <p:nvPr/>
        </p:nvSpPr>
        <p:spPr>
          <a:xfrm>
            <a:off x="6858000" y="2651760"/>
            <a:ext cx="1600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 Entry Points</a:t>
            </a:r>
            <a:endParaRPr lang="en-US" sz="1400" dirty="0"/>
          </a:p>
        </p:txBody>
      </p:sp>
      <p:sp>
        <p:nvSpPr>
          <p:cNvPr id="30" name="Text 24"/>
          <p:cNvSpPr/>
          <p:nvPr/>
        </p:nvSpPr>
        <p:spPr>
          <a:xfrm>
            <a:off x="6858000" y="3017520"/>
            <a:ext cx="16002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Greenfield, Build,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Managed, Rescue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0"/>
            <a:ext cx="8046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Problem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2129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4800600"/>
            <a:ext cx="8229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Salesforce Consulting Framework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051560"/>
            <a:ext cx="8046720" cy="8229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548640" y="1051560"/>
            <a:ext cx="64008" cy="822960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777240" y="1188720"/>
            <a:ext cx="548640" cy="548640"/>
          </a:xfrm>
          <a:prstGeom prst="line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en-US">
              <a:solidFill>
                <a:schemeClr val="accent1"/>
              </a:solidFill>
            </a:endParaRPr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>
            <a:duotone>
              <a:prstClr val="black"/>
              <a:srgbClr val="065A82">
                <a:tint val="45000"/>
                <a:satMod val="400000"/>
              </a:srgbClr>
            </a:duotone>
          </a:blip>
          <a:stretch>
            <a:fillRect/>
          </a:stretch>
        </p:blipFill>
        <p:spPr>
          <a:xfrm>
            <a:off x="886968" y="1298448"/>
            <a:ext cx="320040" cy="32004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554480" y="1051560"/>
            <a:ext cx="2286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Inconsistent Delivery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3657600" y="1051560"/>
            <a:ext cx="4754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consultant starts from scratch — different naming, different docs, different quality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48640" y="2011680"/>
            <a:ext cx="8046720" cy="8229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0"/>
          <p:cNvSpPr/>
          <p:nvPr/>
        </p:nvSpPr>
        <p:spPr>
          <a:xfrm>
            <a:off x="548640" y="2011680"/>
            <a:ext cx="64008" cy="822960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1"/>
          <p:cNvSpPr/>
          <p:nvPr/>
        </p:nvSpPr>
        <p:spPr>
          <a:xfrm>
            <a:off x="777240" y="2148840"/>
            <a:ext cx="548640" cy="548640"/>
          </a:xfrm>
          <a:prstGeom prst="line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en-US">
              <a:solidFill>
                <a:schemeClr val="accent1"/>
              </a:solidFill>
            </a:endParaRPr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>
            <a:duotone>
              <a:prstClr val="black"/>
              <a:srgbClr val="065A82">
                <a:tint val="45000"/>
                <a:satMod val="400000"/>
              </a:srgbClr>
            </a:duotone>
          </a:blip>
          <a:stretch>
            <a:fillRect/>
          </a:stretch>
        </p:blipFill>
        <p:spPr>
          <a:xfrm>
            <a:off x="886968" y="2258568"/>
            <a:ext cx="320040" cy="32004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1554480" y="2011680"/>
            <a:ext cx="2286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Knowledge Silos</a:t>
            </a:r>
            <a:endParaRPr lang="en-US" sz="1400" dirty="0"/>
          </a:p>
        </p:txBody>
      </p:sp>
      <p:sp>
        <p:nvSpPr>
          <p:cNvPr id="17" name="Text 13"/>
          <p:cNvSpPr/>
          <p:nvPr/>
        </p:nvSpPr>
        <p:spPr>
          <a:xfrm>
            <a:off x="3657600" y="2011680"/>
            <a:ext cx="4754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Tribal knowledge locked in individuals; no reusable playbooks or patterns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548640" y="2971800"/>
            <a:ext cx="8046720" cy="8229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5"/>
          <p:cNvSpPr/>
          <p:nvPr/>
        </p:nvSpPr>
        <p:spPr>
          <a:xfrm>
            <a:off x="548640" y="2971800"/>
            <a:ext cx="64008" cy="822960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Shape 16"/>
          <p:cNvSpPr/>
          <p:nvPr/>
        </p:nvSpPr>
        <p:spPr>
          <a:xfrm>
            <a:off x="777240" y="3108960"/>
            <a:ext cx="548640" cy="548640"/>
          </a:xfrm>
          <a:prstGeom prst="line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en-US">
              <a:solidFill>
                <a:schemeClr val="accent1"/>
              </a:solidFill>
            </a:endParaRPr>
          </a:p>
        </p:txBody>
      </p:sp>
      <p:pic>
        <p:nvPicPr>
          <p:cNvPr id="21" name="Image 2" descr="preencoded.png"/>
          <p:cNvPicPr>
            <a:picLocks noChangeAspect="1"/>
          </p:cNvPicPr>
          <p:nvPr/>
        </p:nvPicPr>
        <p:blipFill>
          <a:blip r:embed="rId5">
            <a:duotone>
              <a:prstClr val="black"/>
              <a:srgbClr val="065A82">
                <a:tint val="45000"/>
                <a:satMod val="400000"/>
              </a:srgbClr>
            </a:duotone>
          </a:blip>
          <a:stretch>
            <a:fillRect/>
          </a:stretch>
        </p:blipFill>
        <p:spPr>
          <a:xfrm>
            <a:off x="886968" y="3218688"/>
            <a:ext cx="320040" cy="320040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1554480" y="2971800"/>
            <a:ext cx="2286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Technical Debt</a:t>
            </a:r>
            <a:endParaRPr lang="en-US" sz="1400" dirty="0"/>
          </a:p>
        </p:txBody>
      </p:sp>
      <p:sp>
        <p:nvSpPr>
          <p:cNvPr id="23" name="Text 18"/>
          <p:cNvSpPr/>
          <p:nvPr/>
        </p:nvSpPr>
        <p:spPr>
          <a:xfrm>
            <a:off x="3657600" y="2971800"/>
            <a:ext cx="4754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Skipped standards, missing tests, undocumented decisions compound across engagements</a:t>
            </a:r>
            <a:endParaRPr lang="en-US" sz="1200" dirty="0"/>
          </a:p>
        </p:txBody>
      </p:sp>
      <p:sp>
        <p:nvSpPr>
          <p:cNvPr id="24" name="Shape 19"/>
          <p:cNvSpPr/>
          <p:nvPr/>
        </p:nvSpPr>
        <p:spPr>
          <a:xfrm>
            <a:off x="548640" y="3931920"/>
            <a:ext cx="8046720" cy="8229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20"/>
          <p:cNvSpPr/>
          <p:nvPr/>
        </p:nvSpPr>
        <p:spPr>
          <a:xfrm>
            <a:off x="548640" y="3931920"/>
            <a:ext cx="64008" cy="822960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Shape 21"/>
          <p:cNvSpPr/>
          <p:nvPr/>
        </p:nvSpPr>
        <p:spPr>
          <a:xfrm>
            <a:off x="777240" y="4069080"/>
            <a:ext cx="548640" cy="548640"/>
          </a:xfrm>
          <a:prstGeom prst="line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en-US">
              <a:solidFill>
                <a:schemeClr val="accent1"/>
              </a:solidFill>
            </a:endParaRPr>
          </a:p>
        </p:txBody>
      </p:sp>
      <p:pic>
        <p:nvPicPr>
          <p:cNvPr id="27" name="Image 3" descr="preencoded.png"/>
          <p:cNvPicPr>
            <a:picLocks noChangeAspect="1"/>
          </p:cNvPicPr>
          <p:nvPr/>
        </p:nvPicPr>
        <p:blipFill>
          <a:blip r:embed="rId6">
            <a:duotone>
              <a:prstClr val="black"/>
              <a:srgbClr val="065A82">
                <a:tint val="45000"/>
                <a:satMod val="400000"/>
              </a:srgbClr>
            </a:duotone>
          </a:blip>
          <a:stretch>
            <a:fillRect/>
          </a:stretch>
        </p:blipFill>
        <p:spPr>
          <a:xfrm>
            <a:off x="886968" y="4178808"/>
            <a:ext cx="320040" cy="320040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1554480" y="3931920"/>
            <a:ext cx="2286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Slow Ramp-Up</a:t>
            </a:r>
            <a:endParaRPr lang="en-US" sz="1400" dirty="0"/>
          </a:p>
        </p:txBody>
      </p:sp>
      <p:sp>
        <p:nvSpPr>
          <p:cNvPr id="29" name="Text 23"/>
          <p:cNvSpPr/>
          <p:nvPr/>
        </p:nvSpPr>
        <p:spPr>
          <a:xfrm>
            <a:off x="3657600" y="3931920"/>
            <a:ext cx="4754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team members take weeks to understand project context, conventions, and decisions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0"/>
            <a:ext cx="8046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Framework Overview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2129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4800600"/>
            <a:ext cx="8229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Salesforce Consulting Framework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097280"/>
            <a:ext cx="1645920" cy="100584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48640" y="1097280"/>
            <a:ext cx="16459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Skills Layer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377440" y="1188720"/>
            <a:ext cx="1981200" cy="8229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2377440" y="1188720"/>
            <a:ext cx="54864" cy="82296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2487168" y="1188720"/>
            <a:ext cx="1798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sf-project-init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495800" y="1188720"/>
            <a:ext cx="1981200" cy="8229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4495800" y="1188720"/>
            <a:ext cx="54864" cy="82296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605528" y="1188720"/>
            <a:ext cx="1798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sf-architect-solutioning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614160" y="1188720"/>
            <a:ext cx="1981200" cy="8229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6614160" y="1188720"/>
            <a:ext cx="54864" cy="82296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723888" y="1188720"/>
            <a:ext cx="1798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Golden Rules Engine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8640" y="2331720"/>
            <a:ext cx="1645920" cy="100584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548640" y="2331720"/>
            <a:ext cx="16459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Process Layer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2377440" y="2423160"/>
            <a:ext cx="1981200" cy="8229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2377440" y="2423160"/>
            <a:ext cx="54864" cy="82296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2487168" y="2423160"/>
            <a:ext cx="1798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8-Round Interview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495800" y="2423160"/>
            <a:ext cx="1981200" cy="8229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4495800" y="2423160"/>
            <a:ext cx="54864" cy="82296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4605528" y="2423160"/>
            <a:ext cx="1798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Entry Points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614160" y="2423160"/>
            <a:ext cx="1981200" cy="8229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6614160" y="2423160"/>
            <a:ext cx="54864" cy="82296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6723888" y="2423160"/>
            <a:ext cx="1798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6-Phase Lifecycle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48640" y="3566160"/>
            <a:ext cx="1645920" cy="1005840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548640" y="3566160"/>
            <a:ext cx="16459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Output Layer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2377440" y="3657600"/>
            <a:ext cx="1451610" cy="8229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2377440" y="3657600"/>
            <a:ext cx="54864" cy="822960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2487168" y="3657600"/>
            <a:ext cx="126873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SFDX Project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3966210" y="3657600"/>
            <a:ext cx="1451610" cy="8229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3966210" y="3657600"/>
            <a:ext cx="54864" cy="822960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4075938" y="3657600"/>
            <a:ext cx="126873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Living Docs (8)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5554980" y="3657600"/>
            <a:ext cx="1451610" cy="8229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7" name="Shape 35"/>
          <p:cNvSpPr/>
          <p:nvPr/>
        </p:nvSpPr>
        <p:spPr>
          <a:xfrm>
            <a:off x="5554980" y="3657600"/>
            <a:ext cx="54864" cy="822960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5664708" y="3657600"/>
            <a:ext cx="126873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CI/CD Pipelines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7143750" y="3657600"/>
            <a:ext cx="1451610" cy="8229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0" name="Shape 38"/>
          <p:cNvSpPr/>
          <p:nvPr/>
        </p:nvSpPr>
        <p:spPr>
          <a:xfrm>
            <a:off x="7143750" y="3657600"/>
            <a:ext cx="54864" cy="822960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7253478" y="3657600"/>
            <a:ext cx="126873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Backlog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0"/>
            <a:ext cx="8046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Deliverables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2129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4800600"/>
            <a:ext cx="8229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Salesforce Consulting Framework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051560"/>
            <a:ext cx="1920240" cy="50292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57200" y="1051560"/>
            <a:ext cx="1920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Skills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1645920"/>
            <a:ext cx="173736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sf-project-init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sf-architect-solutioning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560320" y="1051560"/>
            <a:ext cx="1920240" cy="50292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2560320" y="1051560"/>
            <a:ext cx="1920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Living Docs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560320" y="1634025"/>
            <a:ext cx="201168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BACKLOG.md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REQUIREMENTS.md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TECHNICAL_SPEC.md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DATA_MODEL.md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CODE_ATLAS.md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COMPONENT_REGISTRY.md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DECISIONS.md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CHANGELOG.md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63440" y="1051560"/>
            <a:ext cx="1920240" cy="50292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663440" y="1051560"/>
            <a:ext cx="1920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Diagrams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663440" y="1622130"/>
            <a:ext cx="173736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 Overview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Lifecycle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 Loop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CI/CD Pipeline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Flow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 Flows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Stack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Mapping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766560" y="1051560"/>
            <a:ext cx="1920240" cy="502920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766560" y="1051560"/>
            <a:ext cx="1920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Project Scaffold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766560" y="1641460"/>
            <a:ext cx="173736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SFDX project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CI/CD pipelines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project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Wiki structure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Deliverable dirs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0"/>
            <a:ext cx="8046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sf-project-init Skill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2129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4800600"/>
            <a:ext cx="8229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Salesforce Consulting Framework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48640" y="10058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Initialize and scaffold a Salesforce consulting engagement with a structured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8-round expert interview, tailored configuration, and auto-generated project artifacts.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80060" y="2011680"/>
            <a:ext cx="1417320" cy="1097280"/>
          </a:xfrm>
          <a:prstGeom prst="rect">
            <a:avLst/>
          </a:prstGeom>
          <a:solidFill>
            <a:srgbClr val="0D9488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80060" y="2011680"/>
            <a:ext cx="1417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Interview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Rounds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897380" y="2011680"/>
            <a:ext cx="274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2171700" y="2011680"/>
            <a:ext cx="1417320" cy="1097280"/>
          </a:xfrm>
          <a:prstGeom prst="rect">
            <a:avLst/>
          </a:prstGeom>
          <a:solidFill>
            <a:srgbClr val="1C7293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2171700" y="2011680"/>
            <a:ext cx="1417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 &amp;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589020" y="2011680"/>
            <a:ext cx="274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863340" y="2011680"/>
            <a:ext cx="1417320" cy="1097280"/>
          </a:xfrm>
          <a:prstGeom prst="rect">
            <a:avLst/>
          </a:prstGeom>
          <a:solidFill>
            <a:srgbClr val="065A82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3863340" y="2011680"/>
            <a:ext cx="1417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Scaffolding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Generation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280660" y="2011680"/>
            <a:ext cx="274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5554980" y="2011680"/>
            <a:ext cx="1417320" cy="1097280"/>
          </a:xfrm>
          <a:prstGeom prst="rect">
            <a:avLst/>
          </a:prstGeom>
          <a:solidFill>
            <a:srgbClr val="21295C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5554980" y="2011680"/>
            <a:ext cx="1417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972300" y="2011680"/>
            <a:ext cx="274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7246620" y="2011680"/>
            <a:ext cx="1417320" cy="1097280"/>
          </a:xfrm>
          <a:prstGeom prst="rect">
            <a:avLst/>
          </a:prstGeom>
          <a:solidFill>
            <a:srgbClr val="D97706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7246620" y="2011680"/>
            <a:ext cx="1417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Post-Creation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48640" y="3383280"/>
            <a:ext cx="8046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Generates: </a:t>
            </a: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CLAUDE.md  |  SFDX project  |  8 living docs  |  CI/CD pipelines  |  Linear project + milestones + issues  |  Wiki structure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48640" y="393192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Entry Points: </a:t>
            </a: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Greenfield/Discovery  |  Build Phase  |  Managed Services  |  Rescue/Takeover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0"/>
            <a:ext cx="8046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 Interview Rounds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2129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4800600"/>
            <a:ext cx="8229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Salesforce Consulting Framework</a:t>
            </a:r>
            <a:endParaRPr lang="en-US" sz="9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051560"/>
          <a:ext cx="8046720" cy="3438144"/>
        </p:xfrm>
        <a:graphic>
          <a:graphicData uri="http://schemas.openxmlformats.org/drawingml/2006/table">
            <a:tbl>
              <a:tblPr/>
              <a:tblGrid>
                <a:gridCol w="457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486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#</a:t>
                      </a:r>
                      <a:endParaRPr lang="en-US" sz="11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Round</a:t>
                      </a:r>
                      <a:endParaRPr lang="en-US" sz="11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Key Topics</a:t>
                      </a:r>
                      <a:endParaRPr lang="en-US" sz="11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65A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Engagement Context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Client, project, role, team, entry point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65A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Org &amp; Environment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Org type, environments, scratch org strategy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65A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Products &amp; Scope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SF clouds, AppExchange, integrations, migration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65A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Entry-Point Deep Dive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Adaptive questions based on entry point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65A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Deliverables &amp; Docs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Deliverables, Linear setup, living documents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65A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 Standards &amp; CI/CD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Branching, pipelines, code review, 16 Golden Rules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65A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Security &amp; Compliance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classification, HIPAA/SOX/PCI/GDPR, Shield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65A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Conventions &amp; Prefs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Naming, communication style, MCP config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0"/>
            <a:ext cx="8046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Four Entry Points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2129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4800600"/>
            <a:ext cx="8229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Salesforce Consulting Framework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7492" y="1097280"/>
            <a:ext cx="1874520" cy="32918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507492" y="1097280"/>
            <a:ext cx="1874520" cy="118872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1216152" y="1234440"/>
            <a:ext cx="457200" cy="457200"/>
          </a:xfrm>
          <a:prstGeom prst="lin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>
            <a:biLevel thresh="25000"/>
          </a:blip>
          <a:stretch>
            <a:fillRect/>
          </a:stretch>
        </p:blipFill>
        <p:spPr>
          <a:xfrm>
            <a:off x="1307592" y="1325880"/>
            <a:ext cx="274320" cy="27432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507492" y="1737360"/>
            <a:ext cx="1874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Greenfield /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Discovery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4652" y="2468880"/>
            <a:ext cx="16002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Brand-new implementation.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lifecycle from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 gathering.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2592324" y="1097280"/>
            <a:ext cx="1874520" cy="32918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0"/>
          <p:cNvSpPr/>
          <p:nvPr/>
        </p:nvSpPr>
        <p:spPr>
          <a:xfrm>
            <a:off x="2592324" y="1097280"/>
            <a:ext cx="1874520" cy="118872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1"/>
          <p:cNvSpPr/>
          <p:nvPr/>
        </p:nvSpPr>
        <p:spPr>
          <a:xfrm>
            <a:off x="3300984" y="1234440"/>
            <a:ext cx="457200" cy="457200"/>
          </a:xfrm>
          <a:prstGeom prst="lin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>
            <a:biLevel thresh="25000"/>
          </a:blip>
          <a:stretch>
            <a:fillRect/>
          </a:stretch>
        </p:blipFill>
        <p:spPr>
          <a:xfrm>
            <a:off x="3392424" y="1325880"/>
            <a:ext cx="274320" cy="27432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2592324" y="1737360"/>
            <a:ext cx="1874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Phase</a:t>
            </a:r>
            <a:endParaRPr lang="en-US" sz="1200" dirty="0"/>
          </a:p>
        </p:txBody>
      </p:sp>
      <p:sp>
        <p:nvSpPr>
          <p:cNvPr id="17" name="Text 13"/>
          <p:cNvSpPr/>
          <p:nvPr/>
        </p:nvSpPr>
        <p:spPr>
          <a:xfrm>
            <a:off x="2729484" y="2468880"/>
            <a:ext cx="16002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 exist.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Jump to development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existing specs.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4677156" y="1097280"/>
            <a:ext cx="1874520" cy="32918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5"/>
          <p:cNvSpPr/>
          <p:nvPr/>
        </p:nvSpPr>
        <p:spPr>
          <a:xfrm>
            <a:off x="4677156" y="1097280"/>
            <a:ext cx="1874520" cy="118872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Shape 16"/>
          <p:cNvSpPr/>
          <p:nvPr/>
        </p:nvSpPr>
        <p:spPr>
          <a:xfrm>
            <a:off x="5385816" y="1234440"/>
            <a:ext cx="457200" cy="457200"/>
          </a:xfrm>
          <a:prstGeom prst="lin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1" name="Image 2" descr="preencoded.png"/>
          <p:cNvPicPr>
            <a:picLocks noChangeAspect="1"/>
          </p:cNvPicPr>
          <p:nvPr/>
        </p:nvPicPr>
        <p:blipFill>
          <a:blip r:embed="rId5">
            <a:biLevel thresh="25000"/>
          </a:blip>
          <a:stretch>
            <a:fillRect/>
          </a:stretch>
        </p:blipFill>
        <p:spPr>
          <a:xfrm>
            <a:off x="5477256" y="1325880"/>
            <a:ext cx="274320" cy="274320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4677156" y="1737360"/>
            <a:ext cx="1874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Managed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Services</a:t>
            </a:r>
            <a:endParaRPr lang="en-US" sz="1200" dirty="0"/>
          </a:p>
        </p:txBody>
      </p:sp>
      <p:sp>
        <p:nvSpPr>
          <p:cNvPr id="23" name="Text 18"/>
          <p:cNvSpPr/>
          <p:nvPr/>
        </p:nvSpPr>
        <p:spPr>
          <a:xfrm>
            <a:off x="4814316" y="2468880"/>
            <a:ext cx="16002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support.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Ticket-driven, SLA-based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incremental enhancements.</a:t>
            </a:r>
            <a:endParaRPr lang="en-US" sz="1100" dirty="0"/>
          </a:p>
        </p:txBody>
      </p:sp>
      <p:sp>
        <p:nvSpPr>
          <p:cNvPr id="24" name="Shape 19"/>
          <p:cNvSpPr/>
          <p:nvPr/>
        </p:nvSpPr>
        <p:spPr>
          <a:xfrm>
            <a:off x="6761988" y="1097280"/>
            <a:ext cx="1874520" cy="32918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20"/>
          <p:cNvSpPr/>
          <p:nvPr/>
        </p:nvSpPr>
        <p:spPr>
          <a:xfrm>
            <a:off x="6761988" y="1097280"/>
            <a:ext cx="1874520" cy="1188720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Shape 21"/>
          <p:cNvSpPr/>
          <p:nvPr/>
        </p:nvSpPr>
        <p:spPr>
          <a:xfrm>
            <a:off x="7470648" y="1234440"/>
            <a:ext cx="457200" cy="457200"/>
          </a:xfrm>
          <a:prstGeom prst="lin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7" name="Image 3" descr="preencoded.png"/>
          <p:cNvPicPr>
            <a:picLocks noChangeAspect="1"/>
          </p:cNvPicPr>
          <p:nvPr/>
        </p:nvPicPr>
        <p:blipFill>
          <a:blip r:embed="rId6">
            <a:biLevel thresh="25000"/>
          </a:blip>
          <a:stretch>
            <a:fillRect/>
          </a:stretch>
        </p:blipFill>
        <p:spPr>
          <a:xfrm>
            <a:off x="7562088" y="1325880"/>
            <a:ext cx="274320" cy="274320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6761988" y="1737360"/>
            <a:ext cx="1874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Rescue /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Takeover</a:t>
            </a:r>
            <a:endParaRPr lang="en-US" sz="1200" dirty="0"/>
          </a:p>
        </p:txBody>
      </p:sp>
      <p:sp>
        <p:nvSpPr>
          <p:cNvPr id="29" name="Text 23"/>
          <p:cNvSpPr/>
          <p:nvPr/>
        </p:nvSpPr>
        <p:spPr>
          <a:xfrm>
            <a:off x="6899148" y="2468880"/>
            <a:ext cx="16002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Failed project recovery.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Assess, stabilize,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remediate, rebuild.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0"/>
            <a:ext cx="8046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Interview Adaptations by Entry Point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2129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4800600"/>
            <a:ext cx="8229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Salesforce Consulting Framework</a:t>
            </a:r>
            <a:endParaRPr lang="en-US" sz="9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51560"/>
          <a:ext cx="8412480" cy="3200400"/>
        </p:xfrm>
        <a:graphic>
          <a:graphicData uri="http://schemas.openxmlformats.org/drawingml/2006/table">
            <a:tbl>
              <a:tblPr/>
              <a:tblGrid>
                <a:gridCol w="1463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9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Greenfield</a:t>
                      </a:r>
                      <a:endParaRPr lang="en-US" sz="9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948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Build Phase</a:t>
                      </a:r>
                      <a:endParaRPr lang="en-US" sz="9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Managed Services</a:t>
                      </a:r>
                      <a:endParaRPr lang="en-US" sz="9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Rescue/Takeover</a:t>
                      </a:r>
                      <a:endParaRPr lang="en-US" sz="9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770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Round 4 Focus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Discovery workshops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Stakeholder mapping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Sprint planning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Backlog review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SLA definition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Ticket triage setup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Audit &amp; assessment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 identification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Deliverables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BRD, SDD, Data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Migration Plan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Validate SDD, Test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Plan, Sprint Backlog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Org Assessment,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SLA Docs, Support Plan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Rescue Assessment,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Remediation Plan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 Milestones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Discovery → Design →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Build → Test → Deploy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Design → Build →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 → Deploy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Assessment →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Stabilize → Support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Assessment → Remediate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 Stabilize → Build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Timeline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12-26 weeks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8-20 weeks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Ongoing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12-30 weeks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0"/>
            <a:ext cx="8046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 Golden Rules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2129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4800600"/>
            <a:ext cx="8229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Salesforce Consulting Framework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051560"/>
            <a:ext cx="365760" cy="36576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48640" y="10515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005840" y="105156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Bulkification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663440" y="1051560"/>
            <a:ext cx="365760" cy="36576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663440" y="10515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120640" y="105156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SLDS Compliance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48640" y="1490472"/>
            <a:ext cx="365760" cy="36576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548640" y="1490472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005840" y="1490472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SOQL/DML in Loops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663440" y="1490472"/>
            <a:ext cx="365760" cy="36576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663440" y="1490472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120640" y="1490472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Classification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48640" y="1929384"/>
            <a:ext cx="365760" cy="36576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548640" y="1929384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1005840" y="1929384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Trigger Handler Pattern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663440" y="1929384"/>
            <a:ext cx="365760" cy="36576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4663440" y="1929384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120640" y="1929384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Before Modifying Objects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48640" y="2368296"/>
            <a:ext cx="365760" cy="36576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548640" y="2368296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005840" y="2368296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Governor Limit Awareness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663440" y="2368296"/>
            <a:ext cx="365760" cy="36576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4663440" y="2368296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120640" y="2368296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 Time Budget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8640" y="2807208"/>
            <a:ext cx="365760" cy="36576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548640" y="280720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005840" y="2807208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CRUD/FLS Enforcement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663440" y="2807208"/>
            <a:ext cx="365760" cy="36576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4663440" y="280720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120640" y="2807208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Naming Conventions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548640" y="3246120"/>
            <a:ext cx="365760" cy="36576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548640" y="32461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1005840" y="324612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With/Without Sharing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4663440" y="3246120"/>
            <a:ext cx="365760" cy="36576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4663440" y="32461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120640" y="324612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Living Document Sync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548640" y="3685032"/>
            <a:ext cx="365760" cy="36576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3" name="Text 41"/>
          <p:cNvSpPr/>
          <p:nvPr/>
        </p:nvSpPr>
        <p:spPr>
          <a:xfrm>
            <a:off x="548640" y="3685032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1005840" y="3685032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Coverage 85%+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4663440" y="3685032"/>
            <a:ext cx="365760" cy="36576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6" name="Text 44"/>
          <p:cNvSpPr/>
          <p:nvPr/>
        </p:nvSpPr>
        <p:spPr>
          <a:xfrm>
            <a:off x="4663440" y="3685032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5120640" y="3685032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 Registry Updates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548640" y="4123944"/>
            <a:ext cx="365760" cy="36576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9" name="Text 47"/>
          <p:cNvSpPr/>
          <p:nvPr/>
        </p:nvSpPr>
        <p:spPr>
          <a:xfrm>
            <a:off x="548640" y="4123944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1005840" y="4123944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Metadata-First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4663440" y="4123944"/>
            <a:ext cx="365760" cy="36576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2" name="Text 50"/>
          <p:cNvSpPr/>
          <p:nvPr/>
        </p:nvSpPr>
        <p:spPr>
          <a:xfrm>
            <a:off x="4663440" y="4123944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5120640" y="4123944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 Testing with Playwright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8046720" y="3246120"/>
            <a:ext cx="548640" cy="228600"/>
          </a:xfrm>
          <a:prstGeom prst="rect">
            <a:avLst/>
          </a:prstGeom>
          <a:solidFill>
            <a:srgbClr val="0D9488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0"/>
            <a:ext cx="8046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sf-architect-solutioning Skill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2129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4800600"/>
            <a:ext cx="8229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Salesforce Consulting Framework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48640" y="100584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"No code without a plan. No plan without clear requirements."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Pre-Implementation Gate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2103120"/>
            <a:ext cx="1463040" cy="6400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548640" y="2103120"/>
            <a:ext cx="54864" cy="64008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58368" y="2103120"/>
            <a:ext cx="1280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BRD / Requirements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194560" y="2103120"/>
            <a:ext cx="1463040" cy="6400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2194560" y="2103120"/>
            <a:ext cx="54864" cy="64008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2304288" y="2103120"/>
            <a:ext cx="1280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Spec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840480" y="2103120"/>
            <a:ext cx="1463040" cy="6400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3840480" y="2103120"/>
            <a:ext cx="54864" cy="64008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3950208" y="2103120"/>
            <a:ext cx="1280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Model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86400" y="2103120"/>
            <a:ext cx="1463040" cy="6400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5486400" y="2103120"/>
            <a:ext cx="54864" cy="64008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5596128" y="2103120"/>
            <a:ext cx="1280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 Registry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132320" y="2103120"/>
            <a:ext cx="1463040" cy="6400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7132320" y="2103120"/>
            <a:ext cx="54864" cy="64008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7242048" y="2103120"/>
            <a:ext cx="1280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Standards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48640" y="29260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Workflow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85800" y="3383280"/>
            <a:ext cx="1371600" cy="822960"/>
          </a:xfrm>
          <a:prstGeom prst="rect">
            <a:avLst/>
          </a:prstGeom>
          <a:solidFill>
            <a:srgbClr val="1C7293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685800" y="338328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 Exist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2057400" y="3383280"/>
            <a:ext cx="228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2286000" y="3383280"/>
            <a:ext cx="1371600" cy="822960"/>
          </a:xfrm>
          <a:prstGeom prst="rect">
            <a:avLst/>
          </a:prstGeom>
          <a:solidFill>
            <a:srgbClr val="1C7293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2286000" y="338328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Clarify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3657600" y="3383280"/>
            <a:ext cx="228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886200" y="3383280"/>
            <a:ext cx="1371600" cy="822960"/>
          </a:xfrm>
          <a:prstGeom prst="rect">
            <a:avLst/>
          </a:prstGeom>
          <a:solidFill>
            <a:srgbClr val="1C7293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3886200" y="338328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5257800" y="3383280"/>
            <a:ext cx="228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5486400" y="3383280"/>
            <a:ext cx="1371600" cy="822960"/>
          </a:xfrm>
          <a:prstGeom prst="rect">
            <a:avLst/>
          </a:prstGeom>
          <a:solidFill>
            <a:srgbClr val="1C7293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5486400" y="338328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&amp;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858000" y="3383280"/>
            <a:ext cx="228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7086600" y="3383280"/>
            <a:ext cx="1371600" cy="822960"/>
          </a:xfrm>
          <a:prstGeom prst="rect">
            <a:avLst/>
          </a:prstGeom>
          <a:solidFill>
            <a:srgbClr val="1C7293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7086600" y="338328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Begin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0"/>
            <a:ext cx="8046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Scaffolded Project Output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2129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4800600"/>
            <a:ext cx="8229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Salesforce Consulting Framework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06908" y="1051560"/>
            <a:ext cx="1965960" cy="41148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06908" y="1051560"/>
            <a:ext cx="1965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project-root/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98348" y="1554480"/>
            <a:ext cx="178308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CLAUDE.md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README.md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sfdx-project.json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528316" y="1051560"/>
            <a:ext cx="1965960" cy="41148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2528316" y="1051560"/>
            <a:ext cx="1965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docs/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619756" y="1554480"/>
            <a:ext cx="178308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BACKLOG.md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REQUIREMENTS.md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TECHNICAL_SPEC.md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DATA_MODEL.md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CODE_ATLAS.md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COMPONENT_REGISTRY.md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DECISIONS.md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CHANGELOG.md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649724" y="1051560"/>
            <a:ext cx="1965960" cy="41148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649724" y="1051560"/>
            <a:ext cx="1965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force-app/main/default/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741164" y="1554480"/>
            <a:ext cx="178308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classes/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triggers/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lwc/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flows/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objects/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permissionsets/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771132" y="1051560"/>
            <a:ext cx="1965960" cy="41148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771132" y="1051560"/>
            <a:ext cx="1965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wiki/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862572" y="1554480"/>
            <a:ext cx="178308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organization-overview.md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ways-of-working/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applications/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548640" y="438912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generated: 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.github/workflows/  |  deliverables/  |  config/  |  scripts/  |  archive/  |  .forceignore  |  .gitignore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0"/>
            <a:ext cx="8046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Tool Integration Ecosystem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2129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4800600"/>
            <a:ext cx="8229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Salesforce Consulting Framework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474720" y="2103120"/>
            <a:ext cx="2194560" cy="1097280"/>
          </a:xfrm>
          <a:prstGeom prst="line">
            <a:avLst/>
          </a:prstGeom>
          <a:solidFill>
            <a:srgbClr val="065A82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3363208" y="1920240"/>
            <a:ext cx="2194560" cy="1097280"/>
          </a:xfrm>
          <a:prstGeom prst="rect">
            <a:avLst/>
          </a:prstGeom>
          <a:solidFill>
            <a:srgbClr val="7030A0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Claude Code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+ 2 Skills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914400" y="1097280"/>
            <a:ext cx="1645920" cy="822960"/>
          </a:xfrm>
          <a:prstGeom prst="rect">
            <a:avLst/>
          </a:prstGeom>
          <a:solidFill>
            <a:srgbClr val="0D9488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914400" y="1097280"/>
            <a:ext cx="1645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Salesforce CLI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675120" y="1097280"/>
            <a:ext cx="1645920" cy="822960"/>
          </a:xfrm>
          <a:prstGeom prst="rect">
            <a:avLst/>
          </a:prstGeom>
          <a:solidFill>
            <a:srgbClr val="1C7293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675120" y="1097280"/>
            <a:ext cx="1645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914400" y="3291840"/>
            <a:ext cx="1645920" cy="822960"/>
          </a:xfrm>
          <a:prstGeom prst="rect">
            <a:avLst/>
          </a:prstGeom>
          <a:solidFill>
            <a:srgbClr val="D97706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914400" y="3291840"/>
            <a:ext cx="1645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Context7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675120" y="3291840"/>
            <a:ext cx="1645920" cy="822960"/>
          </a:xfrm>
          <a:prstGeom prst="rect">
            <a:avLst/>
          </a:prstGeom>
          <a:solidFill>
            <a:srgbClr val="21295C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675120" y="3291840"/>
            <a:ext cx="1645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Playwright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37528" y="3474720"/>
            <a:ext cx="1645920" cy="822960"/>
          </a:xfrm>
          <a:prstGeom prst="rect">
            <a:avLst/>
          </a:prstGeom>
          <a:solidFill>
            <a:srgbClr val="0E7490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3637528" y="3474720"/>
            <a:ext cx="1645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Actions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48640" y="448056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Optional: tsmztech/mcp-server-salesforce  |  jaganpro/sf-skills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0"/>
            <a:ext cx="8046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CI/CD Pipeline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2129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4800600"/>
            <a:ext cx="8229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Salesforce Consulting Framework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188720"/>
            <a:ext cx="1463040" cy="914400"/>
          </a:xfrm>
          <a:prstGeom prst="rect">
            <a:avLst/>
          </a:prstGeom>
          <a:solidFill>
            <a:srgbClr val="1C7293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57200" y="1188720"/>
            <a:ext cx="1463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Feature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Branch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194560"/>
            <a:ext cx="146304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920240" y="1188720"/>
            <a:ext cx="228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2148840" y="1188720"/>
            <a:ext cx="1463040" cy="914400"/>
          </a:xfrm>
          <a:prstGeom prst="rect">
            <a:avLst/>
          </a:prstGeom>
          <a:solidFill>
            <a:srgbClr val="0D9488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2148840" y="1188720"/>
            <a:ext cx="1463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Pull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Request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148840" y="2194560"/>
            <a:ext cx="146304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sf-validate.yml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Apex tests 85%+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611880" y="1188720"/>
            <a:ext cx="228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3840480" y="1188720"/>
            <a:ext cx="1463040" cy="914400"/>
          </a:xfrm>
          <a:prstGeom prst="rect">
            <a:avLst/>
          </a:prstGeom>
          <a:solidFill>
            <a:srgbClr val="065A82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3840480" y="1188720"/>
            <a:ext cx="1463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Develop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Branch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840480" y="2194560"/>
            <a:ext cx="146304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sf-deploy.yml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Sandbox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303520" y="1188720"/>
            <a:ext cx="228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5532120" y="1188720"/>
            <a:ext cx="1463040" cy="914400"/>
          </a:xfrm>
          <a:prstGeom prst="rect">
            <a:avLst/>
          </a:prstGeom>
          <a:solidFill>
            <a:srgbClr val="21295C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5532120" y="1188720"/>
            <a:ext cx="1463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Release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Branch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532120" y="2194560"/>
            <a:ext cx="146304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/ UAT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 gates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995160" y="1188720"/>
            <a:ext cx="228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7223760" y="1188720"/>
            <a:ext cx="1463040" cy="914400"/>
          </a:xfrm>
          <a:prstGeom prst="rect">
            <a:avLst/>
          </a:prstGeom>
          <a:solidFill>
            <a:srgbClr val="D97706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7223760" y="1188720"/>
            <a:ext cx="1463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Main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Branch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7223760" y="2194560"/>
            <a:ext cx="146304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sf-deploy.yml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Production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48640" y="32004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GitFlow Branching Strategy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548640" y="356616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 ←  release/*  ←  develop  ←  feature/RIH-*  |  hotfix/* → main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48640" y="4023360"/>
            <a:ext cx="2651760" cy="6400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548640" y="4023360"/>
            <a:ext cx="64008" cy="64008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685800" y="402336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sf-validate.yml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85800" y="429768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+ test + coverage check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3383280" y="4023360"/>
            <a:ext cx="2651760" cy="6400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3383280" y="4023360"/>
            <a:ext cx="64008" cy="64008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3520440" y="402336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sf-deploy.yml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3520440" y="429768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to sandbox/production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6217920" y="4023360"/>
            <a:ext cx="2651760" cy="6400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6217920" y="4023360"/>
            <a:ext cx="64008" cy="64008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6355080" y="402336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linear-sync.yml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355080" y="429768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 Linear → BACKLOG.md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0"/>
            <a:ext cx="8046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 Interactive Reference Diagrams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2129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4800600"/>
            <a:ext cx="8229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Salesforce Consulting Framework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097280"/>
            <a:ext cx="1874520" cy="15544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548640" y="1097280"/>
            <a:ext cx="64008" cy="155448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731520" y="1280160"/>
            <a:ext cx="411480" cy="411480"/>
          </a:xfrm>
          <a:prstGeom prst="lin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" y="1353312"/>
            <a:ext cx="274320" cy="27432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234440" y="1234440"/>
            <a:ext cx="1051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Framework Overview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1234440" y="1600200"/>
            <a:ext cx="10515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3-lane swim-lane flow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6 phases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2606040" y="1097280"/>
            <a:ext cx="1874520" cy="15544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0"/>
          <p:cNvSpPr/>
          <p:nvPr/>
        </p:nvSpPr>
        <p:spPr>
          <a:xfrm>
            <a:off x="2606040" y="1097280"/>
            <a:ext cx="64008" cy="155448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1"/>
          <p:cNvSpPr/>
          <p:nvPr/>
        </p:nvSpPr>
        <p:spPr>
          <a:xfrm>
            <a:off x="2788920" y="1280160"/>
            <a:ext cx="411480" cy="411480"/>
          </a:xfrm>
          <a:prstGeom prst="lin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62072" y="1353312"/>
            <a:ext cx="274320" cy="27432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3291840" y="1234440"/>
            <a:ext cx="1051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Project Lifecycle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3291840" y="1600200"/>
            <a:ext cx="10515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Discovery through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hypercare phases</a:t>
            </a:r>
            <a:endParaRPr lang="en-US" sz="900" dirty="0"/>
          </a:p>
        </p:txBody>
      </p:sp>
      <p:sp>
        <p:nvSpPr>
          <p:cNvPr id="18" name="Shape 14"/>
          <p:cNvSpPr/>
          <p:nvPr/>
        </p:nvSpPr>
        <p:spPr>
          <a:xfrm>
            <a:off x="4663440" y="1097280"/>
            <a:ext cx="1874520" cy="15544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5"/>
          <p:cNvSpPr/>
          <p:nvPr/>
        </p:nvSpPr>
        <p:spPr>
          <a:xfrm>
            <a:off x="4663440" y="1097280"/>
            <a:ext cx="64008" cy="155448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Shape 16"/>
          <p:cNvSpPr/>
          <p:nvPr/>
        </p:nvSpPr>
        <p:spPr>
          <a:xfrm>
            <a:off x="4846320" y="1280160"/>
            <a:ext cx="411480" cy="411480"/>
          </a:xfrm>
          <a:prstGeom prst="lin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19472" y="1353312"/>
            <a:ext cx="274320" cy="274320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5349240" y="1234440"/>
            <a:ext cx="1051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Dev Loop</a:t>
            </a:r>
            <a:endParaRPr lang="en-US" sz="1100" dirty="0"/>
          </a:p>
        </p:txBody>
      </p:sp>
      <p:sp>
        <p:nvSpPr>
          <p:cNvPr id="23" name="Text 18"/>
          <p:cNvSpPr/>
          <p:nvPr/>
        </p:nvSpPr>
        <p:spPr>
          <a:xfrm>
            <a:off x="5349240" y="1600200"/>
            <a:ext cx="10515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Iterative sprint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development cycle</a:t>
            </a:r>
            <a:endParaRPr lang="en-US" sz="900" dirty="0"/>
          </a:p>
        </p:txBody>
      </p:sp>
      <p:sp>
        <p:nvSpPr>
          <p:cNvPr id="24" name="Shape 19"/>
          <p:cNvSpPr/>
          <p:nvPr/>
        </p:nvSpPr>
        <p:spPr>
          <a:xfrm>
            <a:off x="6720840" y="1097280"/>
            <a:ext cx="1874520" cy="15544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20"/>
          <p:cNvSpPr/>
          <p:nvPr/>
        </p:nvSpPr>
        <p:spPr>
          <a:xfrm>
            <a:off x="6720840" y="1097280"/>
            <a:ext cx="64008" cy="155448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Shape 21"/>
          <p:cNvSpPr/>
          <p:nvPr/>
        </p:nvSpPr>
        <p:spPr>
          <a:xfrm>
            <a:off x="6903720" y="1280160"/>
            <a:ext cx="411480" cy="411480"/>
          </a:xfrm>
          <a:prstGeom prst="lin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76872" y="1353312"/>
            <a:ext cx="274320" cy="274320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7406640" y="1234440"/>
            <a:ext cx="1051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CI/CD Pipeline</a:t>
            </a:r>
            <a:endParaRPr lang="en-US" sz="1100" dirty="0"/>
          </a:p>
        </p:txBody>
      </p:sp>
      <p:sp>
        <p:nvSpPr>
          <p:cNvPr id="29" name="Text 23"/>
          <p:cNvSpPr/>
          <p:nvPr/>
        </p:nvSpPr>
        <p:spPr>
          <a:xfrm>
            <a:off x="7406640" y="1600200"/>
            <a:ext cx="10515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progression flow</a:t>
            </a:r>
            <a:endParaRPr lang="en-US" sz="900" dirty="0"/>
          </a:p>
        </p:txBody>
      </p:sp>
      <p:sp>
        <p:nvSpPr>
          <p:cNvPr id="30" name="Shape 24"/>
          <p:cNvSpPr/>
          <p:nvPr/>
        </p:nvSpPr>
        <p:spPr>
          <a:xfrm>
            <a:off x="548640" y="2788920"/>
            <a:ext cx="1874520" cy="15544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1" name="Shape 25"/>
          <p:cNvSpPr/>
          <p:nvPr/>
        </p:nvSpPr>
        <p:spPr>
          <a:xfrm>
            <a:off x="548640" y="2788920"/>
            <a:ext cx="64008" cy="155448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Shape 26"/>
          <p:cNvSpPr/>
          <p:nvPr/>
        </p:nvSpPr>
        <p:spPr>
          <a:xfrm>
            <a:off x="731520" y="2971800"/>
            <a:ext cx="411480" cy="411480"/>
          </a:xfrm>
          <a:prstGeom prst="lin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3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4672" y="3044952"/>
            <a:ext cx="274320" cy="274320"/>
          </a:xfrm>
          <a:prstGeom prst="rect">
            <a:avLst/>
          </a:prstGeom>
        </p:spPr>
      </p:pic>
      <p:sp>
        <p:nvSpPr>
          <p:cNvPr id="34" name="Text 27"/>
          <p:cNvSpPr/>
          <p:nvPr/>
        </p:nvSpPr>
        <p:spPr>
          <a:xfrm>
            <a:off x="1234440" y="2926080"/>
            <a:ext cx="1051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Integration Flow</a:t>
            </a:r>
            <a:endParaRPr lang="en-US" sz="1100" dirty="0"/>
          </a:p>
        </p:txBody>
      </p:sp>
      <p:sp>
        <p:nvSpPr>
          <p:cNvPr id="35" name="Text 28"/>
          <p:cNvSpPr/>
          <p:nvPr/>
        </p:nvSpPr>
        <p:spPr>
          <a:xfrm>
            <a:off x="1234440" y="3291840"/>
            <a:ext cx="10515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integration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patterns</a:t>
            </a:r>
            <a:endParaRPr lang="en-US" sz="900" dirty="0"/>
          </a:p>
        </p:txBody>
      </p:sp>
      <p:sp>
        <p:nvSpPr>
          <p:cNvPr id="36" name="Shape 29"/>
          <p:cNvSpPr/>
          <p:nvPr/>
        </p:nvSpPr>
        <p:spPr>
          <a:xfrm>
            <a:off x="2606040" y="2788920"/>
            <a:ext cx="1874520" cy="15544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7" name="Shape 30"/>
          <p:cNvSpPr/>
          <p:nvPr/>
        </p:nvSpPr>
        <p:spPr>
          <a:xfrm>
            <a:off x="2606040" y="2788920"/>
            <a:ext cx="64008" cy="155448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8" name="Shape 31"/>
          <p:cNvSpPr/>
          <p:nvPr/>
        </p:nvSpPr>
        <p:spPr>
          <a:xfrm>
            <a:off x="2788920" y="2971800"/>
            <a:ext cx="411480" cy="411480"/>
          </a:xfrm>
          <a:prstGeom prst="lin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9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862072" y="3044952"/>
            <a:ext cx="274320" cy="274320"/>
          </a:xfrm>
          <a:prstGeom prst="rect">
            <a:avLst/>
          </a:prstGeom>
        </p:spPr>
      </p:pic>
      <p:sp>
        <p:nvSpPr>
          <p:cNvPr id="40" name="Text 32"/>
          <p:cNvSpPr/>
          <p:nvPr/>
        </p:nvSpPr>
        <p:spPr>
          <a:xfrm>
            <a:off x="3291840" y="2926080"/>
            <a:ext cx="1051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Scenario Flows</a:t>
            </a:r>
            <a:endParaRPr lang="en-US" sz="1100" dirty="0"/>
          </a:p>
        </p:txBody>
      </p:sp>
      <p:sp>
        <p:nvSpPr>
          <p:cNvPr id="41" name="Text 33"/>
          <p:cNvSpPr/>
          <p:nvPr/>
        </p:nvSpPr>
        <p:spPr>
          <a:xfrm>
            <a:off x="3291840" y="3291840"/>
            <a:ext cx="10515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Entry-point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walkthroughs</a:t>
            </a:r>
            <a:endParaRPr lang="en-US" sz="900" dirty="0"/>
          </a:p>
        </p:txBody>
      </p:sp>
      <p:sp>
        <p:nvSpPr>
          <p:cNvPr id="42" name="Shape 34"/>
          <p:cNvSpPr/>
          <p:nvPr/>
        </p:nvSpPr>
        <p:spPr>
          <a:xfrm>
            <a:off x="4663440" y="2788920"/>
            <a:ext cx="1874520" cy="15544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3" name="Shape 35"/>
          <p:cNvSpPr/>
          <p:nvPr/>
        </p:nvSpPr>
        <p:spPr>
          <a:xfrm>
            <a:off x="4663440" y="2788920"/>
            <a:ext cx="64008" cy="155448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4" name="Shape 36"/>
          <p:cNvSpPr/>
          <p:nvPr/>
        </p:nvSpPr>
        <p:spPr>
          <a:xfrm>
            <a:off x="4846320" y="2971800"/>
            <a:ext cx="411480" cy="411480"/>
          </a:xfrm>
          <a:prstGeom prst="lin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5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919472" y="3044952"/>
            <a:ext cx="274320" cy="274320"/>
          </a:xfrm>
          <a:prstGeom prst="rect">
            <a:avLst/>
          </a:prstGeom>
        </p:spPr>
      </p:pic>
      <p:sp>
        <p:nvSpPr>
          <p:cNvPr id="46" name="Text 37"/>
          <p:cNvSpPr/>
          <p:nvPr/>
        </p:nvSpPr>
        <p:spPr>
          <a:xfrm>
            <a:off x="5349240" y="2926080"/>
            <a:ext cx="1051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Tech Stack</a:t>
            </a:r>
            <a:endParaRPr lang="en-US" sz="1100" dirty="0"/>
          </a:p>
        </p:txBody>
      </p:sp>
      <p:sp>
        <p:nvSpPr>
          <p:cNvPr id="47" name="Text 38"/>
          <p:cNvSpPr/>
          <p:nvPr/>
        </p:nvSpPr>
        <p:spPr>
          <a:xfrm>
            <a:off x="5349240" y="3291840"/>
            <a:ext cx="10515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 component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relationships</a:t>
            </a:r>
            <a:endParaRPr lang="en-US" sz="900" dirty="0"/>
          </a:p>
        </p:txBody>
      </p:sp>
      <p:sp>
        <p:nvSpPr>
          <p:cNvPr id="48" name="Shape 39"/>
          <p:cNvSpPr/>
          <p:nvPr/>
        </p:nvSpPr>
        <p:spPr>
          <a:xfrm>
            <a:off x="6720840" y="2788920"/>
            <a:ext cx="1874520" cy="15544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9" name="Shape 40"/>
          <p:cNvSpPr/>
          <p:nvPr/>
        </p:nvSpPr>
        <p:spPr>
          <a:xfrm>
            <a:off x="6720840" y="2788920"/>
            <a:ext cx="64008" cy="155448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0" name="Shape 41"/>
          <p:cNvSpPr/>
          <p:nvPr/>
        </p:nvSpPr>
        <p:spPr>
          <a:xfrm>
            <a:off x="6903720" y="2971800"/>
            <a:ext cx="411480" cy="411480"/>
          </a:xfrm>
          <a:prstGeom prst="lin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51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976872" y="3044952"/>
            <a:ext cx="274320" cy="274320"/>
          </a:xfrm>
          <a:prstGeom prst="rect">
            <a:avLst/>
          </a:prstGeom>
        </p:spPr>
      </p:pic>
      <p:sp>
        <p:nvSpPr>
          <p:cNvPr id="52" name="Text 42"/>
          <p:cNvSpPr/>
          <p:nvPr/>
        </p:nvSpPr>
        <p:spPr>
          <a:xfrm>
            <a:off x="7406640" y="2926080"/>
            <a:ext cx="1051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Tool Mapping</a:t>
            </a:r>
            <a:endParaRPr lang="en-US" sz="1100" dirty="0"/>
          </a:p>
        </p:txBody>
      </p:sp>
      <p:sp>
        <p:nvSpPr>
          <p:cNvPr id="53" name="Text 43"/>
          <p:cNvSpPr/>
          <p:nvPr/>
        </p:nvSpPr>
        <p:spPr>
          <a:xfrm>
            <a:off x="7406640" y="3291840"/>
            <a:ext cx="10515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mapped to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 phases</a:t>
            </a:r>
            <a:endParaRPr lang="en-US" sz="900" dirty="0"/>
          </a:p>
        </p:txBody>
      </p:sp>
      <p:sp>
        <p:nvSpPr>
          <p:cNvPr id="54" name="Text 44"/>
          <p:cNvSpPr/>
          <p:nvPr/>
        </p:nvSpPr>
        <p:spPr>
          <a:xfrm>
            <a:off x="548640" y="443484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diagrams are interactive HTML files — open in browser for full exploration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0"/>
            <a:ext cx="8046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Project Lifecycle Phases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2129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4800600"/>
            <a:ext cx="8229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Salesforce Consulting Framework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62356" y="1188720"/>
            <a:ext cx="1051560" cy="64008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62356" y="1188720"/>
            <a:ext cx="1051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Discovery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62356" y="1554480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2-4w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62356" y="1965960"/>
            <a:ext cx="10515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stakeholder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interviews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613916" y="1188720"/>
            <a:ext cx="10972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C7293"/>
                </a:solidFill>
              </a:rPr>
              <a:t>▶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1723644" y="1188720"/>
            <a:ext cx="1051560" cy="64008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1723644" y="1188720"/>
            <a:ext cx="1051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Design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723644" y="1554480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2-3w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723644" y="1965960"/>
            <a:ext cx="10515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model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prototyping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2775204" y="1188720"/>
            <a:ext cx="10972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C7293"/>
                </a:solidFill>
              </a:rPr>
              <a:t>▶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2884932" y="1188720"/>
            <a:ext cx="1051560" cy="64008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2884932" y="1188720"/>
            <a:ext cx="1051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2884932" y="1554480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4-12w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2884932" y="1965960"/>
            <a:ext cx="10515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dev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configuration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customization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3936492" y="1188720"/>
            <a:ext cx="10972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C7293"/>
                </a:solidFill>
              </a:rPr>
              <a:t>▶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046220" y="1188720"/>
            <a:ext cx="1051560" cy="640080"/>
          </a:xfrm>
          <a:prstGeom prst="rect">
            <a:avLst/>
          </a:prstGeom>
          <a:solidFill>
            <a:srgbClr val="2129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4046220" y="1188720"/>
            <a:ext cx="1051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Test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046220" y="1554480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2-4w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046220" y="1965960"/>
            <a:ext cx="10515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System, UAT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5097780" y="1188720"/>
            <a:ext cx="10972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C7293"/>
                </a:solidFill>
              </a:rPr>
              <a:t>▶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207508" y="1188720"/>
            <a:ext cx="1051560" cy="640080"/>
          </a:xfrm>
          <a:prstGeom prst="rect">
            <a:avLst/>
          </a:prstGeom>
          <a:solidFill>
            <a:srgbClr val="0E749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5207508" y="1188720"/>
            <a:ext cx="1051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Deploy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207508" y="1554480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1-2w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5207508" y="1965960"/>
            <a:ext cx="10515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migration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6259068" y="1188720"/>
            <a:ext cx="10972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C7293"/>
                </a:solidFill>
              </a:rPr>
              <a:t>▶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368796" y="1188720"/>
            <a:ext cx="1051560" cy="640080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6368796" y="1188720"/>
            <a:ext cx="1051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Go-Live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368796" y="1554480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1w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6368796" y="1965960"/>
            <a:ext cx="10515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monitoring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7420356" y="1188720"/>
            <a:ext cx="10972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C7293"/>
                </a:solidFill>
              </a:rPr>
              <a:t>▶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7530084" y="1188720"/>
            <a:ext cx="1051560" cy="64008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7530084" y="1188720"/>
            <a:ext cx="1051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Hypercare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7530084" y="1554480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2-4w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7530084" y="1965960"/>
            <a:ext cx="10515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Stabilization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bug fixes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KT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548640" y="36576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Timeline adapts per entry point — Greenfield runs full lifecycle; Build Phase and Rescue skip/compress early phases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0"/>
            <a:ext cx="8046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Linear Project Auto-Creation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2129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4800600"/>
            <a:ext cx="8229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Salesforce Consulting Framework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48640" y="100584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sf-project-init automatically creates a fully-structured Linear project with milestones, cycles, and starter issues.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94360" y="1645920"/>
            <a:ext cx="2468880" cy="25603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594360" y="1645920"/>
            <a:ext cx="64008" cy="256032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731520" y="173736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Project &amp; Milestones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77240" y="2194560"/>
            <a:ext cx="210312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with description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Phase-based milestones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dates per phase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labels created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337560" y="1645920"/>
            <a:ext cx="2468880" cy="25603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3337560" y="1645920"/>
            <a:ext cx="64008" cy="256032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3474720" y="173736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Cycles (Sprints)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520440" y="2194560"/>
            <a:ext cx="210312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2-week sprint cycles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Auto-numbered naming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Aligned to milestones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Velocity tracking ready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080760" y="1645920"/>
            <a:ext cx="2468880" cy="25603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6080760" y="1645920"/>
            <a:ext cx="64008" cy="2560320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217920" y="173736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Starter Issues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263640" y="2194560"/>
            <a:ext cx="210312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Epic-level tickets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breakdowns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Story-level tasks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&amp; assignee set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0"/>
            <a:ext cx="8046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Salesforce Product Coverage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2129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4800600"/>
            <a:ext cx="8229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Salesforce Consulting Framework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62940" y="1097280"/>
            <a:ext cx="251460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662940" y="1097280"/>
            <a:ext cx="64008" cy="77724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845820" y="114300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Sales Cloud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45820" y="150876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Leads, opportunities, forecasting, CPQ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314700" y="1097280"/>
            <a:ext cx="251460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3314700" y="1097280"/>
            <a:ext cx="64008" cy="77724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497580" y="114300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Service Cloud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497580" y="150876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Cases, SLAs, Omni-Channel, Knowledge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966460" y="1097280"/>
            <a:ext cx="251460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5966460" y="1097280"/>
            <a:ext cx="64008" cy="77724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149340" y="114300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Experience Cloud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149340" y="150876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Portals, communities, custom themes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62940" y="2011680"/>
            <a:ext cx="251460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662940" y="2011680"/>
            <a:ext cx="64008" cy="77724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845820" y="205740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Marketing Cloud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45820" y="242316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Journeys, email, segmentation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314700" y="2011680"/>
            <a:ext cx="251460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3314700" y="2011680"/>
            <a:ext cx="64008" cy="77724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3497580" y="205740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 Cloud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3497580" y="242316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Ingestion, unified profiles, activation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966460" y="2011680"/>
            <a:ext cx="251460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5966460" y="2011680"/>
            <a:ext cx="64008" cy="77724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6149340" y="205740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Revenue / CPQ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149340" y="242316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Quotes, pricing, subscriptions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62940" y="2926080"/>
            <a:ext cx="251460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662940" y="2926080"/>
            <a:ext cx="64008" cy="77724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845820" y="297180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Industries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845820" y="333756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OmniStudio, FlexCards, DataRaptors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3314700" y="2926080"/>
            <a:ext cx="251460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3314700" y="2926080"/>
            <a:ext cx="64008" cy="77724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3497580" y="297180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MuleSoft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3497580" y="333756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management, integrations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5966460" y="2926080"/>
            <a:ext cx="251460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9" name="Shape 37"/>
          <p:cNvSpPr/>
          <p:nvPr/>
        </p:nvSpPr>
        <p:spPr>
          <a:xfrm>
            <a:off x="5966460" y="2926080"/>
            <a:ext cx="64008" cy="77724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6149340" y="297180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Tableau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6149340" y="333756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Dashboards, CRM Analytics, predictions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0"/>
            <a:ext cx="8046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Salesforce Well-Architected Integration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2129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4800600"/>
            <a:ext cx="8229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Salesforce Consulting Framework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71500" y="1097280"/>
            <a:ext cx="2514600" cy="32004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571500" y="1097280"/>
            <a:ext cx="2514600" cy="73152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1577340" y="1188720"/>
            <a:ext cx="502920" cy="502920"/>
          </a:xfrm>
          <a:prstGeom prst="lin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68780" y="1280160"/>
            <a:ext cx="320040" cy="32004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571500" y="1783080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Trusted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754380" y="2103120"/>
            <a:ext cx="214884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CRUD/FLS enforcement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Shield encryption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classification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workflows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(HIPAA, SOX, PCI, GDPR)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3314700" y="1097280"/>
            <a:ext cx="2514600" cy="32004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0"/>
          <p:cNvSpPr/>
          <p:nvPr/>
        </p:nvSpPr>
        <p:spPr>
          <a:xfrm>
            <a:off x="3314700" y="1097280"/>
            <a:ext cx="2514600" cy="73152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1"/>
          <p:cNvSpPr/>
          <p:nvPr/>
        </p:nvSpPr>
        <p:spPr>
          <a:xfrm>
            <a:off x="4320540" y="1188720"/>
            <a:ext cx="502920" cy="502920"/>
          </a:xfrm>
          <a:prstGeom prst="lin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11980" y="1280160"/>
            <a:ext cx="320040" cy="32004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3314700" y="1783080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Easy</a:t>
            </a:r>
            <a:endParaRPr lang="en-US" sz="1800" dirty="0"/>
          </a:p>
        </p:txBody>
      </p:sp>
      <p:sp>
        <p:nvSpPr>
          <p:cNvPr id="17" name="Text 13"/>
          <p:cNvSpPr/>
          <p:nvPr/>
        </p:nvSpPr>
        <p:spPr>
          <a:xfrm>
            <a:off x="3497580" y="2103120"/>
            <a:ext cx="214884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Metadata-first approach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SLDS compliance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Consistent naming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Living documentation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scaffolding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6057900" y="1097280"/>
            <a:ext cx="2514600" cy="32004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5"/>
          <p:cNvSpPr/>
          <p:nvPr/>
        </p:nvSpPr>
        <p:spPr>
          <a:xfrm>
            <a:off x="6057900" y="1097280"/>
            <a:ext cx="2514600" cy="731520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Shape 16"/>
          <p:cNvSpPr/>
          <p:nvPr/>
        </p:nvSpPr>
        <p:spPr>
          <a:xfrm>
            <a:off x="7063740" y="1188720"/>
            <a:ext cx="502920" cy="502920"/>
          </a:xfrm>
          <a:prstGeom prst="lin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55180" y="1280160"/>
            <a:ext cx="320040" cy="320040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6057900" y="1783080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Adaptable</a:t>
            </a:r>
            <a:endParaRPr lang="en-US" sz="1800" dirty="0"/>
          </a:p>
        </p:txBody>
      </p:sp>
      <p:sp>
        <p:nvSpPr>
          <p:cNvPr id="23" name="Text 18"/>
          <p:cNvSpPr/>
          <p:nvPr/>
        </p:nvSpPr>
        <p:spPr>
          <a:xfrm>
            <a:off x="6240780" y="2103120"/>
            <a:ext cx="214884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entry points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Modular architecture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 promotion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Iterative development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Flexible engagement types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731520" y="2011680"/>
            <a:ext cx="1097280" cy="54864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31520" y="228600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Sample Engagement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731520" y="329184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Services Cloud — Greenfield Walkthrough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0"/>
            <a:ext cx="8046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Meet the Client: Apex Financial Group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2129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4800600"/>
            <a:ext cx="8229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Salesforce Consulting Framework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051560"/>
            <a:ext cx="3840480" cy="11887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548640" y="1051560"/>
            <a:ext cx="64008" cy="118872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77240" y="114300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Apex Financial Group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77240" y="1508760"/>
            <a:ext cx="3474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Mid-size wealth management firm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 advisors across 15 offices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Legacy CRM → FSC greenfield migration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754880" y="1051560"/>
            <a:ext cx="4023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Goals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846320" y="1371600"/>
            <a:ext cx="37490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advisor desktop with 360° client view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client onboarding workflows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engine for regulatory reporting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performance reporting &amp; analytics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48640" y="246888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Salesforce Products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" y="2880360"/>
            <a:ext cx="1554480" cy="502920"/>
          </a:xfrm>
          <a:prstGeom prst="rect">
            <a:avLst/>
          </a:prstGeom>
          <a:solidFill>
            <a:srgbClr val="1C7293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66344" y="2880360"/>
            <a:ext cx="1554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Services Cloud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130552" y="2880360"/>
            <a:ext cx="1554480" cy="502920"/>
          </a:xfrm>
          <a:prstGeom prst="rect">
            <a:avLst/>
          </a:prstGeom>
          <a:solidFill>
            <a:srgbClr val="1C7293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2130552" y="2880360"/>
            <a:ext cx="1554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Experience Cloud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794760" y="2880360"/>
            <a:ext cx="1554480" cy="502920"/>
          </a:xfrm>
          <a:prstGeom prst="rect">
            <a:avLst/>
          </a:prstGeom>
          <a:solidFill>
            <a:srgbClr val="1C7293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3794760" y="2880360"/>
            <a:ext cx="1554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Cloud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458968" y="2880360"/>
            <a:ext cx="1554480" cy="502920"/>
          </a:xfrm>
          <a:prstGeom prst="rect">
            <a:avLst/>
          </a:prstGeom>
          <a:solidFill>
            <a:srgbClr val="1C7293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5458968" y="2880360"/>
            <a:ext cx="1554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Shield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123176" y="2880360"/>
            <a:ext cx="1554480" cy="502920"/>
          </a:xfrm>
          <a:prstGeom prst="rect">
            <a:avLst/>
          </a:prstGeom>
          <a:solidFill>
            <a:srgbClr val="1C7293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7123176" y="2880360"/>
            <a:ext cx="1554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Tableau CRM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48640" y="356616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Compliance Requirements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617220" y="3931920"/>
            <a:ext cx="1874520" cy="411480"/>
          </a:xfrm>
          <a:prstGeom prst="rect">
            <a:avLst/>
          </a:prstGeom>
          <a:solidFill>
            <a:srgbClr val="D97706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617220" y="3931920"/>
            <a:ext cx="1874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 Protection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2628900" y="3931920"/>
            <a:ext cx="1874520" cy="411480"/>
          </a:xfrm>
          <a:prstGeom prst="rect">
            <a:avLst/>
          </a:prstGeom>
          <a:solidFill>
            <a:srgbClr val="D97706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2628900" y="3931920"/>
            <a:ext cx="1874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PCI DSS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640580" y="3931920"/>
            <a:ext cx="1874520" cy="411480"/>
          </a:xfrm>
          <a:prstGeom prst="rect">
            <a:avLst/>
          </a:prstGeom>
          <a:solidFill>
            <a:srgbClr val="D97706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4640580" y="3931920"/>
            <a:ext cx="1874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 Regulations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652260" y="3931920"/>
            <a:ext cx="1874520" cy="411480"/>
          </a:xfrm>
          <a:prstGeom prst="rect">
            <a:avLst/>
          </a:prstGeom>
          <a:solidFill>
            <a:srgbClr val="D97706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6652260" y="3931920"/>
            <a:ext cx="1874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SOX Compliance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0"/>
            <a:ext cx="8046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Consulting Team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2129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4800600"/>
            <a:ext cx="8229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Salesforce Consulting Framework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0" y="1097280"/>
            <a:ext cx="548640" cy="548640"/>
          </a:xfrm>
          <a:prstGeom prst="line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>
              <a:solidFill>
                <a:schemeClr val="accent1"/>
              </a:solidFill>
            </a:endParaRPr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820" y="1216152"/>
            <a:ext cx="320040" cy="320040"/>
          </a:xfrm>
          <a:prstGeom prst="rect">
            <a:avLst/>
          </a:prstGeom>
          <a:solidFill>
            <a:schemeClr val="accent1"/>
          </a:solidFill>
        </p:spPr>
      </p:pic>
      <p:sp>
        <p:nvSpPr>
          <p:cNvPr id="8" name="Text 5"/>
          <p:cNvSpPr/>
          <p:nvPr/>
        </p:nvSpPr>
        <p:spPr>
          <a:xfrm>
            <a:off x="457200" y="1737360"/>
            <a:ext cx="1097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Engagement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Lead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457200" y="2331720"/>
            <a:ext cx="109728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relationship,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management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1920240" y="1097280"/>
            <a:ext cx="548640" cy="548640"/>
          </a:xfrm>
          <a:prstGeom prst="lin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>
              <a:solidFill>
                <a:schemeClr val="accent1"/>
              </a:solidFill>
            </a:endParaRPr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34540" y="1216152"/>
            <a:ext cx="320040" cy="320040"/>
          </a:xfrm>
          <a:prstGeom prst="rect">
            <a:avLst/>
          </a:prstGeom>
          <a:solidFill>
            <a:schemeClr val="accent1"/>
          </a:solidFill>
        </p:spPr>
      </p:pic>
      <p:sp>
        <p:nvSpPr>
          <p:cNvPr id="12" name="Text 8"/>
          <p:cNvSpPr/>
          <p:nvPr/>
        </p:nvSpPr>
        <p:spPr>
          <a:xfrm>
            <a:off x="1645920" y="1737360"/>
            <a:ext cx="1097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Solution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Architect</a:t>
            </a:r>
            <a:endParaRPr lang="en-US" sz="1000" dirty="0"/>
          </a:p>
        </p:txBody>
      </p:sp>
      <p:sp>
        <p:nvSpPr>
          <p:cNvPr id="13" name="Text 9"/>
          <p:cNvSpPr/>
          <p:nvPr/>
        </p:nvSpPr>
        <p:spPr>
          <a:xfrm>
            <a:off x="1645920" y="2331720"/>
            <a:ext cx="109728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design,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model, integrations</a:t>
            </a:r>
            <a:endParaRPr lang="en-US" sz="800" dirty="0"/>
          </a:p>
        </p:txBody>
      </p:sp>
      <p:sp>
        <p:nvSpPr>
          <p:cNvPr id="14" name="Shape 10"/>
          <p:cNvSpPr/>
          <p:nvPr/>
        </p:nvSpPr>
        <p:spPr>
          <a:xfrm>
            <a:off x="3108960" y="1097280"/>
            <a:ext cx="548640" cy="548640"/>
          </a:xfrm>
          <a:prstGeom prst="lin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>
              <a:solidFill>
                <a:schemeClr val="accent1"/>
              </a:solidFill>
            </a:endParaRPr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23260" y="1216152"/>
            <a:ext cx="320040" cy="320040"/>
          </a:xfrm>
          <a:prstGeom prst="rect">
            <a:avLst/>
          </a:prstGeom>
          <a:solidFill>
            <a:schemeClr val="accent1"/>
          </a:solidFill>
        </p:spPr>
      </p:pic>
      <p:sp>
        <p:nvSpPr>
          <p:cNvPr id="16" name="Text 11"/>
          <p:cNvSpPr/>
          <p:nvPr/>
        </p:nvSpPr>
        <p:spPr>
          <a:xfrm>
            <a:off x="2834640" y="1737360"/>
            <a:ext cx="1097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Developer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</a:t>
            </a:r>
            <a:endParaRPr lang="en-US" sz="1000" dirty="0"/>
          </a:p>
        </p:txBody>
      </p:sp>
      <p:sp>
        <p:nvSpPr>
          <p:cNvPr id="17" name="Text 12"/>
          <p:cNvSpPr/>
          <p:nvPr/>
        </p:nvSpPr>
        <p:spPr>
          <a:xfrm>
            <a:off x="2834640" y="2331720"/>
            <a:ext cx="109728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onboarding,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engine</a:t>
            </a:r>
            <a:endParaRPr lang="en-US" sz="800" dirty="0"/>
          </a:p>
        </p:txBody>
      </p:sp>
      <p:sp>
        <p:nvSpPr>
          <p:cNvPr id="18" name="Shape 13"/>
          <p:cNvSpPr/>
          <p:nvPr/>
        </p:nvSpPr>
        <p:spPr>
          <a:xfrm>
            <a:off x="4297680" y="1097280"/>
            <a:ext cx="548640" cy="548640"/>
          </a:xfrm>
          <a:prstGeom prst="lin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>
              <a:solidFill>
                <a:schemeClr val="accent1"/>
              </a:solidFill>
            </a:endParaRPr>
          </a:p>
        </p:txBody>
      </p:sp>
      <p:pic>
        <p:nvPicPr>
          <p:cNvPr id="19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11980" y="1216152"/>
            <a:ext cx="320040" cy="320040"/>
          </a:xfrm>
          <a:prstGeom prst="rect">
            <a:avLst/>
          </a:prstGeom>
          <a:solidFill>
            <a:schemeClr val="accent1"/>
          </a:solidFill>
        </p:spPr>
      </p:pic>
      <p:sp>
        <p:nvSpPr>
          <p:cNvPr id="20" name="Text 14"/>
          <p:cNvSpPr/>
          <p:nvPr/>
        </p:nvSpPr>
        <p:spPr>
          <a:xfrm>
            <a:off x="4023360" y="1737360"/>
            <a:ext cx="1097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Developer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4023360" y="2331720"/>
            <a:ext cx="109728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Advisor portal LWC,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 dashboards</a:t>
            </a:r>
            <a:endParaRPr lang="en-US" sz="800" dirty="0"/>
          </a:p>
        </p:txBody>
      </p:sp>
      <p:sp>
        <p:nvSpPr>
          <p:cNvPr id="22" name="Shape 16"/>
          <p:cNvSpPr/>
          <p:nvPr/>
        </p:nvSpPr>
        <p:spPr>
          <a:xfrm>
            <a:off x="5486400" y="1097280"/>
            <a:ext cx="548640" cy="548640"/>
          </a:xfrm>
          <a:prstGeom prst="line">
            <a:avLst/>
          </a:prstGeom>
          <a:solidFill>
            <a:srgbClr val="0E7490"/>
          </a:solidFill>
          <a:ln/>
        </p:spPr>
        <p:txBody>
          <a:bodyPr/>
          <a:lstStyle/>
          <a:p>
            <a:endParaRPr lang="en-US">
              <a:solidFill>
                <a:schemeClr val="accent1"/>
              </a:solidFill>
            </a:endParaRPr>
          </a:p>
        </p:txBody>
      </p:sp>
      <p:pic>
        <p:nvPicPr>
          <p:cNvPr id="23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00700" y="1216152"/>
            <a:ext cx="320040" cy="320040"/>
          </a:xfrm>
          <a:prstGeom prst="rect">
            <a:avLst/>
          </a:prstGeom>
          <a:solidFill>
            <a:schemeClr val="accent1"/>
          </a:solidFill>
        </p:spPr>
      </p:pic>
      <p:sp>
        <p:nvSpPr>
          <p:cNvPr id="24" name="Text 17"/>
          <p:cNvSpPr/>
          <p:nvPr/>
        </p:nvSpPr>
        <p:spPr>
          <a:xfrm>
            <a:off x="5212080" y="1737360"/>
            <a:ext cx="1097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Admin /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Config</a:t>
            </a:r>
            <a:endParaRPr lang="en-US" sz="1000" dirty="0"/>
          </a:p>
        </p:txBody>
      </p:sp>
      <p:sp>
        <p:nvSpPr>
          <p:cNvPr id="25" name="Text 18"/>
          <p:cNvSpPr/>
          <p:nvPr/>
        </p:nvSpPr>
        <p:spPr>
          <a:xfrm>
            <a:off x="5212080" y="2331720"/>
            <a:ext cx="109728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Flows, permissions,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layouts, security</a:t>
            </a:r>
            <a:endParaRPr lang="en-US" sz="800" dirty="0"/>
          </a:p>
        </p:txBody>
      </p:sp>
      <p:sp>
        <p:nvSpPr>
          <p:cNvPr id="26" name="Shape 19"/>
          <p:cNvSpPr/>
          <p:nvPr/>
        </p:nvSpPr>
        <p:spPr>
          <a:xfrm>
            <a:off x="6675120" y="1097280"/>
            <a:ext cx="548640" cy="548640"/>
          </a:xfrm>
          <a:prstGeom prst="line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en-US">
              <a:solidFill>
                <a:schemeClr val="accent1"/>
              </a:solidFill>
            </a:endParaRPr>
          </a:p>
        </p:txBody>
      </p:sp>
      <p:pic>
        <p:nvPicPr>
          <p:cNvPr id="27" name="Image 5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9420" y="1216152"/>
            <a:ext cx="320040" cy="320040"/>
          </a:xfrm>
          <a:prstGeom prst="rect">
            <a:avLst/>
          </a:prstGeom>
          <a:solidFill>
            <a:schemeClr val="accent1"/>
          </a:solidFill>
        </p:spPr>
      </p:pic>
      <p:sp>
        <p:nvSpPr>
          <p:cNvPr id="28" name="Text 20"/>
          <p:cNvSpPr/>
          <p:nvPr/>
        </p:nvSpPr>
        <p:spPr>
          <a:xfrm>
            <a:off x="6400800" y="1737360"/>
            <a:ext cx="1097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Business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Analyst</a:t>
            </a:r>
            <a:endParaRPr lang="en-US" sz="1000" dirty="0"/>
          </a:p>
        </p:txBody>
      </p:sp>
      <p:sp>
        <p:nvSpPr>
          <p:cNvPr id="29" name="Text 21"/>
          <p:cNvSpPr/>
          <p:nvPr/>
        </p:nvSpPr>
        <p:spPr>
          <a:xfrm>
            <a:off x="6400800" y="2331720"/>
            <a:ext cx="109728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Requirements, UAT,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materials</a:t>
            </a:r>
            <a:endParaRPr lang="en-US" sz="800" dirty="0"/>
          </a:p>
        </p:txBody>
      </p:sp>
      <p:sp>
        <p:nvSpPr>
          <p:cNvPr id="30" name="Shape 22"/>
          <p:cNvSpPr/>
          <p:nvPr/>
        </p:nvSpPr>
        <p:spPr>
          <a:xfrm>
            <a:off x="7863840" y="1097280"/>
            <a:ext cx="548640" cy="548640"/>
          </a:xfrm>
          <a:prstGeom prst="line">
            <a:avLst/>
          </a:prstGeom>
          <a:solidFill>
            <a:srgbClr val="21295C"/>
          </a:solidFill>
          <a:ln/>
        </p:spPr>
        <p:txBody>
          <a:bodyPr/>
          <a:lstStyle/>
          <a:p>
            <a:endParaRPr lang="en-US">
              <a:solidFill>
                <a:schemeClr val="accent1"/>
              </a:solidFill>
            </a:endParaRPr>
          </a:p>
        </p:txBody>
      </p:sp>
      <p:pic>
        <p:nvPicPr>
          <p:cNvPr id="31" name="Image 6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78140" y="1216152"/>
            <a:ext cx="320040" cy="320040"/>
          </a:xfrm>
          <a:prstGeom prst="rect">
            <a:avLst/>
          </a:prstGeom>
          <a:solidFill>
            <a:schemeClr val="accent1"/>
          </a:solidFill>
        </p:spPr>
      </p:pic>
      <p:sp>
        <p:nvSpPr>
          <p:cNvPr id="32" name="Text 23"/>
          <p:cNvSpPr/>
          <p:nvPr/>
        </p:nvSpPr>
        <p:spPr>
          <a:xfrm>
            <a:off x="7589520" y="1737360"/>
            <a:ext cx="1097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QA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Engineer</a:t>
            </a:r>
            <a:endParaRPr lang="en-US" sz="1000" dirty="0"/>
          </a:p>
        </p:txBody>
      </p:sp>
      <p:sp>
        <p:nvSpPr>
          <p:cNvPr id="33" name="Text 24"/>
          <p:cNvSpPr/>
          <p:nvPr/>
        </p:nvSpPr>
        <p:spPr>
          <a:xfrm>
            <a:off x="7589520" y="2331720"/>
            <a:ext cx="109728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scripts, Playwright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tests, coverage gaps</a:t>
            </a:r>
            <a:endParaRPr lang="en-US" sz="800" dirty="0"/>
          </a:p>
        </p:txBody>
      </p:sp>
      <p:sp>
        <p:nvSpPr>
          <p:cNvPr id="34" name="Text 25"/>
          <p:cNvSpPr/>
          <p:nvPr/>
        </p:nvSpPr>
        <p:spPr>
          <a:xfrm>
            <a:off x="548640" y="329184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team members use Claude Code with the framework skills — AI augments every role</a:t>
            </a:r>
            <a:endParaRPr lang="en-US" sz="1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0"/>
            <a:ext cx="8046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Tech Stack Setup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2129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4800600"/>
            <a:ext cx="8229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Salesforce Consulting Framework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371600"/>
            <a:ext cx="1463040" cy="1005840"/>
          </a:xfrm>
          <a:prstGeom prst="rect">
            <a:avLst/>
          </a:prstGeom>
          <a:solidFill>
            <a:srgbClr val="065A82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1097280" y="1097280"/>
            <a:ext cx="365760" cy="365760"/>
          </a:xfrm>
          <a:prstGeom prst="lin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>
              <a:solidFill>
                <a:schemeClr val="accent1"/>
              </a:solidFill>
            </a:endParaRPr>
          </a:p>
        </p:txBody>
      </p:sp>
      <p:sp>
        <p:nvSpPr>
          <p:cNvPr id="8" name="Text 6"/>
          <p:cNvSpPr/>
          <p:nvPr/>
        </p:nvSpPr>
        <p:spPr>
          <a:xfrm>
            <a:off x="1097280" y="10972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>
              <a:solidFill>
                <a:schemeClr val="accent1"/>
              </a:solidFill>
            </a:endParaRPr>
          </a:p>
        </p:txBody>
      </p:sp>
      <p:sp>
        <p:nvSpPr>
          <p:cNvPr id="9" name="Text 7"/>
          <p:cNvSpPr/>
          <p:nvPr/>
        </p:nvSpPr>
        <p:spPr>
          <a:xfrm>
            <a:off x="548640" y="1417320"/>
            <a:ext cx="1463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Clone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Framework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48640" y="2011680"/>
            <a:ext cx="1463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clone the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consulting framework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011680" y="1371600"/>
            <a:ext cx="1828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C7293"/>
                </a:solidFill>
              </a:rPr>
              <a:t>▶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2194560" y="1371600"/>
            <a:ext cx="1463040" cy="1005840"/>
          </a:xfrm>
          <a:prstGeom prst="rect">
            <a:avLst/>
          </a:prstGeom>
          <a:solidFill>
            <a:srgbClr val="065A82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2743200" y="1097280"/>
            <a:ext cx="365760" cy="365760"/>
          </a:xfrm>
          <a:prstGeom prst="lin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>
              <a:solidFill>
                <a:schemeClr val="accent1"/>
              </a:solidFill>
            </a:endParaRPr>
          </a:p>
        </p:txBody>
      </p:sp>
      <p:sp>
        <p:nvSpPr>
          <p:cNvPr id="14" name="Text 12"/>
          <p:cNvSpPr/>
          <p:nvPr/>
        </p:nvSpPr>
        <p:spPr>
          <a:xfrm>
            <a:off x="2743200" y="10972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>
              <a:solidFill>
                <a:schemeClr val="accent1"/>
              </a:solidFill>
            </a:endParaRPr>
          </a:p>
        </p:txBody>
      </p:sp>
      <p:sp>
        <p:nvSpPr>
          <p:cNvPr id="15" name="Text 13"/>
          <p:cNvSpPr/>
          <p:nvPr/>
        </p:nvSpPr>
        <p:spPr>
          <a:xfrm>
            <a:off x="2194560" y="1417320"/>
            <a:ext cx="1463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Install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Skills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2194560" y="2011680"/>
            <a:ext cx="1463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sf-project-init +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sf-architect-solutioning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3657600" y="1371600"/>
            <a:ext cx="1828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C7293"/>
                </a:solidFill>
              </a:rPr>
              <a:t>▶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3840480" y="1371600"/>
            <a:ext cx="1463040" cy="1005840"/>
          </a:xfrm>
          <a:prstGeom prst="rect">
            <a:avLst/>
          </a:prstGeom>
          <a:solidFill>
            <a:srgbClr val="065A82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4389120" y="1097280"/>
            <a:ext cx="365760" cy="365760"/>
          </a:xfrm>
          <a:prstGeom prst="lin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>
              <a:solidFill>
                <a:schemeClr val="accent1"/>
              </a:solidFill>
            </a:endParaRPr>
          </a:p>
        </p:txBody>
      </p:sp>
      <p:sp>
        <p:nvSpPr>
          <p:cNvPr id="20" name="Text 18"/>
          <p:cNvSpPr/>
          <p:nvPr/>
        </p:nvSpPr>
        <p:spPr>
          <a:xfrm>
            <a:off x="4389120" y="10972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>
              <a:solidFill>
                <a:schemeClr val="accent1"/>
              </a:solidFill>
            </a:endParaRPr>
          </a:p>
        </p:txBody>
      </p:sp>
      <p:sp>
        <p:nvSpPr>
          <p:cNvPr id="21" name="Text 19"/>
          <p:cNvSpPr/>
          <p:nvPr/>
        </p:nvSpPr>
        <p:spPr>
          <a:xfrm>
            <a:off x="3840480" y="1417320"/>
            <a:ext cx="1463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Configure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MCP Servers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840480" y="2011680"/>
            <a:ext cx="1463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SF CLI, Linear,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Context7, Playwright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303520" y="1371600"/>
            <a:ext cx="1828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C7293"/>
                </a:solidFill>
              </a:rPr>
              <a:t>▶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5486400" y="1371600"/>
            <a:ext cx="1463040" cy="1005840"/>
          </a:xfrm>
          <a:prstGeom prst="rect">
            <a:avLst/>
          </a:prstGeom>
          <a:solidFill>
            <a:srgbClr val="065A82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6035040" y="1097280"/>
            <a:ext cx="365760" cy="365760"/>
          </a:xfrm>
          <a:prstGeom prst="lin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>
              <a:solidFill>
                <a:schemeClr val="accent1"/>
              </a:solidFill>
            </a:endParaRPr>
          </a:p>
        </p:txBody>
      </p:sp>
      <p:sp>
        <p:nvSpPr>
          <p:cNvPr id="26" name="Text 24"/>
          <p:cNvSpPr/>
          <p:nvPr/>
        </p:nvSpPr>
        <p:spPr>
          <a:xfrm>
            <a:off x="6035040" y="10972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>
              <a:solidFill>
                <a:schemeClr val="accent1"/>
              </a:solidFill>
            </a:endParaRPr>
          </a:p>
        </p:txBody>
      </p:sp>
      <p:sp>
        <p:nvSpPr>
          <p:cNvPr id="27" name="Text 25"/>
          <p:cNvSpPr/>
          <p:nvPr/>
        </p:nvSpPr>
        <p:spPr>
          <a:xfrm>
            <a:off x="5486400" y="1417320"/>
            <a:ext cx="1463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Create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GitHub Repo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486400" y="2011680"/>
            <a:ext cx="1463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Initialize repo with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GitFlow branches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6949440" y="1371600"/>
            <a:ext cx="1828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C7293"/>
                </a:solidFill>
              </a:rPr>
              <a:t>▶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7132320" y="1371600"/>
            <a:ext cx="1463040" cy="1005840"/>
          </a:xfrm>
          <a:prstGeom prst="rect">
            <a:avLst/>
          </a:prstGeom>
          <a:solidFill>
            <a:srgbClr val="065A82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7680960" y="1097280"/>
            <a:ext cx="365760" cy="365760"/>
          </a:xfrm>
          <a:prstGeom prst="lin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>
              <a:solidFill>
                <a:schemeClr val="accent1"/>
              </a:solidFill>
            </a:endParaRPr>
          </a:p>
        </p:txBody>
      </p:sp>
      <p:sp>
        <p:nvSpPr>
          <p:cNvPr id="32" name="Text 30"/>
          <p:cNvSpPr/>
          <p:nvPr/>
        </p:nvSpPr>
        <p:spPr>
          <a:xfrm>
            <a:off x="7680960" y="10972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>
              <a:solidFill>
                <a:schemeClr val="accent1"/>
              </a:solidFill>
            </a:endParaRPr>
          </a:p>
        </p:txBody>
      </p:sp>
      <p:sp>
        <p:nvSpPr>
          <p:cNvPr id="33" name="Text 31"/>
          <p:cNvSpPr/>
          <p:nvPr/>
        </p:nvSpPr>
        <p:spPr>
          <a:xfrm>
            <a:off x="7132320" y="1417320"/>
            <a:ext cx="1463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Connect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SF Org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7132320" y="2011680"/>
            <a:ext cx="1463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to scratch org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sandbox chain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548640" y="301752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setup time: ~30 minutes from zero to fully-configured project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0"/>
            <a:ext cx="8046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Running /sf-project-init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2129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4800600"/>
            <a:ext cx="8229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Salesforce Consulting Framework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48640" y="100584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interview highlights for the Apex Financial Group engagement: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463040"/>
            <a:ext cx="1828800" cy="384048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48640" y="1463040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Entry Point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560320" y="1463040"/>
            <a:ext cx="6035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Greenfield / Discovery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48640" y="1920240"/>
            <a:ext cx="1828800" cy="384048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48640" y="1920240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Products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560320" y="1920240"/>
            <a:ext cx="6035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FSC + Experience Cloud + Data Cloud + Shield + Tableau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8640" y="2377440"/>
            <a:ext cx="1828800" cy="384048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548640" y="2377440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Size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2560320" y="2377440"/>
            <a:ext cx="6035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consultants across 5 roles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8640" y="2834640"/>
            <a:ext cx="1828800" cy="384048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548640" y="2834640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2560320" y="2834640"/>
            <a:ext cx="6035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PII, PCI DSS, SEC, SOX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48640" y="3291840"/>
            <a:ext cx="1828800" cy="384048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548640" y="3291840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Deliverables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2560320" y="3291840"/>
            <a:ext cx="6035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suite: BRD, SDD, Data Migration, Test Plans, Training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48640" y="3749040"/>
            <a:ext cx="1828800" cy="384048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548640" y="3749040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CI/CD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2560320" y="3749040"/>
            <a:ext cx="6035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GitFlow + sf-validate + sf-deploy + linear-sync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48640" y="384048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Generated Artifacts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548640" y="416052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CLAUDE.md  •  SFDX project  •  8 living docs  •  3 CI/CD workflows  •  Linear project with 7 milestones  •  Wiki  •  Deliverable directories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0"/>
            <a:ext cx="8046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AI-Assisted Discovery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2129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4800600"/>
            <a:ext cx="8229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Salesforce Consulting Framework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48640" y="100584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 helps produce comprehensive discovery artifacts: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98348" y="1463040"/>
            <a:ext cx="1920240" cy="30175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498348" y="1463040"/>
            <a:ext cx="1920240" cy="73152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98348" y="1463040"/>
            <a:ext cx="1920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Business Requirements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Document (BRD)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89788" y="2286000"/>
            <a:ext cx="173736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Advisor portal requirements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onboarding flows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workflow rules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 requirements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574036" y="1463040"/>
            <a:ext cx="1920240" cy="30175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2574036" y="1463040"/>
            <a:ext cx="1920240" cy="73152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2574036" y="1463040"/>
            <a:ext cx="1920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Solution Design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Document (SDD)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665476" y="2286000"/>
            <a:ext cx="173736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FSC data model design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Accounts setup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architecture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model design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649724" y="1463040"/>
            <a:ext cx="1920240" cy="30175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4649724" y="1463040"/>
            <a:ext cx="1920240" cy="73152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649724" y="1463040"/>
            <a:ext cx="1920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Architecture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Diagrams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741164" y="2286000"/>
            <a:ext cx="173736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context diagram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system integration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flow mappings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 topology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725412" y="1463040"/>
            <a:ext cx="1920240" cy="30175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6725412" y="1463040"/>
            <a:ext cx="1920240" cy="731520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6725412" y="1463040"/>
            <a:ext cx="1920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 Migration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Plan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16852" y="2286000"/>
            <a:ext cx="173736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Legacy field mappings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cleansing rules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Migration sequence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strategy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731520" y="2011680"/>
            <a:ext cx="1097280" cy="54864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31520" y="228600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Discovery to Development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731520" y="329184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Transitioning from planning to parallel execution</a:t>
            </a:r>
            <a:endParaRPr lang="en-US" sz="16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0"/>
            <a:ext cx="8046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Backlog Creation &amp; Ticketing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2129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4800600"/>
            <a:ext cx="8229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Salesforce Consulting Framework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48640" y="100584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project auto-created with epic hierarchy imported from BRD/SDD: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463040"/>
            <a:ext cx="1572768" cy="50292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57200" y="1463040"/>
            <a:ext cx="1572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Client Onboarding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7200" y="2057400"/>
            <a:ext cx="1572768" cy="384048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548640" y="2057400"/>
            <a:ext cx="138988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Account setup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" y="2514600"/>
            <a:ext cx="1572768" cy="384048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548640" y="2514600"/>
            <a:ext cx="138988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KYC workflow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57200" y="2971800"/>
            <a:ext cx="1572768" cy="384048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548640" y="2971800"/>
            <a:ext cx="138988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collection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57200" y="3429000"/>
            <a:ext cx="1572768" cy="384048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548640" y="3429000"/>
            <a:ext cx="138988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Welcome automation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2121408" y="1463040"/>
            <a:ext cx="1572768" cy="50292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2121408" y="1463040"/>
            <a:ext cx="1572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Advisor Portal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2121408" y="2057400"/>
            <a:ext cx="1572768" cy="384048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2212848" y="2057400"/>
            <a:ext cx="138988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360° client view LWC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2121408" y="2514600"/>
            <a:ext cx="1572768" cy="384048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2212848" y="2514600"/>
            <a:ext cx="138988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dashboard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2121408" y="2971800"/>
            <a:ext cx="1572768" cy="384048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2212848" y="2971800"/>
            <a:ext cx="138988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 timeline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2121408" y="3429000"/>
            <a:ext cx="1572768" cy="384048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2212848" y="3429000"/>
            <a:ext cx="138988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actions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3785616" y="1463040"/>
            <a:ext cx="1572768" cy="50292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3785616" y="1463040"/>
            <a:ext cx="1572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Compliance Engine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785616" y="2057400"/>
            <a:ext cx="1572768" cy="384048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3877056" y="2057400"/>
            <a:ext cx="138988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Regulatory reporting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3785616" y="2514600"/>
            <a:ext cx="1572768" cy="384048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3877056" y="2514600"/>
            <a:ext cx="138988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trail config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785616" y="2971800"/>
            <a:ext cx="1572768" cy="384048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3877056" y="2971800"/>
            <a:ext cx="138988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classification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785616" y="3429000"/>
            <a:ext cx="1572768" cy="384048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3877056" y="3429000"/>
            <a:ext cx="138988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Shield encryption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5449824" y="1463040"/>
            <a:ext cx="1572768" cy="50292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5449824" y="1463040"/>
            <a:ext cx="1572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 Migration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5449824" y="2057400"/>
            <a:ext cx="1572768" cy="384048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5541264" y="2057400"/>
            <a:ext cx="138988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Legacy field mapping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449824" y="2514600"/>
            <a:ext cx="1572768" cy="384048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5541264" y="2514600"/>
            <a:ext cx="138988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cleansing jobs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5449824" y="2971800"/>
            <a:ext cx="1572768" cy="384048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4" name="Text 42"/>
          <p:cNvSpPr/>
          <p:nvPr/>
        </p:nvSpPr>
        <p:spPr>
          <a:xfrm>
            <a:off x="5541264" y="2971800"/>
            <a:ext cx="138988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rules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449824" y="3429000"/>
            <a:ext cx="1572768" cy="384048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6" name="Text 44"/>
          <p:cNvSpPr/>
          <p:nvPr/>
        </p:nvSpPr>
        <p:spPr>
          <a:xfrm>
            <a:off x="5541264" y="3429000"/>
            <a:ext cx="138988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Rollback strategy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7114032" y="1463040"/>
            <a:ext cx="1572768" cy="50292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8" name="Text 46"/>
          <p:cNvSpPr/>
          <p:nvPr/>
        </p:nvSpPr>
        <p:spPr>
          <a:xfrm>
            <a:off x="7114032" y="1463040"/>
            <a:ext cx="1572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Reporting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7114032" y="2057400"/>
            <a:ext cx="1572768" cy="384048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0" name="Text 48"/>
          <p:cNvSpPr/>
          <p:nvPr/>
        </p:nvSpPr>
        <p:spPr>
          <a:xfrm>
            <a:off x="7205472" y="2057400"/>
            <a:ext cx="138988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Tableau dashboards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114032" y="2514600"/>
            <a:ext cx="1572768" cy="384048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2" name="Text 50"/>
          <p:cNvSpPr/>
          <p:nvPr/>
        </p:nvSpPr>
        <p:spPr>
          <a:xfrm>
            <a:off x="7205472" y="2514600"/>
            <a:ext cx="138988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CRM Analytics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114032" y="2971800"/>
            <a:ext cx="1572768" cy="384048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4" name="Text 52"/>
          <p:cNvSpPr/>
          <p:nvPr/>
        </p:nvSpPr>
        <p:spPr>
          <a:xfrm>
            <a:off x="7205472" y="2971800"/>
            <a:ext cx="138988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Advisor scorecards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114032" y="3429000"/>
            <a:ext cx="1572768" cy="384048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6" name="Text 54"/>
          <p:cNvSpPr/>
          <p:nvPr/>
        </p:nvSpPr>
        <p:spPr>
          <a:xfrm>
            <a:off x="7205472" y="3429000"/>
            <a:ext cx="138988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reports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548640" y="41148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Hierarchy:  Epic  →  Feature  →  Story  →  Sub-task</a:t>
            </a:r>
            <a:endParaRPr lang="en-US" sz="11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0"/>
            <a:ext cx="8046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Sandbox Strategy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2129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4800600"/>
            <a:ext cx="8229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Salesforce Consulting Framework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280160"/>
            <a:ext cx="1463040" cy="22860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457200" y="1280160"/>
            <a:ext cx="1463040" cy="64008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57200" y="1280160"/>
            <a:ext cx="1463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Scratch Orgs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48640" y="2011680"/>
            <a:ext cx="12801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developer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FSC features enabled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Disposable, 30-day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920240" y="1280160"/>
            <a:ext cx="228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65A82"/>
                </a:solidFill>
              </a:rPr>
              <a:t>▶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2148840" y="1280160"/>
            <a:ext cx="1463040" cy="22860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2148840" y="1280160"/>
            <a:ext cx="1463040" cy="64008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2148840" y="1280160"/>
            <a:ext cx="1463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Dev Sandbox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240280" y="2011680"/>
            <a:ext cx="12801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testing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development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refresh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611880" y="1280160"/>
            <a:ext cx="228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65A82"/>
                </a:solidFill>
              </a:rPr>
              <a:t>▶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840480" y="1280160"/>
            <a:ext cx="1463040" cy="22860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3840480" y="1280160"/>
            <a:ext cx="1463040" cy="64008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3840480" y="1280160"/>
            <a:ext cx="1463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QA Sandbox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931920" y="2011680"/>
            <a:ext cx="12801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testing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data loaded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 environment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303520" y="1280160"/>
            <a:ext cx="228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65A82"/>
                </a:solidFill>
              </a:rPr>
              <a:t>▶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532120" y="1280160"/>
            <a:ext cx="1463040" cy="22860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5532120" y="1280160"/>
            <a:ext cx="1463040" cy="640080"/>
          </a:xfrm>
          <a:prstGeom prst="rect">
            <a:avLst/>
          </a:prstGeom>
          <a:solidFill>
            <a:srgbClr val="2129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5532120" y="1280160"/>
            <a:ext cx="1463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UAT Sandbox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623560" y="2011680"/>
            <a:ext cx="12801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acceptance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Production-like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access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995160" y="1280160"/>
            <a:ext cx="228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65A82"/>
                </a:solidFill>
              </a:rPr>
              <a:t>▶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7223760" y="1280160"/>
            <a:ext cx="1463040" cy="22860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7223760" y="1280160"/>
            <a:ext cx="1463040" cy="640080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7223760" y="1280160"/>
            <a:ext cx="1463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Production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7315200" y="2011680"/>
            <a:ext cx="12801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environment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sets via CI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Monitored 24/7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548640" y="384048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Promotion path enforced by CI/CD — no manual deployments to QA, UAT, or Production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0"/>
            <a:ext cx="8046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Branching &amp; CI/CD in Action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2129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4800600"/>
            <a:ext cx="8229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Salesforce Consulting Framework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188720"/>
            <a:ext cx="1645920" cy="365760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48640" y="118872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286000" y="1371600"/>
            <a:ext cx="5943600" cy="0"/>
          </a:xfrm>
          <a:prstGeom prst="line">
            <a:avLst/>
          </a:prstGeom>
          <a:noFill/>
          <a:ln w="254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548640" y="1737360"/>
            <a:ext cx="1645920" cy="365760"/>
          </a:xfrm>
          <a:prstGeom prst="rect">
            <a:avLst/>
          </a:prstGeom>
          <a:solidFill>
            <a:srgbClr val="2129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548640" y="173736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release/*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286000" y="1920240"/>
            <a:ext cx="5943600" cy="0"/>
          </a:xfrm>
          <a:prstGeom prst="line">
            <a:avLst/>
          </a:prstGeom>
          <a:noFill/>
          <a:ln w="25400">
            <a:solidFill>
              <a:srgbClr val="2129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548640" y="2286000"/>
            <a:ext cx="1645920" cy="36576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548640" y="228600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286000" y="2468880"/>
            <a:ext cx="5943600" cy="0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548640" y="2834640"/>
            <a:ext cx="1645920" cy="36576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548640" y="283464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feature/RIH-*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2286000" y="3017520"/>
            <a:ext cx="5943600" cy="0"/>
          </a:xfrm>
          <a:prstGeom prst="line">
            <a:avLst/>
          </a:prstGeom>
          <a:noFill/>
          <a:ln w="254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2377440" y="25603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 merge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4114800" y="20116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 merge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5943600" y="146304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 release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548640" y="338328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 Pipeline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94360" y="3749040"/>
            <a:ext cx="1234440" cy="502920"/>
          </a:xfrm>
          <a:prstGeom prst="rect">
            <a:avLst/>
          </a:prstGeom>
          <a:solidFill>
            <a:srgbClr val="1C7293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594360" y="3749040"/>
            <a:ext cx="1234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 Created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828800" y="3749040"/>
            <a:ext cx="10972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C7293"/>
                </a:solidFill>
              </a:rPr>
              <a:t>▶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938528" y="3749040"/>
            <a:ext cx="1234440" cy="502920"/>
          </a:xfrm>
          <a:prstGeom prst="rect">
            <a:avLst/>
          </a:prstGeom>
          <a:solidFill>
            <a:srgbClr val="1C7293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1938528" y="3749040"/>
            <a:ext cx="1234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sf-validate.yml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3172968" y="3749040"/>
            <a:ext cx="10972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C7293"/>
                </a:solidFill>
              </a:rPr>
              <a:t>▶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282696" y="3749040"/>
            <a:ext cx="1234440" cy="502920"/>
          </a:xfrm>
          <a:prstGeom prst="rect">
            <a:avLst/>
          </a:prstGeom>
          <a:solidFill>
            <a:srgbClr val="1C7293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3282696" y="3749040"/>
            <a:ext cx="1234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Apex Tests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4517136" y="3749040"/>
            <a:ext cx="10972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C7293"/>
                </a:solidFill>
              </a:rPr>
              <a:t>▶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626864" y="3749040"/>
            <a:ext cx="1234440" cy="502920"/>
          </a:xfrm>
          <a:prstGeom prst="rect">
            <a:avLst/>
          </a:prstGeom>
          <a:solidFill>
            <a:srgbClr val="1C7293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4626864" y="3749040"/>
            <a:ext cx="1234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85%+ Coverage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861304" y="3749040"/>
            <a:ext cx="10972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C7293"/>
                </a:solidFill>
              </a:rPr>
              <a:t>▶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971032" y="3749040"/>
            <a:ext cx="1234440" cy="502920"/>
          </a:xfrm>
          <a:prstGeom prst="rect">
            <a:avLst/>
          </a:prstGeom>
          <a:solidFill>
            <a:srgbClr val="0D9488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5971032" y="3749040"/>
            <a:ext cx="1234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Review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7205472" y="3749040"/>
            <a:ext cx="10972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C7293"/>
                </a:solidFill>
              </a:rPr>
              <a:t>▶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7315200" y="3749040"/>
            <a:ext cx="1234440" cy="502920"/>
          </a:xfrm>
          <a:prstGeom prst="rect">
            <a:avLst/>
          </a:prstGeom>
          <a:solidFill>
            <a:srgbClr val="0D9488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7315200" y="3749040"/>
            <a:ext cx="1234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0"/>
            <a:ext cx="8046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Developers Working in Parallel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2129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4800600"/>
            <a:ext cx="8229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Salesforce Consulting Framework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65760" y="1005840"/>
            <a:ext cx="4023360" cy="33832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365760" y="1005840"/>
            <a:ext cx="64008" cy="338328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48640" y="10972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Developer A: Client Onboarding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0080" y="1554480"/>
            <a:ext cx="356616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 scratch org with FSC + Person Accounts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/sf-architect-solutioning → solution plan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KYC Flow + Apex trigger handler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85%+ test coverage on scratch org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 → sf-validate → code review → merge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Living docs auto-updated on commit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754880" y="1005840"/>
            <a:ext cx="4023360" cy="33832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4754880" y="1005840"/>
            <a:ext cx="64008" cy="338328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937760" y="10972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Developer B: Advisor Portal LWC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029200" y="1554480"/>
            <a:ext cx="356616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 scratch org with FSC + Experience Cloud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/sf-architect-solutioning → component plan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360° client view LWC + dashboard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Playwright screenshot loop for UI QA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 → sf-validate → code review → merge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 Registry updated automatically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0"/>
            <a:ext cx="8046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QA &amp; BA Leveraging AI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2129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4800600"/>
            <a:ext cx="8229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Salesforce Consulting Framework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65760" y="1005840"/>
            <a:ext cx="4023360" cy="33832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365760" y="1005840"/>
            <a:ext cx="64008" cy="3383280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48640" y="10972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Business Analyst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1554480"/>
            <a:ext cx="356616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Reviews BRD/requirements with Claude Code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Identifies gaps and edge cases in specs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Creates and refines Linear tickets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Generates acceptance criteria from BRD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Prepares UAT scripts and training materials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Keeps REQUIREMENTS.md in sync with changes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754880" y="1005840"/>
            <a:ext cx="4023360" cy="33832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4754880" y="1005840"/>
            <a:ext cx="64008" cy="3383280"/>
          </a:xfrm>
          <a:prstGeom prst="rect">
            <a:avLst/>
          </a:prstGeom>
          <a:solidFill>
            <a:srgbClr val="2129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937760" y="10972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QA Engineer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029200" y="1554480"/>
            <a:ext cx="356616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Generates test scripts from requirements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Creates Playwright browser test suites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Identifies coverage gaps across features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regression tests via CI pipeline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Documents defects with screenshots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Validates fixes against original specs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0"/>
            <a:ext cx="8046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Complete Dev Loop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2129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4800600"/>
            <a:ext cx="8229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Salesforce Consulting Framework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1120140" y="1188720"/>
            <a:ext cx="1234440" cy="731520"/>
          </a:xfrm>
          <a:prstGeom prst="rect">
            <a:avLst/>
          </a:prstGeom>
          <a:solidFill>
            <a:srgbClr val="0D9488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120140" y="1188720"/>
            <a:ext cx="1234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Ticket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354580" y="1188720"/>
            <a:ext cx="182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C7293"/>
                </a:solidFill>
              </a:rPr>
              <a:t>▶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537460" y="1188720"/>
            <a:ext cx="1234440" cy="731520"/>
          </a:xfrm>
          <a:prstGeom prst="rect">
            <a:avLst/>
          </a:prstGeom>
          <a:solidFill>
            <a:srgbClr val="1C7293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2537460" y="1188720"/>
            <a:ext cx="1234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771900" y="1188720"/>
            <a:ext cx="182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C7293"/>
                </a:solidFill>
              </a:rPr>
              <a:t>▶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954780" y="1188720"/>
            <a:ext cx="1234440" cy="731520"/>
          </a:xfrm>
          <a:prstGeom prst="rect">
            <a:avLst/>
          </a:prstGeom>
          <a:solidFill>
            <a:srgbClr val="065A82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3954780" y="1188720"/>
            <a:ext cx="1234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189220" y="1188720"/>
            <a:ext cx="182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C7293"/>
                </a:solidFill>
              </a:rPr>
              <a:t>▶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372100" y="1188720"/>
            <a:ext cx="1234440" cy="731520"/>
          </a:xfrm>
          <a:prstGeom prst="rect">
            <a:avLst/>
          </a:prstGeom>
          <a:solidFill>
            <a:srgbClr val="21295C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5372100" y="1188720"/>
            <a:ext cx="1234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606540" y="1188720"/>
            <a:ext cx="182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C7293"/>
                </a:solidFill>
              </a:rPr>
              <a:t>▶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789420" y="1188720"/>
            <a:ext cx="1234440" cy="731520"/>
          </a:xfrm>
          <a:prstGeom prst="rect">
            <a:avLst/>
          </a:prstGeom>
          <a:solidFill>
            <a:srgbClr val="0E7490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789420" y="1188720"/>
            <a:ext cx="1234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Screenshot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(UI)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7269480" y="196596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1C7293"/>
                </a:solidFill>
              </a:rPr>
              <a:t>▼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411480" y="2377440"/>
            <a:ext cx="1234440" cy="731520"/>
          </a:xfrm>
          <a:prstGeom prst="rect">
            <a:avLst/>
          </a:prstGeom>
          <a:solidFill>
            <a:srgbClr val="1C7293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411480" y="2377440"/>
            <a:ext cx="1234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645920" y="2377440"/>
            <a:ext cx="182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C7293"/>
                </a:solidFill>
              </a:rPr>
              <a:t>◀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1828800" y="2377440"/>
            <a:ext cx="1234440" cy="731520"/>
          </a:xfrm>
          <a:prstGeom prst="rect">
            <a:avLst/>
          </a:prstGeom>
          <a:solidFill>
            <a:srgbClr val="D97706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1828800" y="2377440"/>
            <a:ext cx="1234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3063240" y="2377440"/>
            <a:ext cx="182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C7293"/>
                </a:solidFill>
              </a:rPr>
              <a:t>◀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246120" y="2377440"/>
            <a:ext cx="1234440" cy="731520"/>
          </a:xfrm>
          <a:prstGeom prst="rect">
            <a:avLst/>
          </a:prstGeom>
          <a:solidFill>
            <a:srgbClr val="21295C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3246120" y="2377440"/>
            <a:ext cx="1234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480560" y="2377440"/>
            <a:ext cx="182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C7293"/>
                </a:solidFill>
              </a:rPr>
              <a:t>◀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4663440" y="2377440"/>
            <a:ext cx="1234440" cy="731520"/>
          </a:xfrm>
          <a:prstGeom prst="rect">
            <a:avLst/>
          </a:prstGeom>
          <a:solidFill>
            <a:srgbClr val="065A82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4663440" y="2377440"/>
            <a:ext cx="1234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897880" y="2377440"/>
            <a:ext cx="182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C7293"/>
                </a:solidFill>
              </a:rPr>
              <a:t>◀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080760" y="2377440"/>
            <a:ext cx="1234440" cy="731520"/>
          </a:xfrm>
          <a:prstGeom prst="rect">
            <a:avLst/>
          </a:prstGeom>
          <a:solidFill>
            <a:srgbClr val="0D9488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6080760" y="2377440"/>
            <a:ext cx="1234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7315200" y="2377440"/>
            <a:ext cx="182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C7293"/>
                </a:solidFill>
              </a:rPr>
              <a:t>◀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7498080" y="2377440"/>
            <a:ext cx="1234440" cy="731520"/>
          </a:xfrm>
          <a:prstGeom prst="rect">
            <a:avLst/>
          </a:prstGeom>
          <a:solidFill>
            <a:srgbClr val="1C7293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7498080" y="2377440"/>
            <a:ext cx="1234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274320" y="196596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1C7293"/>
                </a:solidFill>
              </a:rPr>
              <a:t>▲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548640" y="338328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 cycle — every ticket follows this loop. AI assists at every step.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498348" y="3840480"/>
            <a:ext cx="1920240" cy="6400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1" name="Shape 39"/>
          <p:cNvSpPr/>
          <p:nvPr/>
        </p:nvSpPr>
        <p:spPr>
          <a:xfrm>
            <a:off x="498348" y="3840480"/>
            <a:ext cx="64008" cy="64008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635508" y="384048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Coverage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635508" y="416052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85%+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2574036" y="3840480"/>
            <a:ext cx="1920240" cy="6400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5" name="Shape 43"/>
          <p:cNvSpPr/>
          <p:nvPr/>
        </p:nvSpPr>
        <p:spPr>
          <a:xfrm>
            <a:off x="2574036" y="3840480"/>
            <a:ext cx="64008" cy="64008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6" name="Text 44"/>
          <p:cNvSpPr/>
          <p:nvPr/>
        </p:nvSpPr>
        <p:spPr>
          <a:xfrm>
            <a:off x="2711196" y="384048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 Updated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2711196" y="416052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commit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4649724" y="3840480"/>
            <a:ext cx="1920240" cy="6400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9" name="Shape 47"/>
          <p:cNvSpPr/>
          <p:nvPr/>
        </p:nvSpPr>
        <p:spPr>
          <a:xfrm>
            <a:off x="4649724" y="3840480"/>
            <a:ext cx="64008" cy="64008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0" name="Text 48"/>
          <p:cNvSpPr/>
          <p:nvPr/>
        </p:nvSpPr>
        <p:spPr>
          <a:xfrm>
            <a:off x="4786884" y="384048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 Verified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4786884" y="416052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Screenshot loop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6725412" y="3840480"/>
            <a:ext cx="1920240" cy="6400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3" name="Shape 51"/>
          <p:cNvSpPr/>
          <p:nvPr/>
        </p:nvSpPr>
        <p:spPr>
          <a:xfrm>
            <a:off x="6725412" y="3840480"/>
            <a:ext cx="64008" cy="64008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4" name="Text 52"/>
          <p:cNvSpPr/>
          <p:nvPr/>
        </p:nvSpPr>
        <p:spPr>
          <a:xfrm>
            <a:off x="6862572" y="384048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Review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6862572" y="416052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+ peer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0"/>
            <a:ext cx="8046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Getting Started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2129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4800600"/>
            <a:ext cx="8229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Salesforce Consulting Framework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097280"/>
            <a:ext cx="411480" cy="411480"/>
          </a:xfrm>
          <a:prstGeom prst="lin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48640" y="109728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97280" y="1051560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Install Claude Code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383280" y="1051560"/>
            <a:ext cx="5394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npm install -g @anthropic-ai/claude-code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48640" y="1691640"/>
            <a:ext cx="411480" cy="411480"/>
          </a:xfrm>
          <a:prstGeom prst="lin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48640" y="16916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097280" y="1645920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Clone the Framework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383280" y="1645920"/>
            <a:ext cx="5394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clone &lt;framework-repo-url&gt;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48640" y="2286000"/>
            <a:ext cx="411480" cy="411480"/>
          </a:xfrm>
          <a:prstGeom prst="lin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548640" y="228600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097280" y="2240280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Install Skills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383280" y="2240280"/>
            <a:ext cx="5394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 sf-project-init and sf-architect-solutioning to your Claude Code skills directory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48640" y="2880360"/>
            <a:ext cx="411480" cy="411480"/>
          </a:xfrm>
          <a:prstGeom prst="lin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548640" y="288036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097280" y="2834640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Configure MCP Servers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3383280" y="2834640"/>
            <a:ext cx="5394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up Salesforce CLI MCP, Linear MCP, Context7 MCP, and Playwright MCP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48640" y="3474720"/>
            <a:ext cx="411480" cy="411480"/>
          </a:xfrm>
          <a:prstGeom prst="lin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548640" y="347472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097280" y="3429000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Run /sf-project-init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3383280" y="3429000"/>
            <a:ext cx="5394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the 8-round interview to scaffold your engagement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48640" y="4069080"/>
            <a:ext cx="411480" cy="411480"/>
          </a:xfrm>
          <a:prstGeom prst="lin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548640" y="406908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1097280" y="4023360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Begin Development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3383280" y="4023360"/>
            <a:ext cx="5394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/sf-architect-solutioning for each feature before coding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065A8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54864"/>
            <a:ext cx="54864" cy="5033772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31520" y="914400"/>
            <a:ext cx="76809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AI-Powered Consulting.</a:t>
            </a:r>
            <a:endParaRPr lang="en-US" sz="3600" dirty="0"/>
          </a:p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Consistent Quality.</a:t>
            </a:r>
            <a:endParaRPr lang="en-US" sz="3600" dirty="0"/>
          </a:p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Every Engagement.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54864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731520" y="310896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D948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Next Steps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731520" y="356616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Clone the framework repository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skills and configure MCP servers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/sf-project-init on your next engagement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2305</Words>
  <Application>Microsoft Office PowerPoint</Application>
  <PresentationFormat>On-screen Show (16:9)</PresentationFormat>
  <Paragraphs>787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8" baseType="lpstr">
      <vt:lpstr>Arial</vt:lpstr>
      <vt:lpstr>Calibri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Salesforce Consulting Framework</dc:title>
  <dc:subject>PptxGenJS Presentation</dc:subject>
  <dc:creator>Michael Rihm</dc:creator>
  <cp:lastModifiedBy>Michael Rihm</cp:lastModifiedBy>
  <cp:revision>5</cp:revision>
  <dcterms:created xsi:type="dcterms:W3CDTF">2026-03-13T19:48:48Z</dcterms:created>
  <dcterms:modified xsi:type="dcterms:W3CDTF">2026-03-13T20:28:32Z</dcterms:modified>
</cp:coreProperties>
</file>