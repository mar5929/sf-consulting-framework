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90" r:id="rId14"/>
    <p:sldId id="291" r:id="rId15"/>
    <p:sldId id="292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5A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0" autoAdjust="0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120" y="7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1133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6.png"/><Relationship Id="rId10" Type="http://schemas.openxmlformats.org/officeDocument/2006/relationships/image" Target="../media/image18.png"/><Relationship Id="rId4" Type="http://schemas.openxmlformats.org/officeDocument/2006/relationships/image" Target="../media/image14.png"/><Relationship Id="rId9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4864"/>
            <a:ext cx="54864" cy="503377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Salesforce Consulting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Framework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31520" y="3017520"/>
            <a:ext cx="182880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Engagement Lifecycle Management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Claude Code Skills  |  16 Golden Rules  |  8 Interview Rounds  |  4 Entry Points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Consulting Framework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framework that pairs Claude Code AI skills with Salesforce best practices to deliver consistent, high-quality consulting engagements from discovery through hypercare.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8745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64008" cy="23774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234440" y="2011680"/>
            <a:ext cx="502920" cy="502920"/>
          </a:xfrm>
          <a:prstGeom prst="lin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210312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" y="26517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AI Skills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85800" y="301752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sf-project-init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sf-architect-solutioning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606040" y="1828800"/>
            <a:ext cx="18745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606040" y="1828800"/>
            <a:ext cx="64008" cy="23774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291840" y="2011680"/>
            <a:ext cx="502920" cy="502920"/>
          </a:xfrm>
          <a:prstGeom prst="lin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210312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743200" y="26517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 Golden Rules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2743200" y="301752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Apex, LWC, security,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docs standards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663440" y="1828800"/>
            <a:ext cx="18745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4663440" y="1828800"/>
            <a:ext cx="64008" cy="23774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5349240" y="2011680"/>
            <a:ext cx="502920" cy="502920"/>
          </a:xfrm>
          <a:prstGeom prst="lin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2103120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800600" y="26517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Interview Rounds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800600" y="301752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discovery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dimensions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720840" y="1828800"/>
            <a:ext cx="18745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6720840" y="1828800"/>
            <a:ext cx="64008" cy="23774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7406640" y="2011680"/>
            <a:ext cx="502920" cy="502920"/>
          </a:xfrm>
          <a:prstGeom prst="lin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2103120"/>
            <a:ext cx="320040" cy="32004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858000" y="26517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Entry Points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858000" y="301752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Greenfield, Build,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Managed, Rescue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Consulting Framework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051560"/>
            <a:ext cx="64008" cy="82296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1188720"/>
            <a:ext cx="548640" cy="548640"/>
          </a:xfrm>
          <a:prstGeom prst="lin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>
              <a:solidFill>
                <a:schemeClr val="accent1"/>
              </a:solidFill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065A82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886968" y="1298448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10515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Inconsistent Delivery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657600" y="10515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consultant starts from scratch — different naming, different docs, different quality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201168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48640" y="2011680"/>
            <a:ext cx="64008" cy="82296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77240" y="2148840"/>
            <a:ext cx="548640" cy="548640"/>
          </a:xfrm>
          <a:prstGeom prst="lin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>
              <a:solidFill>
                <a:schemeClr val="accent1"/>
              </a:solidFill>
            </a:endParaRPr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065A82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886968" y="2258568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54480" y="20116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Silos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657600" y="20116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Tribal knowledge locked in individuals; no reusable playbooks or patterns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48640" y="297180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548640" y="2971800"/>
            <a:ext cx="64008" cy="82296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77240" y="3108960"/>
            <a:ext cx="548640" cy="548640"/>
          </a:xfrm>
          <a:prstGeom prst="lin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>
              <a:solidFill>
                <a:schemeClr val="accent1"/>
              </a:solidFill>
            </a:endParaRPr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065A82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886968" y="3218688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554480" y="29718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Debt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3657600" y="29718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 standards, missing tests, undocumented decisions compound across engagements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548640" y="3931920"/>
            <a:ext cx="64008" cy="82296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777240" y="4069080"/>
            <a:ext cx="548640" cy="548640"/>
          </a:xfrm>
          <a:prstGeom prst="lin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>
              <a:solidFill>
                <a:schemeClr val="accent1"/>
              </a:solidFill>
            </a:endParaRPr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065A82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886968" y="4178808"/>
            <a:ext cx="320040" cy="32004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554480" y="39319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Slow Ramp-Up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3657600" y="39319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team members take weeks to understand project context, conventions, and decisions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Framework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Consulting Framework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1645920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Skills Layer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77440" y="1188720"/>
            <a:ext cx="19812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377440" y="1188720"/>
            <a:ext cx="54864" cy="8229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87168" y="1188720"/>
            <a:ext cx="179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sf-project-init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95800" y="1188720"/>
            <a:ext cx="19812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95800" y="1188720"/>
            <a:ext cx="54864" cy="8229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05528" y="1188720"/>
            <a:ext cx="179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sf-architect-solutioning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14160" y="1188720"/>
            <a:ext cx="19812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614160" y="1188720"/>
            <a:ext cx="54864" cy="8229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23888" y="1188720"/>
            <a:ext cx="179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References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331720"/>
            <a:ext cx="1645920" cy="10058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233172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 Layer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377440" y="2423160"/>
            <a:ext cx="19812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377440" y="2423160"/>
            <a:ext cx="54864" cy="8229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487168" y="2423160"/>
            <a:ext cx="179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8-Round Interview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95800" y="2423160"/>
            <a:ext cx="19812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495800" y="2423160"/>
            <a:ext cx="54864" cy="8229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05528" y="2423160"/>
            <a:ext cx="179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Entry Points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14160" y="2423160"/>
            <a:ext cx="19812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614160" y="2423160"/>
            <a:ext cx="54864" cy="8229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723888" y="2423160"/>
            <a:ext cx="179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6-Phase Lifecycle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566160"/>
            <a:ext cx="1645920" cy="10058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8640" y="356616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 Layer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377440" y="3657600"/>
            <a:ext cx="145161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377440" y="3657600"/>
            <a:ext cx="54864" cy="82296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487168" y="3657600"/>
            <a:ext cx="126873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SFDX Project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966210" y="3657600"/>
            <a:ext cx="145161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966210" y="3657600"/>
            <a:ext cx="54864" cy="82296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075938" y="3657600"/>
            <a:ext cx="126873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Docs (8)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554980" y="3657600"/>
            <a:ext cx="145161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554980" y="3657600"/>
            <a:ext cx="54864" cy="82296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664708" y="3657600"/>
            <a:ext cx="126873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143750" y="3657600"/>
            <a:ext cx="145161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143750" y="3657600"/>
            <a:ext cx="54864" cy="82296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253478" y="3657600"/>
            <a:ext cx="126873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Manifest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Deliverables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Consulting Framework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1920240" cy="5029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Skills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17373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sf-project-init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sf-architect-solutioning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Metadata Ref Templates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051560"/>
            <a:ext cx="1920240" cy="5029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0320" y="10515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Living Docs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60320" y="1634025"/>
            <a:ext cx="20116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BACKLOG.md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REQUIREMENTS.md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TECHNICAL_SPEC.md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DATA_MODEL.md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CODE_ATLAS.md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COMPONENT_REGISTRY.md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DECISIONS.md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CHANGELOG.md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COMPONENT_MANIFEST.yaml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docs/domains/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051560"/>
            <a:ext cx="1920240" cy="5029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3440" y="10515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Diagrams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1622130"/>
            <a:ext cx="17373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Overview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Loop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Flow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Flows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Mapping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1051560"/>
            <a:ext cx="1920240" cy="5029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66560" y="10515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Scaffold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66560" y="1641460"/>
            <a:ext cx="17373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SFDX project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project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 structure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dirs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sf-project-init Skill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Consulting Framework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and scaffold a Salesforce consulting engagement with a structured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8-round expert interview, tailored configuration, and auto-generated project artifacts.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0060" y="2011680"/>
            <a:ext cx="1417320" cy="1097280"/>
          </a:xfrm>
          <a:prstGeom prst="rect">
            <a:avLst/>
          </a:prstGeom>
          <a:solidFill>
            <a:srgbClr val="0D948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0060" y="2011680"/>
            <a:ext cx="1417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Rounds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97380" y="2011680"/>
            <a:ext cx="274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171700" y="2011680"/>
            <a:ext cx="1417320" cy="1097280"/>
          </a:xfrm>
          <a:prstGeom prst="rect">
            <a:avLst/>
          </a:prstGeom>
          <a:solidFill>
            <a:srgbClr val="1C729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171700" y="2011680"/>
            <a:ext cx="1417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89020" y="2011680"/>
            <a:ext cx="274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863340" y="2011680"/>
            <a:ext cx="1417320" cy="1097280"/>
          </a:xfrm>
          <a:prstGeom prst="rect">
            <a:avLst/>
          </a:prstGeom>
          <a:solidFill>
            <a:srgbClr val="065A8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63340" y="2011680"/>
            <a:ext cx="1417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80660" y="2011680"/>
            <a:ext cx="274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554980" y="2011680"/>
            <a:ext cx="1417320" cy="1097280"/>
          </a:xfrm>
          <a:prstGeom prst="rect">
            <a:avLst/>
          </a:prstGeom>
          <a:solidFill>
            <a:srgbClr val="21295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554980" y="2011680"/>
            <a:ext cx="1417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72300" y="2011680"/>
            <a:ext cx="274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246620" y="2011680"/>
            <a:ext cx="1417320" cy="1097280"/>
          </a:xfrm>
          <a:prstGeom prst="rect">
            <a:avLst/>
          </a:prstGeom>
          <a:solidFill>
            <a:srgbClr val="D9770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246620" y="2011680"/>
            <a:ext cx="1417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Post-Creation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3832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 |  SFDX project  |  8 living docs  |  CI/CD pipelines  |  Linear project + milestones + issues  |  Wiki structure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Points: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Greenfield/Discovery  |  Build Phase  |  Managed Services  |  Rescue/Takeover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Interview Rounds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Consulting Framework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8046720" cy="3438144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#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Round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Key Topics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 Context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Client, project, role, team, entry 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 &amp; Environment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 type, environments, scratch org strategy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 &amp; 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 clouds, AppExchange, integrations, migration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Entry-Point Deep Dive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questions based on entry 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Deliverables &amp; Docs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Deliverables, Linear setup, living documents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Standards &amp; CI/CD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Branching, pipelines, code review, 16 Golden Rules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&amp; Compliance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classification, HIPAA/SOX/PCI/GDPR, Shield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Conventions &amp; Prefs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Naming, communication style, MCP config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Entry Points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Consulting Framework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7492" y="1097280"/>
            <a:ext cx="18745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7492" y="1097280"/>
            <a:ext cx="1874520" cy="1188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216152" y="1234440"/>
            <a:ext cx="457200" cy="457200"/>
          </a:xfrm>
          <a:prstGeom prst="lin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1307592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7492" y="173736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Greenfield /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4652" y="2468880"/>
            <a:ext cx="1600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Brand-new implementation.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lifecycle from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gathering.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592324" y="1097280"/>
            <a:ext cx="18745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592324" y="1097280"/>
            <a:ext cx="1874520" cy="11887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300984" y="1234440"/>
            <a:ext cx="457200" cy="457200"/>
          </a:xfrm>
          <a:prstGeom prst="lin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3392424" y="132588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92324" y="173736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729484" y="2468880"/>
            <a:ext cx="1600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exist.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to development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existing specs.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677156" y="1097280"/>
            <a:ext cx="18745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677156" y="1097280"/>
            <a:ext cx="1874520" cy="11887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5385816" y="1234440"/>
            <a:ext cx="457200" cy="457200"/>
          </a:xfrm>
          <a:prstGeom prst="lin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>
            <a:biLevel thresh="25000"/>
          </a:blip>
          <a:stretch>
            <a:fillRect/>
          </a:stretch>
        </p:blipFill>
        <p:spPr>
          <a:xfrm>
            <a:off x="5477256" y="132588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677156" y="173736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Services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814316" y="2468880"/>
            <a:ext cx="1600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support.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Ticket-driven, SLA-based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enhancements.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761988" y="1097280"/>
            <a:ext cx="18745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6761988" y="1097280"/>
            <a:ext cx="1874520" cy="11887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7470648" y="1234440"/>
            <a:ext cx="457200" cy="457200"/>
          </a:xfrm>
          <a:prstGeom prst="lin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>
            <a:biLevel thresh="25000"/>
          </a:blip>
          <a:stretch>
            <a:fillRect/>
          </a:stretch>
        </p:blipFill>
        <p:spPr>
          <a:xfrm>
            <a:off x="7562088" y="1325880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761988" y="173736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Rescue /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Takeover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6899148" y="2468880"/>
            <a:ext cx="1600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project recovery.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Assess, stabilize,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remediate, rebuild.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Interview Adaptations by Entry Point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Consulting Framework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3200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Greenfield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Build Phase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Managed Services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Rescue/Takeover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4 Focus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 workshops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 mapping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planning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Backlog review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definition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triage setup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&amp; assessment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identification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Deliverables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BRD, SDD, 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Migration Plan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SDD, Test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Plan, Sprint Backlog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 Assessment,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Docs, Support Plan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Rescue Assessment,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Remediation Plan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Milestones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 → Design →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→ Test → Deploy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→ Build →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→ Deploy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 →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Stabilize → Support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 → Remediate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Stabilize → Build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12-26 weeks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8-20 weeks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12-30 weeks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 Golden Rules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Consulting Framework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365760" cy="3657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1051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Bulkification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365760" cy="3657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20640" y="1051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SLDS Compliance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1490472"/>
            <a:ext cx="365760" cy="3657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1490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149047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SOQL/DML in Loops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490472"/>
            <a:ext cx="365760" cy="3657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63440" y="1490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20640" y="149047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Classification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1929384"/>
            <a:ext cx="365760" cy="3657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19293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" y="192938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Handler Pattern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1929384"/>
            <a:ext cx="365760" cy="3657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63440" y="19293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20640" y="192938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Before Modifying Objects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2368296"/>
            <a:ext cx="365760" cy="3657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23682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236829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 Limit Awareness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2368296"/>
            <a:ext cx="365760" cy="3657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663440" y="23682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20640" y="236829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Time Budget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2807208"/>
            <a:ext cx="365760" cy="3657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8640" y="28072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05840" y="280720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CRUD/FLS Enforcement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2807208"/>
            <a:ext cx="365760" cy="3657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663440" y="28072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20640" y="280720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Conventions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3246120"/>
            <a:ext cx="365760" cy="3657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4864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05840" y="3246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With/Without Sharing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63440" y="3246120"/>
            <a:ext cx="365760" cy="3657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66344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120640" y="3246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Document Sync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8640" y="3685032"/>
            <a:ext cx="365760" cy="3657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48640" y="36850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05840" y="36850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 85%+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663440" y="3685032"/>
            <a:ext cx="365760" cy="3657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663440" y="36850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120640" y="36850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Registry Updates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48640" y="4123944"/>
            <a:ext cx="365760" cy="3657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48640" y="41239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005840" y="412394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Metadata-First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663440" y="4123944"/>
            <a:ext cx="365760" cy="3657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663440" y="41239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120640" y="412394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Testing with Playwright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046720" y="3246120"/>
            <a:ext cx="548640" cy="22860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sf-architect-solutioning Skill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Consulting Framework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"No code without a plan. No plan without clear requirements."  |  Declarative Design: Layer 1 → 2 →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Pre-Implementation Gate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4630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" y="21031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/ Requirements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94560" y="2103120"/>
            <a:ext cx="14630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194560" y="210312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304288" y="21031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Spec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0" y="2103120"/>
            <a:ext cx="14630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840480" y="210312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950208" y="21031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0" y="2103120"/>
            <a:ext cx="14630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0" y="210312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596128" y="21031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Registry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32320" y="2103120"/>
            <a:ext cx="14630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132320" y="210312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242048" y="21031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Design (L1-L2-L3)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" y="3383280"/>
            <a:ext cx="1371600" cy="822960"/>
          </a:xfrm>
          <a:prstGeom prst="rect">
            <a:avLst/>
          </a:prstGeom>
          <a:solidFill>
            <a:srgbClr val="1C729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5800" y="338328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Exist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57400" y="3383280"/>
            <a:ext cx="228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286000" y="3383280"/>
            <a:ext cx="1371600" cy="822960"/>
          </a:xfrm>
          <a:prstGeom prst="rect">
            <a:avLst/>
          </a:prstGeom>
          <a:solidFill>
            <a:srgbClr val="1C729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286000" y="338328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0" y="3383280"/>
            <a:ext cx="228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886200" y="3383280"/>
            <a:ext cx="1371600" cy="822960"/>
          </a:xfrm>
          <a:prstGeom prst="rect">
            <a:avLst/>
          </a:prstGeom>
          <a:solidFill>
            <a:srgbClr val="1C729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886200" y="338328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57800" y="3383280"/>
            <a:ext cx="228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486400" y="3383280"/>
            <a:ext cx="1371600" cy="822960"/>
          </a:xfrm>
          <a:prstGeom prst="rect">
            <a:avLst/>
          </a:prstGeom>
          <a:solidFill>
            <a:srgbClr val="1C729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486400" y="338328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58000" y="3383280"/>
            <a:ext cx="228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086600" y="3383280"/>
            <a:ext cx="1371600" cy="822960"/>
          </a:xfrm>
          <a:prstGeom prst="rect">
            <a:avLst/>
          </a:prstGeom>
          <a:solidFill>
            <a:srgbClr val="1C729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086600" y="338328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Scaffolded Project Output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Consulting Framework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06908" y="1051560"/>
            <a:ext cx="1965960" cy="4114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06908" y="10515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project-root/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8348" y="1554480"/>
            <a:ext cx="17830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sfdx-project.json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COMPONENT_MANIFEST.yaml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28316" y="1051560"/>
            <a:ext cx="1965960" cy="4114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28316" y="10515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19756" y="1554480"/>
            <a:ext cx="17830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BACKLOG.md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REQUIREMENTS.md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TECHNICAL_SPEC.md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DATA_MODEL.md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CODE_ATLAS.md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COMPONENT_REGISTRY.md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DECISIONS.md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CHANGELOG.md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domains/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49724" y="1051560"/>
            <a:ext cx="1965960" cy="4114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49724" y="10515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force-app/main/default/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41164" y="1554480"/>
            <a:ext cx="17830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classes/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triggers/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lwc/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flows/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objects/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permissionsets/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71132" y="1051560"/>
            <a:ext cx="1965960" cy="4114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71132" y="10515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wiki/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62572" y="1554480"/>
            <a:ext cx="17830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organization-overview.md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ways-of-working/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applications/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4389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generated: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.github/workflows/  |  deliverables/  |  config/  |  scripts/  |  archive/  |  .forceignore  |  .gitignore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Component Manifest &amp; Domain Retrieval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Consulting Framework</a:t>
            </a:r>
            <a:endParaRPr lang="en-US" sz="900" dirty="0"/>
          </a:p>
        </p:txBody>
      </p:sp>
      <p:sp>
        <p:nvSpPr>
          <p:cNvPr id="6" name="Step1"/>
          <p:cNvSpPr/>
          <p:nvPr/>
        </p:nvSpPr>
        <p:spPr>
          <a:xfrm>
            <a:off x="457200" y="1005840"/>
            <a:ext cx="1463040" cy="5486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txBody>
          <a:bodyPr wrap="square" lIns="45720" rIns="4572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</a:rPr>
              <a:t>1. Read Manifest Index</a:t>
            </a:r>
          </a:p>
        </p:txBody>
      </p:sp>
      <p:sp>
        <p:nvSpPr>
          <p:cNvPr id="7" name="Arrow1"/>
          <p:cNvSpPr/>
          <p:nvPr/>
        </p:nvSpPr>
        <p:spPr>
          <a:xfrm>
            <a:off x="1965960" y="1188720"/>
            <a:ext cx="182880" cy="182880"/>
          </a:xfrm>
          <a:prstGeom prst="rightArrow">
            <a:avLst/>
          </a:prstGeom>
          <a:solidFill>
            <a:srgbClr val="065A82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Step2"/>
          <p:cNvSpPr/>
          <p:nvPr/>
        </p:nvSpPr>
        <p:spPr>
          <a:xfrm>
            <a:off x="2194560" y="1005840"/>
            <a:ext cx="1463040" cy="548640"/>
          </a:xfrm>
          <a:prstGeom prst="rect">
            <a:avLst/>
          </a:prstGeom>
          <a:solidFill>
            <a:srgbClr val="1C7293"/>
          </a:solidFill>
          <a:ln w="0">
            <a:noFill/>
          </a:ln>
        </p:spPr>
        <p:txBody>
          <a:bodyPr wrap="square" lIns="45720" rIns="4572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</a:rPr>
              <a:t>2. Identify Relevant Domains</a:t>
            </a:r>
          </a:p>
        </p:txBody>
      </p:sp>
      <p:sp>
        <p:nvSpPr>
          <p:cNvPr id="9" name="Arrow2"/>
          <p:cNvSpPr/>
          <p:nvPr/>
        </p:nvSpPr>
        <p:spPr>
          <a:xfrm>
            <a:off x="3703320" y="1188720"/>
            <a:ext cx="182880" cy="182880"/>
          </a:xfrm>
          <a:prstGeom prst="rightArrow">
            <a:avLst/>
          </a:prstGeom>
          <a:solidFill>
            <a:srgbClr val="065A82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Step3"/>
          <p:cNvSpPr/>
          <p:nvPr/>
        </p:nvSpPr>
        <p:spPr>
          <a:xfrm>
            <a:off x="3931920" y="1005840"/>
            <a:ext cx="1463040" cy="54864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txBody>
          <a:bodyPr wrap="square" lIns="45720" rIns="4572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</a:rPr>
              <a:t>3. Load Domain Context</a:t>
            </a:r>
          </a:p>
        </p:txBody>
      </p:sp>
      <p:sp>
        <p:nvSpPr>
          <p:cNvPr id="11" name="Arrow3"/>
          <p:cNvSpPr/>
          <p:nvPr/>
        </p:nvSpPr>
        <p:spPr>
          <a:xfrm>
            <a:off x="5440680" y="1188720"/>
            <a:ext cx="182880" cy="182880"/>
          </a:xfrm>
          <a:prstGeom prst="rightArrow">
            <a:avLst/>
          </a:prstGeom>
          <a:solidFill>
            <a:srgbClr val="065A82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Step4"/>
          <p:cNvSpPr/>
          <p:nvPr/>
        </p:nvSpPr>
        <p:spPr>
          <a:xfrm>
            <a:off x="5669280" y="1005840"/>
            <a:ext cx="1463040" cy="54864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txBody>
          <a:bodyPr wrap="square" lIns="45720" rIns="4572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</a:rPr>
              <a:t>4. Grep for Components</a:t>
            </a:r>
          </a:p>
        </p:txBody>
      </p:sp>
      <p:sp>
        <p:nvSpPr>
          <p:cNvPr id="13" name="Arrow4"/>
          <p:cNvSpPr/>
          <p:nvPr/>
        </p:nvSpPr>
        <p:spPr>
          <a:xfrm>
            <a:off x="7178040" y="1188720"/>
            <a:ext cx="182880" cy="182880"/>
          </a:xfrm>
          <a:prstGeom prst="rightArrow">
            <a:avLst/>
          </a:prstGeom>
          <a:solidFill>
            <a:srgbClr val="065A82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Step5"/>
          <p:cNvSpPr/>
          <p:nvPr/>
        </p:nvSpPr>
        <p:spPr>
          <a:xfrm>
            <a:off x="7406640" y="1005840"/>
            <a:ext cx="1463040" cy="54864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txBody>
          <a:bodyPr wrap="square" lIns="45720" rIns="4572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</a:rPr>
              <a:t>5. Build Targeted Context</a:t>
            </a:r>
          </a:p>
        </p:txBody>
      </p:sp>
      <p:sp>
        <p:nvSpPr>
          <p:cNvPr id="15" name="ScaleBenefit"/>
          <p:cNvSpPr/>
          <p:nvPr/>
        </p:nvSpPr>
        <p:spPr>
          <a:xfrm>
            <a:off x="457200" y="1737360"/>
            <a:ext cx="4114800" cy="7315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91440" rIns="9144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</a:rPr>
              <a:t>200-500 lines loaded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</a:rPr>
              <a:t>vs. 3,000-6,000 lines (old approach)</a:t>
            </a:r>
          </a:p>
        </p:txBody>
      </p:sp>
      <p:sp>
        <p:nvSpPr>
          <p:cNvPr id="16" name="ManifestStructure"/>
          <p:cNvSpPr/>
          <p:nvPr/>
        </p:nvSpPr>
        <p:spPr>
          <a:xfrm>
            <a:off x="4800600" y="1737360"/>
            <a:ext cx="3886200" cy="7315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91440" rIns="9144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Georgia" pitchFamily="34" charset="0"/>
              </a:rPr>
              <a:t>Manifest Structure</a:t>
            </a:r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</a:rPr>
              <a:t>Domains index | Component entries with domain tags</a:t>
            </a:r>
          </a:p>
        </p:txBody>
      </p:sp>
      <p:sp>
        <p:nvSpPr>
          <p:cNvPr id="17" name="FunnelLabel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 w="0"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Georgia" pitchFamily="34" charset="0"/>
              </a:rPr>
              <a:t>Progressive Narrowing: Full Codebase → Domains → Components → Targeted Context</a:t>
            </a:r>
          </a:p>
        </p:txBody>
      </p:sp>
      <p:sp>
        <p:nvSpPr>
          <p:cNvPr id="18" name="Funnel1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solidFill>
            <a:srgbClr val="0D9488">
              <a:alpha val="20000"/>
            </a:srgbClr>
          </a:solidFill>
          <a:ln w="0">
            <a:noFill/>
          </a:ln>
        </p:spPr>
        <p:txBody>
          <a:bodyPr wrap="square" lIns="9144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</a:rPr>
              <a:t>Full Project: 3,000-6,000 lines across all files</a:t>
            </a:r>
          </a:p>
        </p:txBody>
      </p:sp>
      <p:sp>
        <p:nvSpPr>
          <p:cNvPr id="19" name="Funnel2"/>
          <p:cNvSpPr/>
          <p:nvPr/>
        </p:nvSpPr>
        <p:spPr>
          <a:xfrm>
            <a:off x="1143000" y="3337560"/>
            <a:ext cx="6858000" cy="274320"/>
          </a:xfrm>
          <a:prstGeom prst="rect">
            <a:avLst/>
          </a:prstGeom>
          <a:solidFill>
            <a:srgbClr val="1C7293">
              <a:alpha val="30000"/>
            </a:srgbClr>
          </a:solidFill>
          <a:ln w="0">
            <a:noFill/>
          </a:ln>
        </p:spPr>
        <p:txBody>
          <a:bodyPr wrap="square" lIns="9144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</a:rPr>
              <a:t>Domain Files: 500-1,500 lines per domain</a:t>
            </a:r>
          </a:p>
        </p:txBody>
      </p:sp>
      <p:sp>
        <p:nvSpPr>
          <p:cNvPr id="20" name="Funnel3"/>
          <p:cNvSpPr/>
          <p:nvPr/>
        </p:nvSpPr>
        <p:spPr>
          <a:xfrm>
            <a:off x="1828800" y="3657600"/>
            <a:ext cx="5486400" cy="274320"/>
          </a:xfrm>
          <a:prstGeom prst="rect">
            <a:avLst/>
          </a:prstGeom>
          <a:solidFill>
            <a:srgbClr val="065A82">
              <a:alpha val="40000"/>
            </a:srgbClr>
          </a:solidFill>
          <a:ln w="0">
            <a:noFill/>
          </a:ln>
        </p:spPr>
        <p:txBody>
          <a:bodyPr wrap="square" lIns="9144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</a:rPr>
              <a:t>Component Match: Grep narrows to relevant entries</a:t>
            </a:r>
          </a:p>
        </p:txBody>
      </p:sp>
      <p:sp>
        <p:nvSpPr>
          <p:cNvPr id="21" name="Funnel4"/>
          <p:cNvSpPr/>
          <p:nvPr/>
        </p:nvSpPr>
        <p:spPr>
          <a:xfrm>
            <a:off x="2514600" y="3977640"/>
            <a:ext cx="4114800" cy="274320"/>
          </a:xfrm>
          <a:prstGeom prst="rect">
            <a:avLst/>
          </a:prstGeom>
          <a:solidFill>
            <a:srgbClr val="0D9488">
              <a:alpha val="60000"/>
            </a:srgbClr>
          </a:solidFill>
          <a:ln w="0">
            <a:noFill/>
          </a:ln>
        </p:spPr>
        <p:txBody>
          <a:bodyPr wrap="square" lIns="9144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</a:rPr>
              <a:t>Targeted Context: 200-500 lines — exactly what AI needs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Declarative Metadata Configuration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Consulting Framework</a:t>
            </a:r>
            <a:endParaRPr lang="en-US" sz="900" dirty="0"/>
          </a:p>
        </p:txBody>
      </p:sp>
      <p:sp>
        <p:nvSpPr>
          <p:cNvPr id="6" name="Subtitle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 w="0"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</a:rPr>
              <a:t>Design-before-code: 3-layer approval workflow for declarative Salesforce configuration</a:t>
            </a:r>
          </a:p>
        </p:txBody>
      </p:sp>
      <p:sp>
        <p:nvSpPr>
          <p:cNvPr id="7" name="Layer1"/>
          <p:cNvSpPr/>
          <p:nvPr/>
        </p:nvSpPr>
        <p:spPr>
          <a:xfrm>
            <a:off x="457200" y="1234440"/>
            <a:ext cx="5029200" cy="9144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txBody>
          <a:bodyPr wrap="square" lIns="91440" rIns="9144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</a:rPr>
              <a:t>Layer 1: When to Use Decision Criteria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</a:rPr>
              <a:t>Decision criteria for each metadata type: when to use, limitations, scalability, and governor limits</a:t>
            </a:r>
          </a:p>
        </p:txBody>
      </p:sp>
      <p:sp>
        <p:nvSpPr>
          <p:cNvPr id="10" name="ArrowDown1"/>
          <p:cNvSpPr/>
          <p:nvPr/>
        </p:nvSpPr>
        <p:spPr>
          <a:xfrm>
            <a:off x="2743200" y="2148840"/>
            <a:ext cx="182880" cy="91440"/>
          </a:xfrm>
          <a:prstGeom prst="downArrow">
            <a:avLst/>
          </a:prstGeom>
          <a:solidFill>
            <a:srgbClr val="D9770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Layer2"/>
          <p:cNvSpPr/>
          <p:nvPr/>
        </p:nvSpPr>
        <p:spPr>
          <a:xfrm>
            <a:off x="457200" y="2240280"/>
            <a:ext cx="5029200" cy="914400"/>
          </a:xfrm>
          <a:prstGeom prst="rect">
            <a:avLst/>
          </a:prstGeom>
          <a:solidFill>
            <a:srgbClr val="1C7293"/>
          </a:solidFill>
          <a:ln w="0">
            <a:noFill/>
          </a:ln>
        </p:spPr>
        <p:txBody>
          <a:bodyPr wrap="square" lIns="91440" rIns="9144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</a:rPr>
              <a:t>Layer 2: Design Templates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</a:rPr>
              <a:t>Structured design documents for human review before any XML generation</a:t>
            </a:r>
          </a:p>
        </p:txBody>
      </p:sp>
      <p:sp>
        <p:nvSpPr>
          <p:cNvPr id="11" name="ArrowDown2"/>
          <p:cNvSpPr/>
          <p:nvPr/>
        </p:nvSpPr>
        <p:spPr>
          <a:xfrm>
            <a:off x="2743200" y="3154680"/>
            <a:ext cx="182880" cy="91440"/>
          </a:xfrm>
          <a:prstGeom prst="downArrow">
            <a:avLst/>
          </a:prstGeom>
          <a:solidFill>
            <a:srgbClr val="D9770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Layer3"/>
          <p:cNvSpPr/>
          <p:nvPr/>
        </p:nvSpPr>
        <p:spPr>
          <a:xfrm>
            <a:off x="457200" y="3246120"/>
            <a:ext cx="5029200" cy="91440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txBody>
          <a:bodyPr wrap="square" lIns="91440" rIns="9144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</a:rPr>
              <a:t>Layer 3: SFDX XML Generation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</a:rPr>
              <a:t>Only after approval: generate production-ready SFDX metadata XML</a:t>
            </a:r>
          </a:p>
        </p:txBody>
      </p:sp>
      <p:sp>
        <p:nvSpPr>
          <p:cNvPr id="12" name="MetaTitle"/>
          <p:cNvSpPr/>
          <p:nvPr/>
        </p:nvSpPr>
        <p:spPr>
          <a:xfrm>
            <a:off x="5715000" y="1234440"/>
            <a:ext cx="2971800" cy="365760"/>
          </a:xfrm>
          <a:prstGeom prst="rect">
            <a:avLst/>
          </a:prstGeom>
          <a:noFill/>
          <a:ln w="0"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Georgia" pitchFamily="34" charset="0"/>
              </a:rPr>
              <a:t>8 Metadata Types</a:t>
            </a:r>
          </a:p>
        </p:txBody>
      </p:sp>
      <p:sp>
        <p:nvSpPr>
          <p:cNvPr id="13" name="Meta1"/>
          <p:cNvSpPr/>
          <p:nvPr/>
        </p:nvSpPr>
        <p:spPr>
          <a:xfrm>
            <a:off x="5715000" y="1645920"/>
            <a:ext cx="1371600" cy="3657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4572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</a:rPr>
              <a:t>Flows</a:t>
            </a:r>
          </a:p>
        </p:txBody>
      </p:sp>
      <p:sp>
        <p:nvSpPr>
          <p:cNvPr id="14" name="Meta2"/>
          <p:cNvSpPr/>
          <p:nvPr/>
        </p:nvSpPr>
        <p:spPr>
          <a:xfrm>
            <a:off x="7178040" y="1645920"/>
            <a:ext cx="1508760" cy="3657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4572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</a:rPr>
              <a:t>Custom Objects</a:t>
            </a:r>
          </a:p>
        </p:txBody>
      </p:sp>
      <p:sp>
        <p:nvSpPr>
          <p:cNvPr id="15" name="Meta3"/>
          <p:cNvSpPr/>
          <p:nvPr/>
        </p:nvSpPr>
        <p:spPr>
          <a:xfrm>
            <a:off x="5715000" y="2103120"/>
            <a:ext cx="1371600" cy="3657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4572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</a:rPr>
              <a:t>Permission Sets</a:t>
            </a:r>
          </a:p>
        </p:txBody>
      </p:sp>
      <p:sp>
        <p:nvSpPr>
          <p:cNvPr id="16" name="Meta4"/>
          <p:cNvSpPr/>
          <p:nvPr/>
        </p:nvSpPr>
        <p:spPr>
          <a:xfrm>
            <a:off x="7178040" y="2103120"/>
            <a:ext cx="1508760" cy="3657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4572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</a:rPr>
              <a:t>Page Layouts</a:t>
            </a:r>
          </a:p>
        </p:txBody>
      </p:sp>
      <p:sp>
        <p:nvSpPr>
          <p:cNvPr id="17" name="Meta5"/>
          <p:cNvSpPr/>
          <p:nvPr/>
        </p:nvSpPr>
        <p:spPr>
          <a:xfrm>
            <a:off x="5715000" y="2560320"/>
            <a:ext cx="1371600" cy="3657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4572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</a:rPr>
              <a:t>Validation Rules</a:t>
            </a:r>
          </a:p>
        </p:txBody>
      </p:sp>
      <p:sp>
        <p:nvSpPr>
          <p:cNvPr id="18" name="Meta6"/>
          <p:cNvSpPr/>
          <p:nvPr/>
        </p:nvSpPr>
        <p:spPr>
          <a:xfrm>
            <a:off x="7178040" y="2560320"/>
            <a:ext cx="1508760" cy="3657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4572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</a:rPr>
              <a:t>Record Types</a:t>
            </a:r>
          </a:p>
        </p:txBody>
      </p:sp>
      <p:sp>
        <p:nvSpPr>
          <p:cNvPr id="19" name="Meta7"/>
          <p:cNvSpPr/>
          <p:nvPr/>
        </p:nvSpPr>
        <p:spPr>
          <a:xfrm>
            <a:off x="5715000" y="3017520"/>
            <a:ext cx="1371600" cy="3657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4572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</a:rPr>
              <a:t>Custom Labels</a:t>
            </a:r>
          </a:p>
        </p:txBody>
      </p:sp>
      <p:sp>
        <p:nvSpPr>
          <p:cNvPr id="20" name="Meta8"/>
          <p:cNvSpPr/>
          <p:nvPr/>
        </p:nvSpPr>
        <p:spPr>
          <a:xfrm>
            <a:off x="7178040" y="3017520"/>
            <a:ext cx="1508760" cy="3657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4572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</a:rPr>
              <a:t>Approval Processes</a:t>
            </a:r>
          </a:p>
        </p:txBody>
      </p:sp>
      <p:sp>
        <p:nvSpPr>
          <p:cNvPr id="21" name="ApprovalNote"/>
          <p:cNvSpPr/>
          <p:nvPr/>
        </p:nvSpPr>
        <p:spPr>
          <a:xfrm>
            <a:off x="5715000" y="3520440"/>
            <a:ext cx="2971800" cy="640080"/>
          </a:xfrm>
          <a:prstGeom prst="rect">
            <a:avLst/>
          </a:prstGeom>
          <a:solidFill>
            <a:srgbClr val="D97706">
              <a:alpha val="15000"/>
            </a:srgbClr>
          </a:solidFill>
          <a:ln w="0">
            <a:noFill/>
          </a:ln>
        </p:spPr>
        <p:txBody>
          <a:bodyPr wrap="square" lIns="91440" rIns="9144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</a:rPr>
              <a:t>Approval Required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</a:rPr>
              <a:t>Design document must be reviewed and approved before XML generation proceeds</a:t>
            </a:r>
          </a:p>
        </p:txBody>
      </p:sp>
      <p:sp>
        <p:nvSpPr>
          <p:cNvPr id="22" name="FlowLabel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 w="0"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</a:rPr>
              <a:t>Workflow:  Decide → Design → Review → Approve → Generate XML → Deploy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Connected Systems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Consulting Framework</a:t>
            </a:r>
            <a:endParaRPr lang="en-US" sz="900" dirty="0"/>
          </a:p>
        </p:txBody>
      </p:sp>
      <p:sp>
        <p:nvSpPr>
          <p:cNvPr id="6" name="ManifestBox"/>
          <p:cNvSpPr/>
          <p:nvPr/>
        </p:nvSpPr>
        <p:spPr>
          <a:xfrm>
            <a:off x="457200" y="1097280"/>
            <a:ext cx="2514600" cy="2743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91440" tIns="91440" rIns="9144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Georgia" pitchFamily="34" charset="0"/>
              </a:rPr>
              <a:t>COMPONENT_MANIFEST.yaml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</a:rPr>
              <a:t> 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</a:rPr>
              <a:t>declarative_design status: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</a:rPr>
              <a:t> </a:t>
            </a:r>
          </a:p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</a:rPr>
              <a:t>pending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</a:rPr>
              <a:t>  →  </a:t>
            </a:r>
            <a:r>
              <a:rPr lang="en-US" sz="1000" b="1" dirty="0">
                <a:solidFill>
                  <a:srgbClr val="1C7293"/>
                </a:solidFill>
                <a:latin typeface="Calibri" pitchFamily="34" charset="0"/>
              </a:rPr>
              <a:t>designed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</a:rPr>
              <a:t>  →  </a:t>
            </a:r>
            <a:r>
              <a:rPr lang="en-US" sz="1000" b="1" dirty="0">
                <a:solidFill>
                  <a:srgbClr val="0D9488"/>
                </a:solidFill>
                <a:latin typeface="Calibri" pitchFamily="34" charset="0"/>
              </a:rPr>
              <a:t>approved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</a:rPr>
              <a:t> 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</a:rPr>
              <a:t>Tracks:</a:t>
            </a:r>
          </a:p>
          <a:p>
            <a:pPr marL="228600" indent="-2286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</a:rPr>
              <a:t>Component domain mapping</a:t>
            </a:r>
          </a:p>
          <a:p>
            <a:pPr marL="228600" indent="-2286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</a:rPr>
              <a:t>Metadata type references</a:t>
            </a:r>
          </a:p>
          <a:p>
            <a:pPr marL="228600" indent="-2286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</a:rPr>
              <a:t>Design approval status</a:t>
            </a:r>
          </a:p>
        </p:txBody>
      </p:sp>
      <p:sp>
        <p:nvSpPr>
          <p:cNvPr id="7" name="ConnArrow1"/>
          <p:cNvSpPr/>
          <p:nvPr/>
        </p:nvSpPr>
        <p:spPr>
          <a:xfrm>
            <a:off x="3063240" y="2331720"/>
            <a:ext cx="457200" cy="182880"/>
          </a:xfrm>
          <a:prstGeom prst="leftRightArrow">
            <a:avLst/>
          </a:prstGeom>
          <a:solidFill>
            <a:srgbClr val="D9770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omainBox"/>
          <p:cNvSpPr/>
          <p:nvPr/>
        </p:nvSpPr>
        <p:spPr>
          <a:xfrm>
            <a:off x="3611880" y="1097280"/>
            <a:ext cx="2514600" cy="2743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91440" tIns="91440" rIns="9144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Georgia" pitchFamily="34" charset="0"/>
              </a:rPr>
              <a:t>docs/domains/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</a:rPr>
              <a:t> 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</a:rPr>
              <a:t>Domain context files: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</a:rPr>
              <a:t> </a:t>
            </a:r>
          </a:p>
          <a:p>
            <a:pPr marL="228600" indent="-2286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</a:rPr>
              <a:t>Which automation exists</a:t>
            </a:r>
          </a:p>
          <a:p>
            <a:pPr marL="228600" indent="-2286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</a:rPr>
              <a:t>Object relationships</a:t>
            </a:r>
          </a:p>
          <a:p>
            <a:pPr marL="228600" indent="-2286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</a:rPr>
              <a:t>Business logic boundaries</a:t>
            </a:r>
          </a:p>
          <a:p>
            <a:pPr marL="228600" indent="-2286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</a:rPr>
              <a:t>Integration touchpoints</a:t>
            </a:r>
          </a:p>
          <a:p>
            <a:pPr marL="228600" indent="-2286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</a:rPr>
              <a:t>Security considerations</a:t>
            </a:r>
          </a:p>
        </p:txBody>
      </p:sp>
      <p:sp>
        <p:nvSpPr>
          <p:cNvPr id="9" name="ConnArrow2"/>
          <p:cNvSpPr/>
          <p:nvPr/>
        </p:nvSpPr>
        <p:spPr>
          <a:xfrm>
            <a:off x="6217920" y="2331720"/>
            <a:ext cx="457200" cy="182880"/>
          </a:xfrm>
          <a:prstGeom prst="leftRightArrow">
            <a:avLst/>
          </a:prstGeom>
          <a:solidFill>
            <a:srgbClr val="D9770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MetaRefBox"/>
          <p:cNvSpPr/>
          <p:nvPr/>
        </p:nvSpPr>
        <p:spPr>
          <a:xfrm>
            <a:off x="6766560" y="1097280"/>
            <a:ext cx="2011680" cy="2743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91440" tIns="91440" rIns="9144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Georgia" pitchFamily="34" charset="0"/>
              </a:rPr>
              <a:t>Metadata References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</a:rPr>
              <a:t> </a:t>
            </a:r>
          </a:p>
          <a:p>
            <a:pPr marL="228600" indent="-2286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</a:rPr>
              <a:t>Flow definitions</a:t>
            </a:r>
          </a:p>
          <a:p>
            <a:pPr marL="228600" indent="-2286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</a:rPr>
              <a:t>Object schemas</a:t>
            </a:r>
          </a:p>
          <a:p>
            <a:pPr marL="228600" indent="-2286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</a:rPr>
              <a:t>Permission models</a:t>
            </a:r>
          </a:p>
          <a:p>
            <a:pPr marL="228600" indent="-2286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</a:rPr>
              <a:t>Layout configs</a:t>
            </a:r>
          </a:p>
          <a:p>
            <a:pPr marL="228600" indent="-2286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</a:rPr>
              <a:t>Validation rules</a:t>
            </a:r>
          </a:p>
          <a:p>
            <a:pPr marL="228600" indent="-2286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</a:rPr>
              <a:t>Approval processes</a:t>
            </a:r>
          </a:p>
        </p:txBody>
      </p:sp>
      <p:sp>
        <p:nvSpPr>
          <p:cNvPr id="11" name="SummaryBar"/>
          <p:cNvSpPr/>
          <p:nvPr/>
        </p:nvSpPr>
        <p:spPr>
          <a:xfrm>
            <a:off x="457200" y="4023360"/>
            <a:ext cx="8321040" cy="548640"/>
          </a:xfrm>
          <a:prstGeom prst="rect">
            <a:avLst/>
          </a:prstGeom>
          <a:solidFill>
            <a:srgbClr val="065A82">
              <a:alpha val="10000"/>
            </a:srgbClr>
          </a:solidFill>
          <a:ln w="0">
            <a:noFill/>
          </a:ln>
        </p:spPr>
        <p:txBody>
          <a:bodyPr wrap="square" lIns="91440" rIns="9144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</a:rPr>
              <a:t>Manifest tracks status  |  Domains provide context  |  References define metadata</a:t>
            </a:r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</a:rPr>
              <a:t>All three systems stay synchronized as components move through the design-approve-generate lifecycle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Integration Ecosystem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Consulting Framework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474720" y="2103120"/>
            <a:ext cx="2194560" cy="1097280"/>
          </a:xfrm>
          <a:prstGeom prst="line">
            <a:avLst/>
          </a:prstGeom>
          <a:solidFill>
            <a:srgbClr val="065A8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363208" y="1920240"/>
            <a:ext cx="2194560" cy="1097280"/>
          </a:xfrm>
          <a:prstGeom prst="rect">
            <a:avLst/>
          </a:prstGeom>
          <a:solidFill>
            <a:srgbClr val="7030A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+ 2 Skills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1097280"/>
            <a:ext cx="1645920" cy="822960"/>
          </a:xfrm>
          <a:prstGeom prst="rect">
            <a:avLst/>
          </a:prstGeom>
          <a:solidFill>
            <a:srgbClr val="0D9488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0972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CLI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675120" y="1097280"/>
            <a:ext cx="1645920" cy="822960"/>
          </a:xfrm>
          <a:prstGeom prst="rect">
            <a:avLst/>
          </a:prstGeom>
          <a:solidFill>
            <a:srgbClr val="1C7293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75120" y="10972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3291840"/>
            <a:ext cx="1645920" cy="822960"/>
          </a:xfrm>
          <a:prstGeom prst="rect">
            <a:avLst/>
          </a:prstGeom>
          <a:solidFill>
            <a:srgbClr val="D97706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32918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Context7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0" y="3291840"/>
            <a:ext cx="1645920" cy="822960"/>
          </a:xfrm>
          <a:prstGeom prst="rect">
            <a:avLst/>
          </a:prstGeom>
          <a:solidFill>
            <a:srgbClr val="21295C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75120" y="32918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37528" y="3474720"/>
            <a:ext cx="1645920" cy="822960"/>
          </a:xfrm>
          <a:prstGeom prst="rect">
            <a:avLst/>
          </a:prstGeom>
          <a:solidFill>
            <a:srgbClr val="0E7490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37528" y="34747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tsmztech/mcp-server-salesforce  |  jaganpro/sf-skills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CI/CD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Consulting Framework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463040" cy="914400"/>
          </a:xfrm>
          <a:prstGeom prst="rect">
            <a:avLst/>
          </a:prstGeom>
          <a:solidFill>
            <a:srgbClr val="1C729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20240" y="1188720"/>
            <a:ext cx="228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148840" y="1188720"/>
            <a:ext cx="1463040" cy="914400"/>
          </a:xfrm>
          <a:prstGeom prst="rect">
            <a:avLst/>
          </a:prstGeom>
          <a:solidFill>
            <a:srgbClr val="0D948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148840" y="11887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Request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48840" y="21945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sf-validate.yml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tests 85%+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11880" y="1188720"/>
            <a:ext cx="228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40480" y="1188720"/>
            <a:ext cx="1463040" cy="914400"/>
          </a:xfrm>
          <a:prstGeom prst="rect">
            <a:avLst/>
          </a:prstGeom>
          <a:solidFill>
            <a:srgbClr val="065A8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40480" y="11887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Branch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0" y="21945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sf-deploy.yml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Sandbox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03520" y="1188720"/>
            <a:ext cx="228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32120" y="1188720"/>
            <a:ext cx="1463040" cy="914400"/>
          </a:xfrm>
          <a:prstGeom prst="rect">
            <a:avLst/>
          </a:prstGeom>
          <a:solidFill>
            <a:srgbClr val="21295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532120" y="11887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Release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32120" y="21945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/ UAT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95160" y="1188720"/>
            <a:ext cx="228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223760" y="1188720"/>
            <a:ext cx="1463040" cy="914400"/>
          </a:xfrm>
          <a:prstGeom prst="rect">
            <a:avLst/>
          </a:prstGeom>
          <a:solidFill>
            <a:srgbClr val="D9770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223760" y="11887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Branch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223760" y="21945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sf-deploy.yml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Production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GitFlow Branching Strategy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35661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 ←  release/*  ←  develop  ←  feature/RIH-*  |  hotfix/* → main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023360"/>
            <a:ext cx="26517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48640" y="4023360"/>
            <a:ext cx="64008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5800" y="4023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sf-validate.yml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" y="4297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+ test + coverage check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83280" y="4023360"/>
            <a:ext cx="26517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383280" y="4023360"/>
            <a:ext cx="64008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520440" y="4023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sf-deploy.yml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520440" y="4297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sandbox/production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17920" y="4023360"/>
            <a:ext cx="26517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217920" y="4023360"/>
            <a:ext cx="64008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355080" y="4023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linear-sync.yml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55080" y="4297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Linear → BACKLOG.md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Interactive Reference Diagrams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Consulting Framework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18745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64008" cy="15544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1280160"/>
            <a:ext cx="411480" cy="411480"/>
          </a:xfrm>
          <a:prstGeom prst="lin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lumMod val="5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04672" y="1353312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123444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Framework Overview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234440" y="1600200"/>
            <a:ext cx="1051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3-lane swim-lane flow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6 phases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606040" y="1097280"/>
            <a:ext cx="18745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606040" y="1097280"/>
            <a:ext cx="64008" cy="15544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788920" y="1280160"/>
            <a:ext cx="411480" cy="411480"/>
          </a:xfrm>
          <a:prstGeom prst="lin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lumMod val="5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862072" y="1353312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91840" y="123444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Lifecycle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291840" y="1600200"/>
            <a:ext cx="1051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through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 phases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663440" y="1097280"/>
            <a:ext cx="18745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663440" y="1097280"/>
            <a:ext cx="64008" cy="15544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4846320" y="1280160"/>
            <a:ext cx="411480" cy="411480"/>
          </a:xfrm>
          <a:prstGeom prst="lin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lumMod val="5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919472" y="1353312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349240" y="123444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 Loop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5349240" y="1600200"/>
            <a:ext cx="1051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sprint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cycle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6720840" y="1097280"/>
            <a:ext cx="18745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6720840" y="1097280"/>
            <a:ext cx="64008" cy="15544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6903720" y="1280160"/>
            <a:ext cx="411480" cy="411480"/>
          </a:xfrm>
          <a:prstGeom prst="lin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1">
                <a:lumMod val="5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976872" y="1353312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406640" y="123444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CI/CD Pipeline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7406640" y="1600200"/>
            <a:ext cx="1051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flow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548640" y="2788920"/>
            <a:ext cx="18745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548640" y="2788920"/>
            <a:ext cx="64008" cy="15544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731520" y="2971800"/>
            <a:ext cx="411480" cy="411480"/>
          </a:xfrm>
          <a:prstGeom prst="lin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1">
                <a:lumMod val="5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04672" y="3044952"/>
            <a:ext cx="274320" cy="27432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234440" y="292608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 Flow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1234440" y="3291840"/>
            <a:ext cx="1051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integration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patterns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2606040" y="2788920"/>
            <a:ext cx="18745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0"/>
          <p:cNvSpPr/>
          <p:nvPr/>
        </p:nvSpPr>
        <p:spPr>
          <a:xfrm>
            <a:off x="2606040" y="2788920"/>
            <a:ext cx="64008" cy="15544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1"/>
          <p:cNvSpPr/>
          <p:nvPr/>
        </p:nvSpPr>
        <p:spPr>
          <a:xfrm>
            <a:off x="2788920" y="2971800"/>
            <a:ext cx="411480" cy="411480"/>
          </a:xfrm>
          <a:prstGeom prst="lin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1">
                <a:lumMod val="5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862072" y="3044952"/>
            <a:ext cx="274320" cy="27432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3291840" y="292608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Flows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3291840" y="3291840"/>
            <a:ext cx="1051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Entry-point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walkthroughs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4663440" y="2788920"/>
            <a:ext cx="18745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35"/>
          <p:cNvSpPr/>
          <p:nvPr/>
        </p:nvSpPr>
        <p:spPr>
          <a:xfrm>
            <a:off x="4663440" y="2788920"/>
            <a:ext cx="64008" cy="15544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36"/>
          <p:cNvSpPr/>
          <p:nvPr/>
        </p:nvSpPr>
        <p:spPr>
          <a:xfrm>
            <a:off x="4846320" y="2971800"/>
            <a:ext cx="411480" cy="411480"/>
          </a:xfrm>
          <a:prstGeom prst="lin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accent1">
                <a:lumMod val="5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919472" y="3044952"/>
            <a:ext cx="274320" cy="274320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5349240" y="292608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47" name="Text 38"/>
          <p:cNvSpPr/>
          <p:nvPr/>
        </p:nvSpPr>
        <p:spPr>
          <a:xfrm>
            <a:off x="5349240" y="3291840"/>
            <a:ext cx="1051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component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900" dirty="0"/>
          </a:p>
        </p:txBody>
      </p:sp>
      <p:sp>
        <p:nvSpPr>
          <p:cNvPr id="48" name="Shape 39"/>
          <p:cNvSpPr/>
          <p:nvPr/>
        </p:nvSpPr>
        <p:spPr>
          <a:xfrm>
            <a:off x="6720840" y="2788920"/>
            <a:ext cx="18745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0"/>
          <p:cNvSpPr/>
          <p:nvPr/>
        </p:nvSpPr>
        <p:spPr>
          <a:xfrm>
            <a:off x="6720840" y="2788920"/>
            <a:ext cx="64008" cy="15544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1"/>
          <p:cNvSpPr/>
          <p:nvPr/>
        </p:nvSpPr>
        <p:spPr>
          <a:xfrm>
            <a:off x="6903720" y="2971800"/>
            <a:ext cx="411480" cy="411480"/>
          </a:xfrm>
          <a:prstGeom prst="lin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1" name="Image 7" descr="preencoded.png"/>
          <p:cNvPicPr>
            <a:picLocks noChangeAspect="1"/>
          </p:cNvPicPr>
          <p:nvPr/>
        </p:nvPicPr>
        <p:blipFill>
          <a:blip r:embed="rId10">
            <a:duotone>
              <a:prstClr val="black"/>
              <a:schemeClr val="accent1">
                <a:lumMod val="5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976872" y="3044952"/>
            <a:ext cx="274320" cy="274320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7406640" y="292608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Mapping</a:t>
            </a:r>
            <a:endParaRPr lang="en-US" sz="1100" dirty="0"/>
          </a:p>
        </p:txBody>
      </p:sp>
      <p:sp>
        <p:nvSpPr>
          <p:cNvPr id="53" name="Text 43"/>
          <p:cNvSpPr/>
          <p:nvPr/>
        </p:nvSpPr>
        <p:spPr>
          <a:xfrm>
            <a:off x="7406640" y="3291840"/>
            <a:ext cx="1051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mapped to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phases</a:t>
            </a:r>
            <a:endParaRPr lang="en-US" sz="900" dirty="0"/>
          </a:p>
        </p:txBody>
      </p:sp>
      <p:sp>
        <p:nvSpPr>
          <p:cNvPr id="54" name="Text 44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diagrams are interactive HTML files — open in browser for full exploration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Lifecycle Phases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Consulting Framework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2356" y="1188720"/>
            <a:ext cx="1051560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2356" y="118872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2356" y="155448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2-4w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2356" y="1965960"/>
            <a:ext cx="1051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stakeholder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613916" y="1188720"/>
            <a:ext cx="109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7293"/>
                </a:solidFill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23644" y="1188720"/>
            <a:ext cx="1051560" cy="6400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723644" y="118872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23644" y="155448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2-3w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23644" y="1965960"/>
            <a:ext cx="1051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775204" y="1188720"/>
            <a:ext cx="109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7293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884932" y="1188720"/>
            <a:ext cx="1051560" cy="6400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884932" y="118872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84932" y="155448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4-12w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884932" y="1965960"/>
            <a:ext cx="1051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dev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936492" y="1188720"/>
            <a:ext cx="109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7293"/>
                </a:solidFill>
              </a:rPr>
              <a:t>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046220" y="1188720"/>
            <a:ext cx="1051560" cy="64008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046220" y="118872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046220" y="155448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2-4w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046220" y="1965960"/>
            <a:ext cx="1051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System, UAT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097780" y="1188720"/>
            <a:ext cx="109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7293"/>
                </a:solidFill>
              </a:rPr>
              <a:t>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07508" y="1188720"/>
            <a:ext cx="1051560" cy="64008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207508" y="118872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07508" y="155448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07508" y="1965960"/>
            <a:ext cx="1051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migration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59068" y="1188720"/>
            <a:ext cx="109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7293"/>
                </a:solidFill>
              </a:rPr>
              <a:t>▶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68796" y="1188720"/>
            <a:ext cx="1051560" cy="6400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68796" y="118872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Go-Live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68796" y="155448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1w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68796" y="1965960"/>
            <a:ext cx="1051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420356" y="1188720"/>
            <a:ext cx="109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7293"/>
                </a:solidFill>
              </a:rPr>
              <a:t>▶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530084" y="1188720"/>
            <a:ext cx="1051560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530084" y="118872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Hypercare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530084" y="155448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2-4w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530084" y="1965960"/>
            <a:ext cx="1051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Stabilization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48640" y="3657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adapts per entry point — Greenfield runs full lifecycle; Build Phase and Rescue skip/compress early phases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Project Auto-Creation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Consulting Framework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sf-project-init automatically creates a fully-structured Linear project with milestones, cycles, and starter issues.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645920"/>
            <a:ext cx="24688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94360" y="1645920"/>
            <a:ext cx="64008" cy="2560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737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&amp; Milestones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19456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with description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Phase-based milestones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dates per phase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labels created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645920"/>
            <a:ext cx="24688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37560" y="1645920"/>
            <a:ext cx="64008" cy="2560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74720" y="1737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Cycles (Sprints)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219456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sprint cycles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Auto-numbered naming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to milestones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tracking ready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1645920"/>
            <a:ext cx="24688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80760" y="1645920"/>
            <a:ext cx="64008" cy="25603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0" y="1737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Starter Issues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219456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Epic-level tickets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breakdowns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Story-level tasks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&amp; assignee set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Salesforce Product Coverage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Consulting Framework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62940" y="1097280"/>
            <a:ext cx="2514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62940" y="1097280"/>
            <a:ext cx="64008" cy="7772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5820" y="1143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Cloud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5820" y="15087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Leads, opportunities, forecasting, CPQ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14700" y="1097280"/>
            <a:ext cx="2514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14700" y="1097280"/>
            <a:ext cx="64008" cy="7772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97580" y="1143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 Cloud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97580" y="15087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Cases, SLAs, Omni-Channel, Knowledge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66460" y="1097280"/>
            <a:ext cx="2514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66460" y="1097280"/>
            <a:ext cx="64008" cy="7772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49340" y="1143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Experience Cloud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49340" y="15087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Portals, communities, custom themes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2940" y="2011680"/>
            <a:ext cx="2514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62940" y="2011680"/>
            <a:ext cx="64008" cy="7772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45820" y="2057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Marketing Cloud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5820" y="24231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Journeys, email, segmentation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14700" y="2011680"/>
            <a:ext cx="2514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314700" y="2011680"/>
            <a:ext cx="64008" cy="7772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97580" y="2057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Cloud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97580" y="24231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Ingestion, unified profiles, activation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66460" y="2011680"/>
            <a:ext cx="2514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966460" y="2011680"/>
            <a:ext cx="64008" cy="7772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49340" y="2057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/ CPQ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49340" y="24231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Quotes, pricing, subscriptions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2940" y="2926080"/>
            <a:ext cx="2514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62940" y="2926080"/>
            <a:ext cx="64008" cy="7772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45820" y="2971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Industries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5820" y="3337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OmniStudio, FlexCards, DataRaptors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14700" y="2926080"/>
            <a:ext cx="2514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314700" y="2926080"/>
            <a:ext cx="64008" cy="7772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497580" y="2971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MuleSoft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497580" y="3337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management, integrations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966460" y="2926080"/>
            <a:ext cx="2514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966460" y="2926080"/>
            <a:ext cx="64008" cy="7772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149340" y="2971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Tableau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149340" y="3337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CRM Analytics, predictions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Salesforce Well-Architected Integration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Consulting Framework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71500" y="1097280"/>
            <a:ext cx="25146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71500" y="1097280"/>
            <a:ext cx="2514600" cy="7315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577340" y="1188720"/>
            <a:ext cx="502920" cy="502920"/>
          </a:xfrm>
          <a:prstGeom prst="lin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780" y="128016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71500" y="17830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Trusted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54380" y="210312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CRUD/FLS enforcement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encryption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classification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workflows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(HIPAA, SOX, PCI, GDPR)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14700" y="1097280"/>
            <a:ext cx="25146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314700" y="1097280"/>
            <a:ext cx="2514600" cy="7315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320540" y="1188720"/>
            <a:ext cx="502920" cy="502920"/>
          </a:xfrm>
          <a:prstGeom prst="lin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1980" y="128016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14700" y="17830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Easy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3497580" y="210312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Metadata-first approach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SLDS compliance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naming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documentation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scaffolding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057900" y="1097280"/>
            <a:ext cx="25146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057900" y="1097280"/>
            <a:ext cx="2514600" cy="7315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063740" y="1188720"/>
            <a:ext cx="502920" cy="502920"/>
          </a:xfrm>
          <a:prstGeom prst="lin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5180" y="1280160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057900" y="17830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Adaptable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6240780" y="210312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entry points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promotion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development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engagement types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" y="2011680"/>
            <a:ext cx="109728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Engagement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 Cloud — Greenfield Walkthrough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the Client: Apex Financial Group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Consulting Framework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051560"/>
            <a:ext cx="64008" cy="11887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143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Apex Financial Group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15087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wealth management firm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advisors across 15 offices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CRM → FSC greenfield migration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10515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Goals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37160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advisor desktop with 360° client view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client onboarding workflows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engine for regulatory reporting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performance reporting &amp; analytics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468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Salesforce Products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" y="2880360"/>
            <a:ext cx="1554480" cy="502920"/>
          </a:xfrm>
          <a:prstGeom prst="rect">
            <a:avLst/>
          </a:prstGeom>
          <a:solidFill>
            <a:srgbClr val="1C7293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6344" y="28803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 Cloud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30552" y="2880360"/>
            <a:ext cx="1554480" cy="502920"/>
          </a:xfrm>
          <a:prstGeom prst="rect">
            <a:avLst/>
          </a:prstGeom>
          <a:solidFill>
            <a:srgbClr val="1C7293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130552" y="28803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Cloud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94760" y="2880360"/>
            <a:ext cx="1554480" cy="502920"/>
          </a:xfrm>
          <a:prstGeom prst="rect">
            <a:avLst/>
          </a:prstGeom>
          <a:solidFill>
            <a:srgbClr val="1C7293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794760" y="28803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Cloud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58968" y="2880360"/>
            <a:ext cx="1554480" cy="502920"/>
          </a:xfrm>
          <a:prstGeom prst="rect">
            <a:avLst/>
          </a:prstGeom>
          <a:solidFill>
            <a:srgbClr val="1C7293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58968" y="28803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23176" y="2880360"/>
            <a:ext cx="1554480" cy="502920"/>
          </a:xfrm>
          <a:prstGeom prst="rect">
            <a:avLst/>
          </a:prstGeom>
          <a:solidFill>
            <a:srgbClr val="1C7293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23176" y="28803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CRM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3566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Requirements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7220" y="3931920"/>
            <a:ext cx="1874520" cy="411480"/>
          </a:xfrm>
          <a:prstGeom prst="rect">
            <a:avLst/>
          </a:prstGeom>
          <a:solidFill>
            <a:srgbClr val="D97706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7220" y="39319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Protection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628900" y="3931920"/>
            <a:ext cx="1874520" cy="411480"/>
          </a:xfrm>
          <a:prstGeom prst="rect">
            <a:avLst/>
          </a:prstGeom>
          <a:solidFill>
            <a:srgbClr val="D97706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628900" y="39319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DSS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40580" y="3931920"/>
            <a:ext cx="1874520" cy="411480"/>
          </a:xfrm>
          <a:prstGeom prst="rect">
            <a:avLst/>
          </a:prstGeom>
          <a:solidFill>
            <a:srgbClr val="D97706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40580" y="39319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Regulations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52260" y="3931920"/>
            <a:ext cx="1874520" cy="411480"/>
          </a:xfrm>
          <a:prstGeom prst="rect">
            <a:avLst/>
          </a:prstGeom>
          <a:solidFill>
            <a:srgbClr val="D97706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652260" y="39319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SOX Compliance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Consulting Team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Consulting Framework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548640" cy="548640"/>
          </a:xfrm>
          <a:prstGeom prst="lin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>
              <a:solidFill>
                <a:schemeClr val="accent1"/>
              </a:solidFill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065A82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845820" y="1216152"/>
            <a:ext cx="320040" cy="320040"/>
          </a:xfrm>
          <a:prstGeom prst="rect">
            <a:avLst/>
          </a:prstGeom>
          <a:noFill/>
        </p:spPr>
      </p:pic>
      <p:sp>
        <p:nvSpPr>
          <p:cNvPr id="8" name="Text 5"/>
          <p:cNvSpPr/>
          <p:nvPr/>
        </p:nvSpPr>
        <p:spPr>
          <a:xfrm>
            <a:off x="457200" y="17373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Engagement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23317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relationship,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management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920240" y="1097280"/>
            <a:ext cx="548640" cy="548640"/>
          </a:xfrm>
          <a:prstGeom prst="lin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>
              <a:solidFill>
                <a:schemeClr val="accent1"/>
              </a:solidFill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065A82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2034540" y="1216152"/>
            <a:ext cx="320040" cy="320040"/>
          </a:xfrm>
          <a:prstGeom prst="rect">
            <a:avLst/>
          </a:prstGeom>
          <a:noFill/>
        </p:spPr>
      </p:pic>
      <p:sp>
        <p:nvSpPr>
          <p:cNvPr id="12" name="Text 8"/>
          <p:cNvSpPr/>
          <p:nvPr/>
        </p:nvSpPr>
        <p:spPr>
          <a:xfrm>
            <a:off x="1645920" y="17373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1645920" y="23317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design,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model, integrations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108960" y="1097280"/>
            <a:ext cx="548640" cy="548640"/>
          </a:xfrm>
          <a:prstGeom prst="lin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>
              <a:solidFill>
                <a:schemeClr val="accent1"/>
              </a:solidFill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065A82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3223260" y="1216152"/>
            <a:ext cx="320040" cy="320040"/>
          </a:xfrm>
          <a:prstGeom prst="rect">
            <a:avLst/>
          </a:prstGeom>
          <a:noFill/>
        </p:spPr>
      </p:pic>
      <p:sp>
        <p:nvSpPr>
          <p:cNvPr id="16" name="Text 11"/>
          <p:cNvSpPr/>
          <p:nvPr/>
        </p:nvSpPr>
        <p:spPr>
          <a:xfrm>
            <a:off x="2834640" y="17373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2834640" y="23317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onboarding,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engine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4297680" y="1097280"/>
            <a:ext cx="548640" cy="548640"/>
          </a:xfrm>
          <a:prstGeom prst="lin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>
              <a:solidFill>
                <a:schemeClr val="accent1"/>
              </a:solidFill>
            </a:endParaRPr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065A82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4411980" y="1216152"/>
            <a:ext cx="320040" cy="320040"/>
          </a:xfrm>
          <a:prstGeom prst="rect">
            <a:avLst/>
          </a:prstGeom>
          <a:noFill/>
        </p:spPr>
      </p:pic>
      <p:sp>
        <p:nvSpPr>
          <p:cNvPr id="20" name="Text 14"/>
          <p:cNvSpPr/>
          <p:nvPr/>
        </p:nvSpPr>
        <p:spPr>
          <a:xfrm>
            <a:off x="4023360" y="17373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4023360" y="23317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portal LWC,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dashboards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5486400" y="1097280"/>
            <a:ext cx="548640" cy="548640"/>
          </a:xfrm>
          <a:prstGeom prst="lin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>
              <a:solidFill>
                <a:schemeClr val="accent1"/>
              </a:solidFill>
            </a:endParaRPr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065A82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5600700" y="1216152"/>
            <a:ext cx="320040" cy="320040"/>
          </a:xfrm>
          <a:prstGeom prst="rect">
            <a:avLst/>
          </a:prstGeom>
          <a:noFill/>
        </p:spPr>
      </p:pic>
      <p:sp>
        <p:nvSpPr>
          <p:cNvPr id="24" name="Text 17"/>
          <p:cNvSpPr/>
          <p:nvPr/>
        </p:nvSpPr>
        <p:spPr>
          <a:xfrm>
            <a:off x="5212080" y="17373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/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5212080" y="23317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Flows, permissions,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layouts, security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6675120" y="1097280"/>
            <a:ext cx="548640" cy="548640"/>
          </a:xfrm>
          <a:prstGeom prst="lin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>
              <a:solidFill>
                <a:schemeClr val="accent1"/>
              </a:solidFill>
            </a:endParaRPr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065A82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6789420" y="1216152"/>
            <a:ext cx="320040" cy="320040"/>
          </a:xfrm>
          <a:prstGeom prst="rect">
            <a:avLst/>
          </a:prstGeom>
          <a:noFill/>
        </p:spPr>
      </p:pic>
      <p:sp>
        <p:nvSpPr>
          <p:cNvPr id="28" name="Text 20"/>
          <p:cNvSpPr/>
          <p:nvPr/>
        </p:nvSpPr>
        <p:spPr>
          <a:xfrm>
            <a:off x="6400800" y="17373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Analyst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6400800" y="23317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UAT,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materials</a:t>
            </a:r>
            <a:endParaRPr lang="en-US" sz="900" dirty="0"/>
          </a:p>
        </p:txBody>
      </p:sp>
      <p:sp>
        <p:nvSpPr>
          <p:cNvPr id="30" name="Shape 22"/>
          <p:cNvSpPr/>
          <p:nvPr/>
        </p:nvSpPr>
        <p:spPr>
          <a:xfrm>
            <a:off x="7863840" y="1097280"/>
            <a:ext cx="548640" cy="548640"/>
          </a:xfrm>
          <a:prstGeom prst="lin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>
              <a:solidFill>
                <a:schemeClr val="accent1"/>
              </a:solidFill>
            </a:endParaRPr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065A82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7978140" y="1216152"/>
            <a:ext cx="320040" cy="320040"/>
          </a:xfrm>
          <a:prstGeom prst="rect">
            <a:avLst/>
          </a:prstGeom>
          <a:noFill/>
        </p:spPr>
      </p:pic>
      <p:sp>
        <p:nvSpPr>
          <p:cNvPr id="32" name="Text 23"/>
          <p:cNvSpPr/>
          <p:nvPr/>
        </p:nvSpPr>
        <p:spPr>
          <a:xfrm>
            <a:off x="7589520" y="17373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</a:t>
            </a:r>
            <a:endParaRPr lang="en-US" sz="1050" dirty="0"/>
          </a:p>
        </p:txBody>
      </p:sp>
      <p:sp>
        <p:nvSpPr>
          <p:cNvPr id="33" name="Text 24"/>
          <p:cNvSpPr/>
          <p:nvPr/>
        </p:nvSpPr>
        <p:spPr>
          <a:xfrm>
            <a:off x="7589520" y="23317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scripts, Playwright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coverage gaps</a:t>
            </a:r>
            <a:endParaRPr lang="en-US" sz="900" dirty="0"/>
          </a:p>
        </p:txBody>
      </p:sp>
      <p:sp>
        <p:nvSpPr>
          <p:cNvPr id="34" name="Text 25"/>
          <p:cNvSpPr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team members use Claude Code with the framework skills — AI augments every role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 Setup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Consulting Framework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463040" cy="1005840"/>
          </a:xfrm>
          <a:prstGeom prst="rect">
            <a:avLst/>
          </a:prstGeom>
          <a:solidFill>
            <a:srgbClr val="065A8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97280" y="1097280"/>
            <a:ext cx="365760" cy="365760"/>
          </a:xfrm>
          <a:prstGeom prst="lin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Framework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the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framework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11680" y="1371600"/>
            <a:ext cx="182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7293"/>
                </a:solidFill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94560" y="1371600"/>
            <a:ext cx="1463040" cy="1005840"/>
          </a:xfrm>
          <a:prstGeom prst="rect">
            <a:avLst/>
          </a:prstGeom>
          <a:solidFill>
            <a:srgbClr val="065A8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0" y="1097280"/>
            <a:ext cx="365760" cy="365760"/>
          </a:xfrm>
          <a:prstGeom prst="lin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274320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2194560" y="14173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94560" y="20116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sf-project-init +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sf-architect-solutioning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0" y="1371600"/>
            <a:ext cx="182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7293"/>
                </a:solidFill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840480" y="1371600"/>
            <a:ext cx="1463040" cy="1005840"/>
          </a:xfrm>
          <a:prstGeom prst="rect">
            <a:avLst/>
          </a:prstGeom>
          <a:solidFill>
            <a:srgbClr val="065A8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389120" y="1097280"/>
            <a:ext cx="365760" cy="365760"/>
          </a:xfrm>
          <a:prstGeom prst="lin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438912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3840480" y="14173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Servers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0" y="20116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 CLI, Linear,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Context7, Playwright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03520" y="1371600"/>
            <a:ext cx="182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7293"/>
                </a:solidFill>
              </a:rPr>
              <a:t>▶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0" y="1371600"/>
            <a:ext cx="1463040" cy="1005840"/>
          </a:xfrm>
          <a:prstGeom prst="rect">
            <a:avLst/>
          </a:prstGeom>
          <a:solidFill>
            <a:srgbClr val="065A8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35040" y="1097280"/>
            <a:ext cx="365760" cy="365760"/>
          </a:xfrm>
          <a:prstGeom prst="lin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603504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5486400" y="14173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Repo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0" y="20116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repo with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GitFlow branches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49440" y="1371600"/>
            <a:ext cx="182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7293"/>
                </a:solidFill>
              </a:rPr>
              <a:t>▶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132320" y="1371600"/>
            <a:ext cx="1463040" cy="1005840"/>
          </a:xfrm>
          <a:prstGeom prst="rect">
            <a:avLst/>
          </a:prstGeom>
          <a:solidFill>
            <a:srgbClr val="065A8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680960" y="1097280"/>
            <a:ext cx="365760" cy="365760"/>
          </a:xfrm>
          <a:prstGeom prst="lin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768096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7132320" y="14173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SF Org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132320" y="20116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to scratch org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sandbox chain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8640" y="3017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setup time: ~30 minutes from zero to fully-configured project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Running /sf-project-init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Consulting Framework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interview highlights for the Apex Financial Group engagement: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828800" cy="38404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60320" y="1463040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 / Discovery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920240"/>
            <a:ext cx="1828800" cy="38404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9202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0" y="1920240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FSC + Experience Cloud + Data Cloud + Shield + Tableau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377440"/>
            <a:ext cx="1828800" cy="38404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3774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2377440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consultants across 5 roles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834640"/>
            <a:ext cx="1828800" cy="38404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28346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60320" y="2834640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PII, PCI DSS, SEC, SOX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291840"/>
            <a:ext cx="1828800" cy="38404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32918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60320" y="3291840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suite: BRD, SDD, Data Migration, Test Plans, Training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749040"/>
            <a:ext cx="1828800" cy="38404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3749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60320" y="3749040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GitFlow + sf-validate + sf-deploy + linear-sync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38404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Generated Artifacts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 •  SFDX project  •  8 living docs  •  3 CI/CD workflows  •  Linear project with 7 milestones  •  Wiki  •  Deliverable directories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AI-Assisted Discovery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Consulting Framework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helps produce comprehensive discovery artifacts: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98348" y="1463040"/>
            <a:ext cx="192024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98348" y="1463040"/>
            <a:ext cx="1920240" cy="7315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8348" y="14630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Requirements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 (BRD)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9788" y="228600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portal requirements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onboarding flows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workflow rules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requirements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74036" y="1463040"/>
            <a:ext cx="192024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74036" y="1463040"/>
            <a:ext cx="1920240" cy="7315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74036" y="14630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Design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 (SDD)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65476" y="228600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FSC data model design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Accounts setup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architecture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model design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49724" y="1463040"/>
            <a:ext cx="192024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49724" y="1463040"/>
            <a:ext cx="1920240" cy="7315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49724" y="14630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Diagrams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41164" y="228600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context diagram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system integration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mappings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topology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25412" y="1463040"/>
            <a:ext cx="192024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725412" y="1463040"/>
            <a:ext cx="1920240" cy="7315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25412" y="14630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Migration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16852" y="228600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field mappings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cleansing rules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sequence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strategy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" y="2011680"/>
            <a:ext cx="109728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Discovery to Development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Transitioning from planning to parallel execution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Backlog Creation &amp; Ticketing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Consulting Framework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project auto-created with epic hierarchy imported from BRD/SDD: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1572768" cy="5029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Onboarding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1572768" cy="38404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0574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Account setup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1572768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5146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workflow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1572768" cy="38404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9718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collection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1572768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429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automation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121408" y="1463040"/>
            <a:ext cx="1572768" cy="5029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121408" y="146304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Advisor Portal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21408" y="2057400"/>
            <a:ext cx="1572768" cy="38404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212848" y="20574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 client view LWC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121408" y="2514600"/>
            <a:ext cx="1572768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212848" y="25146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dashboard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121408" y="2971800"/>
            <a:ext cx="1572768" cy="38404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212848" y="29718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timeline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121408" y="3429000"/>
            <a:ext cx="1572768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212848" y="3429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actions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785616" y="1463040"/>
            <a:ext cx="1572768" cy="5029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785616" y="146304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Engine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785616" y="2057400"/>
            <a:ext cx="1572768" cy="38404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877056" y="20574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reporting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785616" y="2514600"/>
            <a:ext cx="1572768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877056" y="25146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config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785616" y="2971800"/>
            <a:ext cx="1572768" cy="38404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877056" y="29718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classification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785616" y="3429000"/>
            <a:ext cx="1572768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877056" y="3429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encryption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49824" y="1463040"/>
            <a:ext cx="1572768" cy="5029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449824" y="146304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Migration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49824" y="2057400"/>
            <a:ext cx="1572768" cy="38404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541264" y="20574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field mapping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49824" y="2514600"/>
            <a:ext cx="1572768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541264" y="25146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cleansing jobs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449824" y="2971800"/>
            <a:ext cx="1572768" cy="38404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541264" y="29718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rules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9824" y="3429000"/>
            <a:ext cx="1572768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541264" y="3429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strategy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114032" y="1463040"/>
            <a:ext cx="1572768" cy="5029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114032" y="146304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Reporting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114032" y="2057400"/>
            <a:ext cx="1572768" cy="38404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205472" y="20574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114032" y="2514600"/>
            <a:ext cx="1572768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205472" y="25146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Analytics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114032" y="2971800"/>
            <a:ext cx="1572768" cy="38404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205472" y="29718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scorecards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14032" y="3429000"/>
            <a:ext cx="1572768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205472" y="3429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reports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Hierarchy:  Epic  →  Feature  →  Story  →  Sub-task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Sandbox Strategy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Consulting Framework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4630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463040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Scratch Orgs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developer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FSC features enabled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Disposable, 30-day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20240" y="128016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65A82"/>
                </a:solidFill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148840" y="1280160"/>
            <a:ext cx="14630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148840" y="1280160"/>
            <a:ext cx="1463040" cy="6400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148840" y="12801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 Sandbox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40280" y="201168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development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refresh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11880" y="128016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65A82"/>
                </a:solidFill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840480" y="1280160"/>
            <a:ext cx="14630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840480" y="1280160"/>
            <a:ext cx="1463040" cy="6400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40480" y="12801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QA Sandbox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31920" y="201168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testing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 loaded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environment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0" y="128016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65A82"/>
                </a:solidFill>
              </a:rPr>
              <a:t>▶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532120" y="1280160"/>
            <a:ext cx="14630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532120" y="1280160"/>
            <a:ext cx="1463040" cy="64008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532120" y="12801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UAT Sandbox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23560" y="201168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Production-like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access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95160" y="128016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65A82"/>
                </a:solidFill>
              </a:rPr>
              <a:t>▶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223760" y="1280160"/>
            <a:ext cx="14630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223760" y="1280160"/>
            <a:ext cx="1463040" cy="6400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223760" y="12801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0" y="201168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environment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sets via CI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 24/7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path enforced by CI/CD — no manual deployments to QA, UAT, or Production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Branching &amp; CI/CD in Action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Consulting Framework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1645920" cy="36576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1371600"/>
            <a:ext cx="594360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1737360"/>
            <a:ext cx="1645920" cy="36576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release/*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0" y="1920240"/>
            <a:ext cx="5943600" cy="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1645920" cy="3657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286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0" y="2468880"/>
            <a:ext cx="594360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2834640"/>
            <a:ext cx="1645920" cy="3657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2834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feature/RIH-*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0" y="3017520"/>
            <a:ext cx="5943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377440" y="25603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merge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114800" y="20116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merge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943600" y="14630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release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8640" y="3383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 Pipeline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4360" y="3749040"/>
            <a:ext cx="1234440" cy="502920"/>
          </a:xfrm>
          <a:prstGeom prst="rect">
            <a:avLst/>
          </a:prstGeom>
          <a:solidFill>
            <a:srgbClr val="1C7293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4360" y="37490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Created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828800" y="3749040"/>
            <a:ext cx="109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7293"/>
                </a:solidFill>
              </a:rPr>
              <a:t>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938528" y="3749040"/>
            <a:ext cx="1234440" cy="502920"/>
          </a:xfrm>
          <a:prstGeom prst="rect">
            <a:avLst/>
          </a:prstGeom>
          <a:solidFill>
            <a:srgbClr val="1C7293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938528" y="37490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sf-validate.yml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172968" y="3749040"/>
            <a:ext cx="109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7293"/>
                </a:solidFill>
              </a:rPr>
              <a:t>▶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82696" y="3749040"/>
            <a:ext cx="1234440" cy="502920"/>
          </a:xfrm>
          <a:prstGeom prst="rect">
            <a:avLst/>
          </a:prstGeom>
          <a:solidFill>
            <a:srgbClr val="1C7293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82696" y="37490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Tests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17136" y="3749040"/>
            <a:ext cx="109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7293"/>
                </a:solidFill>
              </a:rPr>
              <a:t>▶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26864" y="3749040"/>
            <a:ext cx="1234440" cy="502920"/>
          </a:xfrm>
          <a:prstGeom prst="rect">
            <a:avLst/>
          </a:prstGeom>
          <a:solidFill>
            <a:srgbClr val="1C7293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26864" y="37490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85%+ Coverage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861304" y="3749040"/>
            <a:ext cx="109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7293"/>
                </a:solidFill>
              </a:rPr>
              <a:t>▶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71032" y="3749040"/>
            <a:ext cx="1234440" cy="502920"/>
          </a:xfrm>
          <a:prstGeom prst="rect">
            <a:avLst/>
          </a:prstGeom>
          <a:solidFill>
            <a:srgbClr val="0D9488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971032" y="37490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205472" y="3749040"/>
            <a:ext cx="109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7293"/>
                </a:solidFill>
              </a:rPr>
              <a:t>▶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315200" y="3749040"/>
            <a:ext cx="1234440" cy="502920"/>
          </a:xfrm>
          <a:prstGeom prst="rect">
            <a:avLst/>
          </a:prstGeom>
          <a:solidFill>
            <a:srgbClr val="0D9488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315200" y="37490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Developers Working in Parallel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Consulting Framework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02336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64008" cy="33832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Developer A: Client Onboarding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scratch org with FSC + Person Accounts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/sf-architect-solutioning → solution plan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KYC Flow + Apex trigger handler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85%+ test coverage on scratch org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→ sf-validate → code review → merge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docs auto-updated on commit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02336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64008" cy="33832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Developer B: Advisor Portal LWC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155448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scratch org with FSC + Experience Cloud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/sf-architect-solutioning → component plan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360° client view LWC + dashboard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screenshot loop for UI QA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→ sf-validate → code review → merge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Registry updated automatically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QA &amp; BA Leveraging AI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Consulting Framework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02336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64008" cy="33832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Analyst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BRD/requirements with Claude Code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gaps and edge cases in specs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and refines Linear tickets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acceptance criteria from BRD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Prepares UAT scripts and training materials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REQUIREMENTS.md in sync with changes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02336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64008" cy="338328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QA Engineer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55448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test scripts from requirements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Playwright browser test suites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coverage gaps across features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regression tests via CI pipeline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defects with screenshots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fixes against original specs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Complete Dev Loop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Consulting Framework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20140" y="1188720"/>
            <a:ext cx="1234440" cy="731520"/>
          </a:xfrm>
          <a:prstGeom prst="rect">
            <a:avLst/>
          </a:prstGeom>
          <a:solidFill>
            <a:srgbClr val="0D9488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20140" y="118872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54580" y="1188720"/>
            <a:ext cx="182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7293"/>
                </a:solidFill>
              </a:rPr>
              <a:t>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37460" y="1188720"/>
            <a:ext cx="1234440" cy="731520"/>
          </a:xfrm>
          <a:prstGeom prst="rect">
            <a:avLst/>
          </a:prstGeom>
          <a:solidFill>
            <a:srgbClr val="1C7293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37460" y="118872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Manifest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Plan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71900" y="1188720"/>
            <a:ext cx="182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7293"/>
                </a:solidFill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54780" y="1188720"/>
            <a:ext cx="1234440" cy="731520"/>
          </a:xfrm>
          <a:prstGeom prst="rect">
            <a:avLst/>
          </a:prstGeom>
          <a:solidFill>
            <a:srgbClr val="065A82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954780" y="118872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89220" y="1188720"/>
            <a:ext cx="182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7293"/>
                </a:solidFill>
              </a:rPr>
              <a:t>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72100" y="1188720"/>
            <a:ext cx="1234440" cy="731520"/>
          </a:xfrm>
          <a:prstGeom prst="rect">
            <a:avLst/>
          </a:prstGeom>
          <a:solidFill>
            <a:srgbClr val="21295C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72100" y="118872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06540" y="1188720"/>
            <a:ext cx="182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7293"/>
                </a:solidFill>
              </a:rPr>
              <a:t>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89420" y="1188720"/>
            <a:ext cx="1234440" cy="731520"/>
          </a:xfrm>
          <a:prstGeom prst="rect">
            <a:avLst/>
          </a:prstGeom>
          <a:solidFill>
            <a:srgbClr val="0E7490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89420" y="118872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(UI)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269480" y="19659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C7293"/>
                </a:solidFill>
              </a:rPr>
              <a:t>▼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11480" y="2377440"/>
            <a:ext cx="1234440" cy="731520"/>
          </a:xfrm>
          <a:prstGeom prst="rect">
            <a:avLst/>
          </a:prstGeom>
          <a:solidFill>
            <a:srgbClr val="1C7293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237744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45920" y="2377440"/>
            <a:ext cx="182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7293"/>
                </a:solidFill>
              </a:rPr>
              <a:t>◀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828800" y="2377440"/>
            <a:ext cx="1234440" cy="731520"/>
          </a:xfrm>
          <a:prstGeom prst="rect">
            <a:avLst/>
          </a:prstGeom>
          <a:solidFill>
            <a:srgbClr val="D97706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828800" y="237744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063240" y="2377440"/>
            <a:ext cx="182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7293"/>
                </a:solidFill>
              </a:rPr>
              <a:t>◀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46120" y="2377440"/>
            <a:ext cx="1234440" cy="731520"/>
          </a:xfrm>
          <a:prstGeom prst="rect">
            <a:avLst/>
          </a:prstGeom>
          <a:solidFill>
            <a:srgbClr val="21295C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46120" y="237744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480560" y="2377440"/>
            <a:ext cx="182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7293"/>
                </a:solidFill>
              </a:rPr>
              <a:t>◀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63440" y="2377440"/>
            <a:ext cx="1234440" cy="731520"/>
          </a:xfrm>
          <a:prstGeom prst="rect">
            <a:avLst/>
          </a:prstGeom>
          <a:solidFill>
            <a:srgbClr val="065A82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663440" y="237744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97880" y="2377440"/>
            <a:ext cx="182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7293"/>
                </a:solidFill>
              </a:rPr>
              <a:t>◀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080760" y="2377440"/>
            <a:ext cx="1234440" cy="731520"/>
          </a:xfrm>
          <a:prstGeom prst="rect">
            <a:avLst/>
          </a:prstGeom>
          <a:solidFill>
            <a:srgbClr val="0D9488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080760" y="237744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15200" y="2377440"/>
            <a:ext cx="182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7293"/>
                </a:solidFill>
              </a:rPr>
              <a:t>◀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498080" y="2377440"/>
            <a:ext cx="1234440" cy="731520"/>
          </a:xfrm>
          <a:prstGeom prst="rect">
            <a:avLst/>
          </a:prstGeom>
          <a:solidFill>
            <a:srgbClr val="1C7293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498080" y="237744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74320" y="19659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C7293"/>
                </a:solidFill>
              </a:rPr>
              <a:t>▲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cycle — every ticket follows this loop. AI assists at every step.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98348" y="3840480"/>
            <a:ext cx="19202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98348" y="3840480"/>
            <a:ext cx="64008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35508" y="3840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5508" y="4160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85%+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574036" y="3840480"/>
            <a:ext cx="19202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2574036" y="3840480"/>
            <a:ext cx="64008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711196" y="3840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Updated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711196" y="4160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commit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649724" y="3840480"/>
            <a:ext cx="19202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649724" y="3840480"/>
            <a:ext cx="64008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786884" y="3840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Verified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786884" y="4160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loop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725412" y="3840480"/>
            <a:ext cx="19202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725412" y="3840480"/>
            <a:ext cx="64008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862572" y="3840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862572" y="4160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peer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Getting Started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Consulting Framework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411480" cy="411480"/>
          </a:xfrm>
          <a:prstGeom prst="lin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051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 Claude Code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0" y="10515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-g @anthropic-ai/claude-code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691640"/>
            <a:ext cx="411480" cy="411480"/>
          </a:xfrm>
          <a:prstGeom prst="lin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16459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Clone the Framework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164592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&lt;framework-repo-url&gt;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286000"/>
            <a:ext cx="411480" cy="411480"/>
          </a:xfrm>
          <a:prstGeom prst="lin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2286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2402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 Skills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224028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sf-project-init and sf-architect-solutioning to your Claude Code skills directory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880360"/>
            <a:ext cx="411480" cy="411480"/>
          </a:xfrm>
          <a:prstGeom prst="lin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2880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28346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Configure MCP Servers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0" y="283464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Salesforce CLI MCP, Linear MCP, Context7 MCP, and Playwright MCP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474720"/>
            <a:ext cx="411480" cy="411480"/>
          </a:xfrm>
          <a:prstGeom prst="lin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3474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34290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/sf-project-init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83280" y="342900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8-round interview to scaffold your engagement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069080"/>
            <a:ext cx="411480" cy="411480"/>
          </a:xfrm>
          <a:prstGeom prst="lin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4069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40233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Begin Development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83280" y="40233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/sf-architect-solutioning for each feature before coding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4864"/>
            <a:ext cx="54864" cy="503377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Consulting.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Consistent Quality.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Engagement.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182880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the framework repository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skills and configure MCP servers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/sf-project-init on your next engagement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2647</Words>
  <Application>Microsoft Office PowerPoint</Application>
  <PresentationFormat>On-screen Show (16:9)</PresentationFormat>
  <Paragraphs>860</Paragraphs>
  <Slides>37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Salesforce Consulting Framework</dc:title>
  <dc:subject>PptxGenJS Presentation</dc:subject>
  <dc:creator>Michael Rihm</dc:creator>
  <cp:lastModifiedBy>Michael Rihm</cp:lastModifiedBy>
  <cp:revision>6</cp:revision>
  <dcterms:created xsi:type="dcterms:W3CDTF">2026-03-13T19:48:48Z</dcterms:created>
  <dcterms:modified xsi:type="dcterms:W3CDTF">2026-03-14T21:25:33Z</dcterms:modified>
</cp:coreProperties>
</file>